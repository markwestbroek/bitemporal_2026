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Het Bitemporele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FDBFE"/>
                </a:solidFill>
                <a:latin typeface="Calibri"/>
              </a:defRPr>
            </a:pPr>
            <a:r>
              <a:t>Principes, Metamodel &amp; Architectuur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Van UML-model tot werkend register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Go  ·  PostgreSQL  ·  React  ·  Mermaid  ·  PlantUML  ·  XMI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400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Principes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9903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Waarom bitemporeel? Twee tijdsdimensies, tijdreizen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6400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Metamodel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3911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UML representatietypes: Entiteit, GE, Relatie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6400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Hub +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791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Drielagen-patroon voor correcties &amp; materialiteit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6400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31927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Tabellen, sleutels, relatieve autoincrement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6400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MetaRegistry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95935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Single source of truth, Schema-API, dynamische frontend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6400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Roundtrip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59943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UML Editor ↔ V3 JSON ↔ Code generatie ↔ Register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12080"/>
            <a:ext cx="6400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212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Import/Export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23951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Mermaid, PlantUML, XMI (EA), OAS 3.1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52160"/>
            <a:ext cx="6400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852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Bijzonderheden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8795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Validaties, afgeleide velden, referentielijsten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Waarom bitemporeel?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Het probleem dat we oplossen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200" b="1">
                <a:solidFill>
                  <a:srgbClr val="DC2626"/>
                </a:solidFill>
                <a:latin typeface="Calibri"/>
              </a:defRPr>
            </a:pPr>
            <a:r>
              <a:t>Het probleem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02020"/>
                </a:solidFill>
                <a:latin typeface="Calibri"/>
              </a:defRPr>
            </a:pPr>
            <a:r>
              <a:t>Traditionele databases kennen geen tijdsbesef: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UPDATE overschrijft de vorige waarde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Geen audittrail: wat was de waarde gisteren?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Geen onderscheid: wanneer geregistreerd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   vs. wanneer geldig in werkelijkheid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Correcties vernietigen de oorspronkelijke data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Onmogelijk om historische beslissingen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   te reconstrueren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200" b="1">
                <a:solidFill>
                  <a:srgbClr val="16A34A"/>
                </a:solidFill>
                <a:latin typeface="Calibri"/>
              </a:defRPr>
            </a:pPr>
            <a:r>
              <a:t>De oplossing: bitemporeel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02020"/>
                </a:solidFill>
                <a:latin typeface="Calibri"/>
              </a:defRPr>
            </a:pPr>
            <a:r>
              <a:t>Twee tijdsassen bewaren alles: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Niets wordt ooit overschreven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Volledige audittrail van elke wijziging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Tijdreizen naar elk moment in het verleden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Correcties behouden het oorspronkelijke pad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Juridisch verifieerbare registratie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Toekomstige geldigheid registreerbaar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4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Twee tijdsdimensies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Het fundament van bitemporele registratie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600" b="1">
                <a:solidFill>
                  <a:srgbClr val="2C5F8A"/>
                </a:solidFill>
                <a:latin typeface="Calibri"/>
              </a:defRPr>
            </a:pPr>
            <a:r>
              <a:t>⏱  Formele tijd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(registratietijd)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202020"/>
                </a:solidFill>
                <a:latin typeface="Calibri"/>
              </a:defRPr>
            </a:pPr>
            <a:r>
              <a:t>Wanneer is iets geregistreerd?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Registratietijdstip (timestamp)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Opvoer = record komt op de tijdlijn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Afvoer = record gaat van de tijdlijn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Alleen tijdreizen naar het verleden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C5F8A"/>
                </a:solidFill>
                <a:latin typeface="Calibri"/>
              </a:defRPr>
            </a:pPr>
            <a:r>
              <a:t>Vastgelegd via: registratie → wijzigingen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600" b="1">
                <a:solidFill>
                  <a:srgbClr val="EA580C"/>
                </a:solidFill>
                <a:latin typeface="Calibri"/>
              </a:defRPr>
            </a:pPr>
            <a:r>
              <a:t>📅  Materiële tijd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(geldigheidstijd)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202020"/>
                </a:solidFill>
                <a:latin typeface="Calibri"/>
              </a:defRPr>
            </a:pPr>
            <a:r>
              <a:t>Wanneer geldt iets in de werkelijkheid?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Aanvangsdatum (date)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Einddatum (date)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Tijdreizen naar verleden én toekomst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Bijv. voorgenomen verhuizing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A580C"/>
                </a:solidFill>
                <a:latin typeface="Calibri"/>
              </a:defRPr>
            </a:pPr>
            <a:r>
              <a:t>Vastgelegd via: aanvang / einde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5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Formele tijd: registratie → wijzigingen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Hoe de formele tijdlijn ontstaat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Calibri"/>
              </a:defRPr>
            </a:pPr>
            <a:r>
              <a:t>Kernprincipe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02020"/>
                </a:solidFill>
                <a:latin typeface="Calibri"/>
              </a:defRPr>
            </a:pPr>
            <a:r>
              <a:t>Opvoer en afvoer staan niet in de inhoudelijke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02020"/>
                </a:solidFill>
                <a:latin typeface="Calibri"/>
              </a:defRPr>
            </a:pPr>
            <a:r>
              <a:t>tabellen, maar in een aparte wijzigingen-tabel.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2C5F8A"/>
                </a:solidFill>
                <a:latin typeface="Calibri"/>
              </a:defRPr>
            </a:pPr>
            <a:r>
              <a:t>Eén registratie = één formeel moment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Heeft een tijdstip (timestamp)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Bevat 1..n wijzigingen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Elke wijziging = opvoer of afvoer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Wijst naar een specifiek record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2C5F8A"/>
                </a:solidFill>
                <a:latin typeface="Calibri"/>
              </a:defRPr>
            </a:pPr>
            <a:r>
              <a:t>Soorten registratie: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Registratie — gewone vastlegging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Correctie — corrigeert eerdere registratie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Ongedaanmaking — maakt registratie ongeldig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2560320" cy="1280160"/>
          </a:xfrm>
          <a:prstGeom prst="round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Registratie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FDBFE"/>
                </a:solidFill>
                <a:latin typeface="Calibri"/>
              </a:defRPr>
            </a:pPr>
            <a:r>
              <a:t>tijdstip: 2026-03-21 14:30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FDBFE"/>
                </a:solidFill>
                <a:latin typeface="Calibri"/>
              </a:defRPr>
            </a:pPr>
            <a:r>
              <a:t>type: Registratie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474720"/>
            <a:ext cx="201168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C5F8A"/>
                </a:solidFill>
                <a:latin typeface="Calibri"/>
              </a:defRPr>
            </a:pPr>
            <a:r>
              <a:t>Wijziging 1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type: Opvoer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record: Persoon #5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3474720"/>
            <a:ext cx="201168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C5F8A"/>
                </a:solidFill>
                <a:latin typeface="Calibri"/>
              </a:defRPr>
            </a:pPr>
            <a:r>
              <a:t>Wijziging 2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type: Opvoer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record: Naam #1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5029200"/>
            <a:ext cx="2011680" cy="822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500" b="1">
                <a:solidFill>
                  <a:srgbClr val="16A34A"/>
                </a:solidFill>
                <a:latin typeface="Calibri"/>
              </a:defRPr>
            </a:pPr>
            <a:r>
              <a:t>Persoon #5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BSN: 123456782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5029200"/>
            <a:ext cx="2011680" cy="822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500" b="1">
                <a:solidFill>
                  <a:srgbClr val="16A34A"/>
                </a:solidFill>
                <a:latin typeface="Calibri"/>
              </a:defRPr>
            </a:pPr>
            <a:r>
              <a:t>Naam v1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"De Vries"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7040880" y="2926080"/>
            <a:ext cx="822960" cy="548640"/>
          </a:xfrm>
          <a:prstGeom prst="line">
            <a:avLst/>
          </a:prstGeom>
          <a:ln w="25400">
            <a:solidFill>
              <a:srgbClr val="2C5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2926080"/>
            <a:ext cx="1554480" cy="548640"/>
          </a:xfrm>
          <a:prstGeom prst="line">
            <a:avLst/>
          </a:prstGeom>
          <a:ln w="25400">
            <a:solidFill>
              <a:srgbClr val="2C5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880" y="4480560"/>
            <a:ext cx="0" cy="54864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18320" y="4480560"/>
            <a:ext cx="0" cy="54864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6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Opvoer &amp; afvoer: altijd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De bron van waarheid is de wijzigingen-tabel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155680" cy="10972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900" b="1">
                <a:solidFill>
                  <a:srgbClr val="854D0E"/>
                </a:solidFill>
                <a:latin typeface="Calibri"/>
              </a:defRPr>
            </a:pPr>
            <a:r>
              <a:t>💡  Kernprincipe: opvoer en afvoer in records zijn afgeleide waarden — niet de bron van waarheid.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854D0E"/>
                </a:solidFill>
                <a:latin typeface="Calibri"/>
              </a:defRPr>
            </a:pPr>
            <a:r>
              <a:t>De werkelijke formele tijdlijn wordt bepaald door de registraties en hun wijzigingen.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Bron van waarheid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registratie.tijdstip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  + wijziging.type (opvoer/afvoer)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  + wijziging.representatie_id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Bij formeel tijdreizen (→ peiltijdstip tf):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Records zelf worden NIET gebruikt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Toestand wordt opnieuw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Alle wijzigingen t/m tf verwerken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92608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000" b="1">
                <a:solidFill>
                  <a:srgbClr val="475569"/>
                </a:solidFill>
                <a:latin typeface="Calibri"/>
              </a:defRPr>
            </a:pPr>
            <a:r>
              <a:t>Afgeleide velden in records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record.opvoer  = afgeleid (tf = nu)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record.afvoer  = afgeleid (tf = nu)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Geldt voor ALLE lagen: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Entiteit  (Persoon, Locatie)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GE/REL hub  (Naam, Bereikbaarheid)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_Data  (Naam_Data)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_Aanvang / _Einde  (materieel)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7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Tijdreizen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De kracht van bitemporele registratie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219456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200" b="1">
                <a:solidFill>
                  <a:srgbClr val="2C5F8A"/>
                </a:solidFill>
                <a:latin typeface="Calibri"/>
              </a:defRPr>
            </a:pPr>
            <a:r>
              <a:t>⏪  Formeel tijdreizen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>
                <a:solidFill>
                  <a:srgbClr val="202020"/>
                </a:solidFill>
                <a:latin typeface="Calibri"/>
              </a:defRPr>
            </a:pPr>
            <a:r>
              <a:t>Wat was bekend op tijdstip tf?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Alleen naar het verleden (tf ≤ nu)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API: ?t=2024-01-01T12:00:00Z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Verwerk alle wijzigingen t/m tf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03520" cy="21945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200" b="1">
                <a:solidFill>
                  <a:srgbClr val="EA580C"/>
                </a:solidFill>
                <a:latin typeface="Calibri"/>
              </a:defRPr>
            </a:pPr>
            <a:r>
              <a:t>⏩  Materieel tijdreizen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>
                <a:solidFill>
                  <a:srgbClr val="202020"/>
                </a:solidFill>
                <a:latin typeface="Calibri"/>
              </a:defRPr>
            </a:pPr>
            <a:r>
              <a:t>Wat gold op datum tm?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Verleden én toekomst (tm is vrij)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Aanvang ≤ tm &lt; einde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Bijv. toekomstige verhuizing al registreerbaar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023360"/>
            <a:ext cx="7680960" cy="237744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200" b="1">
                <a:solidFill>
                  <a:srgbClr val="7C3AED"/>
                </a:solidFill>
                <a:latin typeface="Calibri"/>
              </a:defRPr>
            </a:pPr>
            <a:r>
              <a:t>🔀  Gecombineerd tijdreizen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>
                <a:solidFill>
                  <a:srgbClr val="202020"/>
                </a:solidFill>
                <a:latin typeface="Calibri"/>
              </a:defRPr>
            </a:pPr>
            <a:r>
              <a:t>Wat was op registratietijdstip tf bekend over geldigheidsdatum tm?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Eerst formeel: welke records waren bekend op tf?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Dan materieel: welke daarvan golden op tm?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Maakt volledige audit-trail mogelijk over twee dimensies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8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UML Metamodel: representatietypes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De drie bouwstenen van het register — met Mermaid-broncode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200400" cy="100584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《abstract》Representatie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opvoer | afvoer | naam | metatype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743200"/>
            <a:ext cx="1828800" cy="16459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Entiteit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+ id : integer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Zelfstandig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identificeerbaar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743200"/>
            <a:ext cx="1828800" cy="16459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6A34A"/>
                </a:solidFill>
                <a:latin typeface="Calibri"/>
              </a:defRPr>
            </a:pPr>
            <a:r>
              <a:t>Gegevens-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16A34A"/>
                </a:solidFill>
                <a:latin typeface="Calibri"/>
              </a:defRPr>
            </a:pPr>
            <a:r>
              <a:t>element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+ ent_id + rel_id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Compositie bij 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754880"/>
            <a:ext cx="1828800" cy="137160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A580C"/>
                </a:solidFill>
                <a:latin typeface="Calibri"/>
              </a:defRPr>
            </a:pPr>
            <a:r>
              <a:t>Relatie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+ doel_id : FK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Koppelt 2 ENTs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188720" y="2377440"/>
            <a:ext cx="640080" cy="36576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2743200" y="2377440"/>
            <a:ext cx="457200" cy="36576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200400" y="4389120"/>
            <a:ext cx="0" cy="36576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ENT ◆── 0..* 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280160"/>
            <a:ext cx="694944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Mermaid classDiagram — exporteerbaar vanuit de UML-editor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classDiagram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direction TB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Representatie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&lt;&lt;abstract&gt;&gt;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opvoer : timestamp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afvoer : timestamp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Entiteit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+id : integer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Gegevenselement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+ent_id : FK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+rel_id : PFK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Relatie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+doel_id : FK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Representatie &lt;|-- Entiteit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Representatie &lt;|-- Gegevenselement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Gegevenselement &lt;|-- Relatie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Entiteit "1" *-- "0..*" Gegevenselement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630936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↑ De editor exporteert naar Mermaid, PlantUML en XMI — deze code is direct bruikbaar in documentatie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9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UML concreet voorbeeld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NatuurlijkPersoon ↔ Bereikbaarheid ↔ Locatie — in Mermaid-formaat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194560" cy="82296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1000" b="0">
                <a:solidFill>
                  <a:srgbClr val="2C5F8A"/>
                </a:solidFill>
                <a:latin typeface="Calibri"/>
              </a:defRPr>
            </a:pPr>
            <a:r>
              <a:t>《ent, materieel》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C5F8A"/>
                </a:solidFill>
                <a:latin typeface="Calibri"/>
              </a:defRPr>
            </a:pPr>
            <a:r>
              <a:t>NatuurlijkPersoon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2560320"/>
            <a:ext cx="1828800" cy="6400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PersoonsIdentificatie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bsn, ingezetene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3383280"/>
            <a:ext cx="1828800" cy="6400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Naam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voorletters, achternaam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1828800" cy="6400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🕐 Burgerschap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landcode, nationaliteit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383280"/>
            <a:ext cx="1828800" cy="6400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1100" b="1">
                <a:solidFill>
                  <a:srgbClr val="EA580C"/>
                </a:solidFill>
                <a:latin typeface="Calibri"/>
              </a:defRPr>
            </a:pPr>
            <a:r>
              <a:t>🕐 Bereikbaarheid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soort (enum)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206240"/>
            <a:ext cx="1828800" cy="6400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2C5F8A"/>
                </a:solidFill>
                <a:latin typeface="Calibri"/>
              </a:defRPr>
            </a:pPr>
            <a:r>
              <a:t>《ent》Locatie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286000"/>
            <a:ext cx="0" cy="27432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2286000"/>
            <a:ext cx="0" cy="109728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77440" y="2286000"/>
            <a:ext cx="822960" cy="27432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77440" y="2286000"/>
            <a:ext cx="822960" cy="109728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0" y="4023360"/>
            <a:ext cx="0" cy="18288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0" y="1280160"/>
            <a:ext cx="731520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Mermaid classDiagram — volledig voorbeeld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classDiagram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NatuurlijkPersoon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&lt;&lt;entiteit, materieel&gt;&gt;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+id : integer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/weergavenaam : string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PersoonsIdentificatie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&lt;&lt;GE&gt;&gt; bsn : string(BSN)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ingezetene : bool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Naam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&lt;&lt;GE, meervoudig&gt;&gt;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voorletters, roepnaam : string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achternaam : string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naamgebruik : Naamgebruiksoort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Burgerschap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&lt;&lt;GE, materieel&gt;&gt;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landcode : string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nationaliteit : string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Bereikbaarheid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&lt;&lt;relatie, materieel&gt;&gt;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soort : Bereikbaarheidsoort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Locatie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&lt;&lt;entiteit, materieel&gt;&gt;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+id : integer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NatuurlijkPersoon "1" *-- "0..1" PersoonsId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NatuurlijkPersoon "1" *-- "0..*" Naam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NatuurlijkPersoon "1" *-- "0..*" Burgerschap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NatuurlijkPersoon "1" --&gt; "0..*" Bereikbaarheid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Bereikbaarheid --&gt; "1" Locatie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5120640"/>
            <a:ext cx="4114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🟦 Entiteit  🟩 GE  🟧 Relatie  🕐 Materieel  / = afgeleid veld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Velden met / prefix zijn afgeleide velden (UML-conventie)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Hub + Data Pattern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Waarom opsplitsing nodig 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256032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000" b="1">
                <a:solidFill>
                  <a:srgbClr val="DC2626"/>
                </a:solidFill>
                <a:latin typeface="Calibri"/>
              </a:defRPr>
            </a:pPr>
            <a:r>
              <a:t>Probleem (alles in één tabel)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02020"/>
                </a:solidFill>
                <a:latin typeface="Calibri"/>
              </a:defRPr>
            </a:pPr>
            <a:r>
              <a:t>GE-tabel bevat alles in één record: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  structurele FK's + inhoud + opvoer/afvoer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Correctie van inhoud → heel record vervangen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Geen stabiel ankerpunt voor materiële tijd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rel_id gaat op bij elke inhoudscorrectie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03520" cy="25603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000" b="1">
                <a:solidFill>
                  <a:srgbClr val="16A34A"/>
                </a:solidFill>
                <a:latin typeface="Calibri"/>
              </a:defRPr>
            </a:pPr>
            <a:r>
              <a:t>Oplossing: Hub + Data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02020"/>
                </a:solidFill>
                <a:latin typeface="Calibri"/>
              </a:defRPr>
            </a:pPr>
            <a:r>
              <a:t>Splits elk GE/REL-type in lagen: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Hub = stabiel identiteitsanker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_Data = geversioned inhoud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_Aanvang/_Einde = materiële tijdlijn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16A34A"/>
                </a:solidFill>
                <a:latin typeface="Calibri"/>
              </a:defRPr>
            </a:pPr>
            <a:r>
              <a:t>Elke laag apart corrigeerbaar!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572000"/>
            <a:ext cx="2560320" cy="14630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000" b="1">
                <a:solidFill>
                  <a:srgbClr val="2C5F8A"/>
                </a:solidFill>
                <a:latin typeface="Calibri"/>
              </a:defRPr>
            </a:pPr>
            <a:r>
              <a:t>Hub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(ent_id, rel_id)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Stabiel ankerpunt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4572000"/>
            <a:ext cx="2560320" cy="14630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_Data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(ent_id, rel_id, versie)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Geversioned inhoud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4572000"/>
            <a:ext cx="2560320" cy="14630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800" b="1">
                <a:solidFill>
                  <a:srgbClr val="EA580C"/>
                </a:solidFill>
                <a:latin typeface="Calibri"/>
              </a:defRPr>
            </a:pPr>
            <a:r>
              <a:t>_Aanvang / _Einde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(ent_id, rel_id, versie)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Materiële tijdlijn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89120" y="5303520"/>
            <a:ext cx="457200" cy="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5303520"/>
            <a:ext cx="3474720" cy="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11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Hub + Data: hiërarchie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Entiteit → Hub → Data / Aanvang / Einde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103120" cy="7315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500" b="1">
                <a:solidFill>
                  <a:srgbClr val="2C5F8A"/>
                </a:solidFill>
                <a:latin typeface="Calibri"/>
              </a:defRPr>
            </a:pPr>
            <a:r>
              <a:t>NatuurlijkPersoon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371600"/>
            <a:ext cx="2377440" cy="5486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C5F8A"/>
                </a:solidFill>
                <a:latin typeface="Calibri"/>
              </a:defRPr>
            </a:pPr>
            <a:r>
              <a:t>PersoonsIdentificatie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188720"/>
            <a:ext cx="228600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A34A"/>
                </a:solidFill>
                <a:latin typeface="Calibri"/>
              </a:defRPr>
            </a:pPr>
            <a:r>
              <a:t>PersoonsIdentificatie_Data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5394960" y="1371600"/>
            <a:ext cx="365760" cy="13716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17520" y="2286000"/>
            <a:ext cx="2377440" cy="5486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C5F8A"/>
                </a:solidFill>
                <a:latin typeface="Calibri"/>
              </a:defRPr>
            </a:pPr>
            <a:r>
              <a:t>Naam (hub)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103120"/>
            <a:ext cx="228600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A34A"/>
                </a:solidFill>
                <a:latin typeface="Calibri"/>
              </a:defRPr>
            </a:pPr>
            <a:r>
              <a:t>Naam_Data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394960" y="2286000"/>
            <a:ext cx="365760" cy="13716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3200400"/>
            <a:ext cx="2377440" cy="5486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C5F8A"/>
                </a:solidFill>
                <a:latin typeface="Calibri"/>
              </a:defRPr>
            </a:pPr>
            <a:r>
              <a:t>🕐 Burgerschap (hub)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017520"/>
            <a:ext cx="228600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A34A"/>
                </a:solidFill>
                <a:latin typeface="Calibri"/>
              </a:defRPr>
            </a:pPr>
            <a:r>
              <a:t>Burgerschap_Data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394960" y="3200400"/>
            <a:ext cx="365760" cy="13716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60720" y="3657600"/>
            <a:ext cx="2286000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>
              <a:defRPr sz="1100" b="1">
                <a:solidFill>
                  <a:srgbClr val="EA580C"/>
                </a:solidFill>
                <a:latin typeface="Calibri"/>
              </a:defRPr>
            </a:pPr>
            <a:r>
              <a:t>Burgerschap_Aanvang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657600"/>
            <a:ext cx="2286000" cy="4114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>
              <a:defRPr sz="1100" b="1">
                <a:solidFill>
                  <a:srgbClr val="DC2626"/>
                </a:solidFill>
                <a:latin typeface="Calibri"/>
              </a:defRPr>
            </a:pPr>
            <a:r>
              <a:t>Burgerschap_Einde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94960" y="3474720"/>
            <a:ext cx="365760" cy="36576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46720" y="3840480"/>
            <a:ext cx="365760" cy="0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017520" y="4663440"/>
            <a:ext cx="2377440" cy="5486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A580C"/>
                </a:solidFill>
                <a:latin typeface="Calibri"/>
              </a:defRPr>
            </a:pPr>
            <a:r>
              <a:t>🕐 Bereikbaarheid (rel)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4480560"/>
            <a:ext cx="228600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A34A"/>
                </a:solidFill>
                <a:latin typeface="Calibri"/>
              </a:defRPr>
            </a:pPr>
            <a:r>
              <a:t>Bereikbaarheid_Data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394960" y="4663440"/>
            <a:ext cx="365760" cy="13716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760720" y="5120640"/>
            <a:ext cx="2286000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>
              <a:defRPr sz="1100" b="1">
                <a:solidFill>
                  <a:srgbClr val="EA580C"/>
                </a:solidFill>
                <a:latin typeface="Calibri"/>
              </a:defRPr>
            </a:pPr>
            <a:r>
              <a:t>Bereikbaarheid_Aanvang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5120640"/>
            <a:ext cx="2286000" cy="4114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>
              <a:defRPr sz="1100" b="1">
                <a:solidFill>
                  <a:srgbClr val="DC2626"/>
                </a:solidFill>
                <a:latin typeface="Calibri"/>
              </a:defRPr>
            </a:pPr>
            <a:r>
              <a:t>Bereikbaarheid_Einde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94960" y="4937760"/>
            <a:ext cx="365760" cy="36576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46720" y="5303520"/>
            <a:ext cx="365760" cy="0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68880" y="1645920"/>
            <a:ext cx="548640" cy="274320"/>
          </a:xfrm>
          <a:prstGeom prst="line">
            <a:avLst/>
          </a:prstGeom>
          <a:ln w="25400">
            <a:solidFill>
              <a:srgbClr val="2C5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68880" y="1920240"/>
            <a:ext cx="548640" cy="640080"/>
          </a:xfrm>
          <a:prstGeom prst="line">
            <a:avLst/>
          </a:prstGeom>
          <a:ln w="25400">
            <a:solidFill>
              <a:srgbClr val="2C5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68880" y="1920240"/>
            <a:ext cx="548640" cy="1554480"/>
          </a:xfrm>
          <a:prstGeom prst="line">
            <a:avLst/>
          </a:prstGeom>
          <a:ln w="25400">
            <a:solidFill>
              <a:srgbClr val="2C5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468880" y="1920240"/>
            <a:ext cx="548640" cy="3017520"/>
          </a:xfrm>
          <a:prstGeom prst="line">
            <a:avLst/>
          </a:prstGeom>
          <a:ln w="25400">
            <a:solidFill>
              <a:srgbClr val="2C5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82880" y="4663440"/>
            <a:ext cx="2286000" cy="4572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A580C"/>
                </a:solidFill>
                <a:latin typeface="Calibri"/>
              </a:defRPr>
            </a:pPr>
            <a:r>
              <a:t>Pers_Aanvang (plumbing)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" y="5303520"/>
            <a:ext cx="228600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Calibri"/>
              </a:defRPr>
            </a:pPr>
            <a:r>
              <a:t>Pers_Einde (plumbing)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280160" y="2286000"/>
            <a:ext cx="0" cy="237744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686800" y="1371600"/>
            <a:ext cx="3017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475569"/>
                </a:solidFill>
                <a:latin typeface="Calibri"/>
              </a:defRPr>
            </a:pPr>
            <a:r>
              <a:t>Legenda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C5F8A"/>
                </a:solidFill>
                <a:latin typeface="Calibri"/>
              </a:defRPr>
            </a:pPr>
            <a:r>
              <a:t>🟦 Hub (identiteitsanker)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6A34A"/>
                </a:solidFill>
                <a:latin typeface="Calibri"/>
              </a:defRPr>
            </a:pPr>
            <a:r>
              <a:t>🟩 _Data (inhoud, versioned)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EA580C"/>
                </a:solidFill>
                <a:latin typeface="Calibri"/>
              </a:defRPr>
            </a:pPr>
            <a:r>
              <a:t>🟧 _Aanvang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🟥 _Einde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🕐 Materieel type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12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Voorbeeld: naamswijziging met correctie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Hoe hub + data + aanvang/einde samenwerken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6692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Stap 1 — Registratie (t_reg = 21/3/2026)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202020"/>
                </a:solidFill>
                <a:latin typeface="Calibri"/>
              </a:defRPr>
            </a:pPr>
            <a:r>
              <a:t>Hub 1: Naam rel_id=1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_Data v1: "Jansen"  |  Aanvang: geboortedatum  |  Einde: 20/3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202020"/>
                </a:solidFill>
                <a:latin typeface="Calibri"/>
              </a:defRPr>
            </a:pPr>
            <a:r>
              <a:t>Hub 2: Naam rel_id=2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_Data v1: "De Vries"  |  Aanvang: 21/3/2026  |  Einde: —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DC2626"/>
                </a:solidFill>
                <a:latin typeface="Calibri"/>
              </a:defRPr>
            </a:pPr>
            <a:r>
              <a:t>⚠  Aanvangsdatum foutief: was 21/3, moet 1/1/2025 zijn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6692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t>Stap 2 — Correctie (t_corr &gt; t_reg)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202020"/>
                </a:solidFill>
                <a:latin typeface="Calibri"/>
              </a:defRPr>
            </a:pPr>
            <a:r>
              <a:t>Rechtbank: naamswijziging per 1/1/2025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Hub 1: Einde v1 → afg, Einde v2 = 31/12/2024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Hub 2: Aanvang v1 → afg, Aanvang v2 = 1/1/2025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16A34A"/>
                </a:solidFill>
                <a:latin typeface="Calibri"/>
              </a:defRPr>
            </a:pPr>
            <a:r>
              <a:t>✓ Hub-records ongewijzigd  ✓ _Data ongewijzigd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16A34A"/>
                </a:solidFill>
                <a:latin typeface="Calibri"/>
              </a:defRPr>
            </a:pPr>
            <a:r>
              <a:t>✓ Alleen _Aanvang/_Einde gecorrigeerd!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840480"/>
            <a:ext cx="11521440" cy="73152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700" b="1">
                <a:solidFill>
                  <a:srgbClr val="854D0E"/>
                </a:solidFill>
                <a:latin typeface="Calibri"/>
              </a:defRPr>
            </a:pPr>
            <a:r>
              <a:t>💡  Elke laag apart corrigeerbaar — identiteit, inhoud en materiële tijdlijn beïnvloeden elkaar niet.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1828800" cy="27432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Laag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754880"/>
            <a:ext cx="914400" cy="27432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rel_id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versie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4754880"/>
            <a:ext cx="1828800" cy="27432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waarde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4754880"/>
            <a:ext cx="1371600" cy="27432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opvoer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754880"/>
            <a:ext cx="1371600" cy="27432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afvoer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029200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Hub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5029200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5029200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5029200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5029200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t_reg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5029200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266944"/>
            <a:ext cx="18288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Hub 1 _data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5266944"/>
            <a:ext cx="9144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5266944"/>
            <a:ext cx="9144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5266944"/>
            <a:ext cx="18288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"Jansen"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5266944"/>
            <a:ext cx="13716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t_reg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5266944"/>
            <a:ext cx="13716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504688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Hub 1 _einde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5504688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504688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5504688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20/3/2026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5504688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t_reg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504688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DC2626"/>
                </a:solidFill>
                <a:latin typeface="Calibri"/>
              </a:defRPr>
            </a:pPr>
            <a:r>
              <a:t>t_corr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5742432"/>
            <a:ext cx="18288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Hub 1 _einde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5742432"/>
            <a:ext cx="9144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5742432"/>
            <a:ext cx="9144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5742432"/>
            <a:ext cx="18288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31/12/2024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5742432"/>
            <a:ext cx="13716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DC2626"/>
                </a:solidFill>
                <a:latin typeface="Calibri"/>
              </a:defRPr>
            </a:pPr>
            <a:r>
              <a:t>t_corr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5742432"/>
            <a:ext cx="13716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5980176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Hub 2 _aanvang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5980176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980176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5980176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21/3/2026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980176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t_reg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5980176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DC2626"/>
                </a:solidFill>
                <a:latin typeface="Calibri"/>
              </a:defRPr>
            </a:pPr>
            <a:r>
              <a:t>t_corr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6217920"/>
            <a:ext cx="18288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Hub 2 _aanvang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6217920"/>
            <a:ext cx="9144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6217920"/>
            <a:ext cx="9144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6217920"/>
            <a:ext cx="18288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1/1/2025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6217920"/>
            <a:ext cx="13716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DC2626"/>
                </a:solidFill>
                <a:latin typeface="Calibri"/>
              </a:defRPr>
            </a:pPr>
            <a:r>
              <a:t>t_corr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6217920"/>
            <a:ext cx="1371600" cy="237744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/>
          <a:lstStyle/>
          <a:p>
            <a:pPr algn="ctr">
              <a:defRPr sz="1000" b="0">
                <a:solidFill>
                  <a:srgbClr val="202020"/>
                </a:solidFill>
                <a:latin typeface="Calibri"/>
              </a:defRPr>
            </a:pPr>
            <a:r>
              <a:t>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13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Database-ontwerp: entiteiten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PostgreSQL tabellen voor entiteiten en registratie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0292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natuurlijk_persoon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id          INTEGER  PK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opvoer      TIMESTAMPTZ   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afvoer      TIMESTAMPTZ   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Geen inhoudsvelden — die zitten in GE's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035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registratie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id                          SERIAL  PK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tijdstip                    TIMESTAMPTZ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registratie_type            TEXT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onsolas"/>
              </a:defRPr>
            </a:pPr>
            <a:r>
              <a:t>corrigeert_registratie_id   INT FK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30352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wijziging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id                  SERIAL  PK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registratie_id      INT  FK → registratie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wijziging_type      TEXT  (Opvoer/Afvoer)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representatienaam   TEXT  (tabelnaam)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representatie_id    TEXT  (samengesteld PK)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50292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t>Materieel: pers_aanvang / pers_einde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id       INT  FK → persoon(id)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versie   SERIAL  (autoincrement per 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datum    DATE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onsolas"/>
              </a:defRPr>
            </a:pPr>
            <a:r>
              <a:t>opvoer   TIMESTAMPTZ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onsolas"/>
              </a:defRPr>
            </a:pPr>
            <a:r>
              <a:t>afvoer   TIMESTAMPTZ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EA580C"/>
                </a:solidFill>
                <a:latin typeface="Calibri"/>
              </a:defRPr>
            </a:pPr>
            <a:r>
              <a:t>PK: (id, versie)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14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Database: Hub + Data + Aanvang/Einde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Hoe een gegevenselement eruitziet in PostgreSQL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38404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1700" b="1">
                <a:solidFill>
                  <a:srgbClr val="2C5F8A"/>
                </a:solidFill>
                <a:latin typeface="Calibri"/>
              </a:defRPr>
            </a:pPr>
            <a:r>
              <a:t>naam  (hub)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persoon_id  INT  FK → persoon(id)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rel_id      INT  autoincrement/scope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onsolas"/>
              </a:defRPr>
            </a:pPr>
            <a:r>
              <a:t>opvoer/afvoer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2C5F8A"/>
                </a:solidFill>
                <a:latin typeface="Calibri"/>
              </a:defRPr>
            </a:pPr>
            <a:r>
              <a:t>PK: (persoon_id, rel_id)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DC2626"/>
                </a:solidFill>
                <a:latin typeface="Calibri"/>
              </a:defRPr>
            </a:pPr>
            <a:r>
              <a:t>Geen inhoudsvelden!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8404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1700" b="1">
                <a:solidFill>
                  <a:srgbClr val="16A34A"/>
                </a:solidFill>
                <a:latin typeface="Calibri"/>
              </a:defRPr>
            </a:pPr>
            <a:r>
              <a:t>naam_data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persoon_id + rel_id  FK → naam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versie      INT  autoincrement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voorletters TEXT, achternaam TEXT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onsolas"/>
              </a:defRPr>
            </a:pPr>
            <a:r>
              <a:t>opvoer/afvoer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16A34A"/>
                </a:solidFill>
                <a:latin typeface="Calibri"/>
              </a:defRPr>
            </a:pPr>
            <a:r>
              <a:t>PK: (persoon_id, rel_id, versie)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371600"/>
            <a:ext cx="36576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t>naam_aanvang / _einde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Als IsMaterieel = true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persoon_id + rel_id  FK → naam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versie  INT  autoincrement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datum   DATE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PK: (persoon_id, rel_id, versie)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657600"/>
            <a:ext cx="11612880" cy="256032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000" b="1">
                <a:solidFill>
                  <a:srgbClr val="854D0E"/>
                </a:solidFill>
                <a:latin typeface="Calibri"/>
              </a:defRPr>
            </a:pPr>
            <a:r>
              <a:t>Relatieve autoincrement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02020"/>
                </a:solidFill>
                <a:latin typeface="Calibri"/>
              </a:defRPr>
            </a:pPr>
            <a:r>
              <a:t>Werkt binnen de scope van de parent — geen globale sequences: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Hub rel_id:  binnen (persoon_id) en type → Persoon #1 heeft Naam rel_id=1, rel_id=2, ...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_Data versie:  binnen (persoon_id, rel_id) → Naam 1 v1, v2, v3, ...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_Aanvang versie:  idem, maar vorige versie wordt automatisch afgevoerd (enkelvoudig)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854D0E"/>
                </a:solidFill>
                <a:latin typeface="Calibri"/>
              </a:defRPr>
            </a:pPr>
            <a:r>
              <a:t>Dit maakt volledige versiegeschiedenis mogelijk zonder globale sequences.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15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MetaRegistry: single source of truth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Alle metadata op één plek — dynamisch gedreven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155680" cy="91440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C3AED"/>
                </a:solidFill>
                <a:latin typeface="Calibri"/>
              </a:defRPr>
            </a:pPr>
            <a:r>
              <a:t>De MetaRegistry is een Go map van TypeMeta entries — één per representatietype.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Routes, handlers, schema-API en frontend worden allemaal dynamisch gedreven door de MetaRegistry.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53035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TypeMeta velden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alibri"/>
              </a:defRPr>
            </a:pPr>
            <a:r>
              <a:t>▸ Typenaam, Description, Metatype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alibri"/>
              </a:defRPr>
            </a:pPr>
            <a:r>
              <a:t>▸ IsMaterieel, GESubtype (hub/data/aanvang/einde)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alibri"/>
              </a:defRPr>
            </a:pPr>
            <a:r>
              <a:t>▸ Padnaam (URL), Veldnaam (JSON)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alibri"/>
              </a:defRPr>
            </a:pPr>
            <a:r>
              <a:t>▸ Factory / SliceFactory (constructors)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alibri"/>
              </a:defRPr>
            </a:pPr>
            <a:r>
              <a:t>▸ Tabelnaam, IDKolom, EntiteitIDKolom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alibri"/>
              </a:defRPr>
            </a:pPr>
            <a:r>
              <a:t>▸ HeeftPFK, RelatieveAutoincrement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alibri"/>
              </a:defRPr>
            </a:pPr>
            <a:r>
              <a:t>▸ OnderliggendeGegevenselementen []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alibri"/>
              </a:defRPr>
            </a:pPr>
            <a:r>
              <a:t>▸ Momentvoorkomen (enkelvoudig/meervoudig)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alibri"/>
              </a:defRPr>
            </a:pPr>
            <a:r>
              <a:t>▸ BovenliggendTypenaam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alibri"/>
              </a:defRPr>
            </a:pPr>
            <a:r>
              <a:t>▸ Kleur (visualisatie)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651760"/>
            <a:ext cx="53035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16A34A"/>
                </a:solidFill>
                <a:latin typeface="Calibri"/>
              </a:defRPr>
            </a:pPr>
            <a:r>
              <a:t>Wat de MetaRegistry aanstuurt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🔀  Routes — dynamisch geregistreerd via Padnaam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⚙️  Handlers — generiek per MetaRegistry-entry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📋  Schema-API — /api/viz/schema retourneert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   metadata + veldtypes + relaties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🖥️  Frontend — leest dynamisch het schema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16A34A"/>
                </a:solidFill>
                <a:latin typeface="Calibri"/>
              </a:defRPr>
            </a:pPr>
            <a:r>
              <a:t>      Geen hardcoded veldnamen!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📊  Visualisatie — kleuren, layout, oortjes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🔄  Code generatie — MetaRegistry wordt gegenereerd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16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Schema-API &amp; dynamische frontend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Geen hardcoded structuren — alles uit de MetaRegistry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Flow:  MetaRegistry  →  Schema-API ( /api/viz/schema )  →  Frontend (React/Vite)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56692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1500" b="1">
                <a:solidFill>
                  <a:srgbClr val="2C5F8A"/>
                </a:solidFill>
                <a:latin typeface="Calibri"/>
              </a:defRPr>
            </a:pPr>
            <a:r>
              <a:t>Schema-API response (voorbeeld)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202020"/>
                </a:solidFill>
                <a:latin typeface="Consolas"/>
              </a:defRPr>
            </a:pPr>
            <a:r>
              <a:t>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202020"/>
                </a:solidFill>
                <a:latin typeface="Consolas"/>
              </a:defRPr>
            </a:pPr>
            <a:r>
              <a:t>  "typenaam": "Naam",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202020"/>
                </a:solidFill>
                <a:latin typeface="Consolas"/>
              </a:defRPr>
            </a:pPr>
            <a:r>
              <a:t>  "metatype": "gegevenselement",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1">
                <a:solidFill>
                  <a:srgbClr val="3B82F6"/>
                </a:solidFill>
                <a:latin typeface="Consolas"/>
              </a:defRPr>
            </a:pPr>
            <a:r>
              <a:t>  "ge_subtype": "hub",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202020"/>
                </a:solidFill>
                <a:latin typeface="Consolas"/>
              </a:defRPr>
            </a:pPr>
            <a:r>
              <a:t>  "is_materieel": false,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202020"/>
                </a:solidFill>
                <a:latin typeface="Consolas"/>
              </a:defRPr>
            </a:pPr>
            <a:r>
              <a:t>  "padnaam": "naam",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202020"/>
                </a:solidFill>
                <a:latin typeface="Consolas"/>
              </a:defRPr>
            </a:pPr>
            <a:r>
              <a:t>  "velden": [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{"naam":"achternaam","type":"string"},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{"naam":"naamgebruik","type":"string",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 "enum":["EigenNaam","PartnerNaam",...]}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202020"/>
                </a:solidFill>
                <a:latin typeface="Consolas"/>
              </a:defRPr>
            </a:pPr>
            <a:r>
              <a:t>  ],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202020"/>
                </a:solidFill>
                <a:latin typeface="Consolas"/>
              </a:defRPr>
            </a:pPr>
            <a:r>
              <a:t>  "onderliggende": [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{"rolnaam":"data","doeltype":"Naam_Data"}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202020"/>
                </a:solidFill>
                <a:latin typeface="Consolas"/>
              </a:defRPr>
            </a:pPr>
            <a:r>
              <a:t>  ]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20202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6692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500" b="1">
                <a:solidFill>
                  <a:srgbClr val="16A34A"/>
                </a:solidFill>
                <a:latin typeface="Calibri"/>
              </a:defRPr>
            </a:pPr>
            <a:r>
              <a:t>Frontend: dynamisch gegenereerd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De frontend leest het schema en genereert: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Formulieren — veldtype bepaalt inputcomponent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string → tekstveld, date → datepicker,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enum → dropdown, bool → checkbox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Overzichten — kolommen uit schema-velden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Visualisatie (SVG) — entiteitskaarten,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GE-boxes, relatielijnen, aanvang/einde-oortjes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Registratiepagina — inzien van audit-trail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Nieuw type toevoegen = MetaRegistry aanpassen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→ frontend past zich automatisch aan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17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Roundtrip: UML ↔ Code ↔ Register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Van visueel model tot werkend register en terug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1554480" cy="20116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45720"/>
          <a:lstStyle/>
          <a:p>
            <a:pPr algn="ctr">
              <a:defRPr sz="1600" b="1">
                <a:solidFill>
                  <a:srgbClr val="2C5F8A"/>
                </a:solidFill>
                <a:latin typeface="Calibri"/>
              </a:defRPr>
            </a:pPr>
            <a:r>
              <a:t>UML Editor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React + ReactFlow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visueel modelleren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828800"/>
            <a:ext cx="1554480" cy="20116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45720"/>
          <a:lstStyle/>
          <a:p>
            <a:pPr algn="ctr">
              <a:defRPr sz="1600" b="1">
                <a:solidFill>
                  <a:srgbClr val="D97706"/>
                </a:solidFill>
                <a:latin typeface="Calibri"/>
              </a:defRPr>
            </a:pPr>
            <a:r>
              <a:t>V3 JSON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Uitwisselformaat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metamodel_v3.json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1554480" cy="201168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45720"/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Codegen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cmd/codegen/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7 Go-bestanden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554480" cy="201168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45720"/>
          <a:lstStyle/>
          <a:p>
            <a:pPr algn="ctr">
              <a:defRPr sz="1600" b="1">
                <a:solidFill>
                  <a:srgbClr val="16A34A"/>
                </a:solidFill>
                <a:latin typeface="Calibri"/>
              </a:defRPr>
            </a:pPr>
            <a:r>
              <a:t>Go API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MetaRegistry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+ handlers +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28800"/>
            <a:ext cx="1554480" cy="2011680"/>
          </a:xfrm>
          <a:prstGeom prst="roundRect">
            <a:avLst/>
          </a:prstGeom>
          <a:solidFill>
            <a:srgbClr val="E0E7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45720"/>
          <a:lstStyle/>
          <a:p>
            <a:pPr algn="ctr">
              <a:defRPr sz="1600" b="1">
                <a:solidFill>
                  <a:srgbClr val="2C5F8A"/>
                </a:solidFill>
                <a:latin typeface="Calibri"/>
              </a:defRPr>
            </a:pPr>
            <a:r>
              <a:t>PostgreSQL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Tabellen + FK's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relatieve autoincrement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0" y="1828800"/>
            <a:ext cx="1554480" cy="201168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45720"/>
          <a:lstStyle/>
          <a:p>
            <a:pPr algn="ctr">
              <a:defRPr sz="1600" b="1">
                <a:solidFill>
                  <a:srgbClr val="EA580C"/>
                </a:solidFill>
                <a:latin typeface="Calibri"/>
              </a:defRPr>
            </a:pPr>
            <a:r>
              <a:t>Register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Werkend bitemporeel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register + frontend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2834640"/>
            <a:ext cx="45720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31920" y="2834640"/>
            <a:ext cx="45720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43600" y="2834640"/>
            <a:ext cx="45720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55280" y="2834640"/>
            <a:ext cx="45720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66960" y="2834640"/>
            <a:ext cx="45720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920240" y="4114800"/>
            <a:ext cx="8503920" cy="0"/>
          </a:xfrm>
          <a:prstGeom prst="line">
            <a:avLst/>
          </a:prstGeom>
          <a:ln w="38100">
            <a:solidFill>
              <a:srgbClr val="3B82F6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0040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⬅  Reverse: GET /api/schema/model → V3 JSON → Editor (bidirectionele roundtrip)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754880"/>
            <a:ext cx="11612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Code generator levert 7 bestanden: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onsolas"/>
              </a:defRPr>
            </a:pPr>
            <a:r>
              <a:t>modellen_entiteiten.go    Entiteit-structs + plumbing         modellen_input.go     Platte API-input-structs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onsolas"/>
              </a:defRPr>
            </a:pPr>
            <a:r>
              <a:t>modellen_ge_rel.go        Hub, _Data, _Aanvang, _Einde        metaregistry.go       Volledige MetaRegistry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onsolas"/>
              </a:defRPr>
            </a:pPr>
            <a:r>
              <a:t>modellen_methods.go       Interface-methoden (GetID, etc.)     datatype_registry.go  Custom datatypes (BSN, etc.)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onsolas"/>
              </a:defRPr>
            </a:pPr>
            <a:r>
              <a:t>enum_registry.go          Enum-waarden + editor-layouts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18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V3 JSON: het uitwisselformaat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Single exchange format tussen editor, codegen en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0292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D97706"/>
                </a:solidFill>
                <a:latin typeface="Calibri"/>
              </a:defRPr>
            </a:pPr>
            <a:r>
              <a:t>V3 JSON structuur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02020"/>
                </a:solidFill>
                <a:latin typeface="Calibri"/>
              </a:defRPr>
            </a:pPr>
            <a:r>
              <a:t>versie, naam, beschrijving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datatypes []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naam, basistype, format, validatie, normalisatie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7C3AED"/>
                </a:solidFill>
                <a:latin typeface="Calibri"/>
              </a:defRPr>
            </a:pPr>
            <a:r>
              <a:t>enums []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goType, baseType, waarden [{constNaam, waarde}]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A580C"/>
                </a:solidFill>
                <a:latin typeface="Calibri"/>
              </a:defRPr>
            </a:pPr>
            <a:r>
              <a:t>referentielijstInstanties []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systeemnaam, naam, omschrijving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entiteiten []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typenaam, isMaterieel, kleur, meervoud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afgeleideVelden []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6A34A"/>
                </a:solidFill>
                <a:latin typeface="Calibri"/>
              </a:defRPr>
            </a:pPr>
            <a:r>
              <a:t>  gegevenselementen []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 naam, velden [], isMaterieel, momentvoorkomen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EA580C"/>
                </a:solidFill>
                <a:latin typeface="Calibri"/>
              </a:defRPr>
            </a:pPr>
            <a:r>
              <a:t>  relaties []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 naam, doelEntiteit, velden [], isMaterieel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Editor-posities (x, y) worden meebewaard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maar genegeerd door codegen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371600"/>
            <a:ext cx="61264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Wie leest/schrijft V3 JSON?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📝  UML Editor → V3 JSON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  Exporteert het visuele model naar JSON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  POST /api/schema/model — upload naar backend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⚙️  Codegen ← V3 JSON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  --input file.json  of  --from-url http://...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  Genereert 7 Go-bestanden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🔄  API → V3 JSON (reverse)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  GET /api/schema/model — export van runtime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  MetaRegistry → V3 JSON via v3_exporter.go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📥  Editor ← V3 JSON (load from API)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  Laadt model bij opstart vanuit de API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     Volledige bidirectionele roundtrip!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19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Import / Export standaarden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Interoperabiliteit met de buitenwereld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000" b="1">
                <a:solidFill>
                  <a:srgbClr val="16A34A"/>
                </a:solidFill>
                <a:latin typeface="Calibri"/>
              </a:defRPr>
            </a:pPr>
            <a:r>
              <a:t>Export vanuit UML Editor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▸  Mermaid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classDiagram syntax — direct bruikbaar 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Markdown, GitHub, documentatie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   → exportMermaid.js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▸  PlantUML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UML class diagram syntax — PNG/SVG via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PlantUML server of CLI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   → exportPlantUML.js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▸  XMI 1.1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UML 1.4 XMI — Sparx Enterprise Architect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compatibel inclusief diagramposities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   → exportXMI.js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▸  V3 JSON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Eigen metamodel-formaat — voor codegen,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API import/export, roundtrip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   → /api/schema/model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Import naar UML Editor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▸  XMI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Sparx EA XMI met EA-extensies,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diagramposities, stereotypes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   → importXMI.js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▸  Mermaid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classDiagram met stereotypes,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velden en cardinaliteiten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   → importMermaid.js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▸  PlantUML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Class diagrams met stereotypes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   → importPlantUML.js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▸  V3 JSON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Van API of bestand —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bidirectionele roundtrip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   → GET /api/schema/model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Schema-API gebruikt OAS 3.1 type-systeem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(type + format) voor veldtypering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20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Mermaid &amp; PlantUML: echte output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Gegenereerde UML-code vanuit de editor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576072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Mermaid classDiagram (geëxporteerd)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classDiagram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direction TB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NatuurlijkPersoon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&lt;&lt;entiteit, materieel&gt;&gt;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+id : integer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/weergavenaam : string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PersoonsIdentificatie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&lt;&lt;gegevenselement&gt;&gt;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+bsn : string {BSN}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-ingezetene : boolean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Naam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&lt;&lt;gegevenselement&gt;&gt;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+voorletters : string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+achternaam : string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+naamgebruik : Naamgebruiksoort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NatuurlijkPersoon "1" --&gt; "0..1" PersoonsId : Us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NatuurlijkPersoon "1" --&gt; "0..*" Naam : Vs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76072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l">
              <a:defRPr sz="1300" b="1">
                <a:solidFill>
                  <a:srgbClr val="16A34A"/>
                </a:solidFill>
                <a:latin typeface="Calibri"/>
              </a:defRPr>
            </a:pPr>
            <a:r>
              <a:t>PlantUML (geëxporteerd)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@startuml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skinparam classAttributeIconSize 0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hide empty methods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class NatuurlijkPersoon &lt;&lt;entiteit, materieel&gt;&gt;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+ id : integer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/ weergavenaam : string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class PersoonsIdentificatie &lt;&lt;gegevenselement&gt;&gt;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+ bsn : string {BSN}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- ingezetene : boolean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class Bereikbaarheid &lt;&lt;relatie, materieel&gt;&gt;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+ soort : Bereikbaarheidsoort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enum Bereikbaarheidsoort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Woonadres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Briefadres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Correspondentieadres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NatuurlijkPersoon "1" --&gt; "0..1" PersoonsId : Us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@enduml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De editor exporteert ook XMI 1.1 (Sparx EA-compatibel) met diagramposities — voor enterprise tooling interop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21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Validaties: datatypes met regels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BSN, NLPostcode, IBAN — gedefinieerd in het metamodel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4114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0D9488"/>
                </a:solidFill>
                <a:latin typeface="Calibri"/>
              </a:defRPr>
            </a:pPr>
            <a:r>
              <a:t>Validatie-architectuur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Validatie zit op datatype-niveau, niet per veld: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Metamodel (V3 JSON) definieert datatypes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Codegen → DatatypeRegistry (Go)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Frontend validation lib (framework-agnostisch JS)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Velden verwijzen naar datatype bij naam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3 regeltypen: checksum, formula,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931920"/>
            <a:ext cx="41148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0D9488"/>
                </a:solidFill>
                <a:latin typeface="Calibri"/>
              </a:defRPr>
            </a:pPr>
            <a:r>
              <a:t>Validatie-pipeline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1. Normalisatie — trim, uppercase, strip spaces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2. Type-check — string/integer/number/boolean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3. Lengte/bereik — min, max, minLength, maxLength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4. Pattern — regex (bijv. postcode-formaat)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5. Regels — checksum (BSN), formula, function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D9488"/>
                </a:solidFill>
                <a:latin typeface="Consolas"/>
              </a:defRPr>
            </a:pPr>
            <a:r>
              <a:t>Return: { geldig, genormaliseerd, fouten[]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34747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l">
              <a:defRPr sz="1300" b="1">
                <a:solidFill>
                  <a:srgbClr val="0D9488"/>
                </a:solidFill>
                <a:latin typeface="Calibri"/>
              </a:defRPr>
            </a:pPr>
            <a:r>
              <a:t>BSN datatype (metamodel)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"naam": "BSN",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"basistype": "string",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"format": "bsn",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"validatie":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"pattern": "^[0-9]{9}$",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"minLength": 9, "maxLength": 9,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"regels": [{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  "naam": "11-proef",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  "type": "checksum",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  "expressie":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    "(9*d1+8*d2+7*d3+6*d4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     +5*d5+4*d6+3*d7+2*d8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     -1*d9) % 11 == 0"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}]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34747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l">
              <a:defRPr sz="1300" b="1">
                <a:solidFill>
                  <a:srgbClr val="0D9488"/>
                </a:solidFill>
                <a:latin typeface="Calibri"/>
              </a:defRPr>
            </a:pPr>
            <a:r>
              <a:t>NLPostcode (metamodel)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"naam": "NLPostcode",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"basistype": "string",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"format": "nl-postcode",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"validatie":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"pattern":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  "^[1-9][0-9]{3}\\s?[A-Za-z]{2}$",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"minLength": 6, "maxLength": 7,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"foutmelding":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  "Voer geldige postcode in"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"normalisatie": "uppercase_letters",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"weergave":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"placeholder": "1234 AB",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"inputMask": "0000 AA"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5303520"/>
            <a:ext cx="7132320" cy="9144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D9488"/>
                </a:solidFill>
                <a:latin typeface="Calibri"/>
              </a:defRPr>
            </a:pPr>
            <a:r>
              <a:t>IBAN — MOD-97 check (ISO 13616): geïmplementeerd als named function in FUNCTION_REGISTRY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Validatie-library is framework-agnostisch JS — herbruikbaar in editor én data-frontend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22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Afgeleide velden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Berekende waarden uit het model — met CEL-expressies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669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EA580C"/>
                </a:solidFill>
                <a:latin typeface="Calibri"/>
              </a:defRPr>
            </a:pPr>
            <a:r>
              <a:t>Twee niveaus van afleiding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02020"/>
                </a:solidFill>
                <a:latin typeface="Calibri"/>
              </a:defRPr>
            </a:pPr>
            <a:r>
              <a:t>Veld-niveau (binnen één GE/relatie)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onsolas"/>
              </a:defRPr>
            </a:pPr>
            <a:r>
              <a:t>  volledig_adres = straat + " " + huisnr + ", " + postcode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02020"/>
                </a:solidFill>
                <a:latin typeface="Calibri"/>
              </a:defRPr>
            </a:pPr>
            <a:r>
              <a:t>Representatie-niveau (over child GE's heen)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onsolas"/>
              </a:defRPr>
            </a:pPr>
            <a:r>
              <a:t>  weergavenaam = Naam.roepnaam ?: Naam.voorletters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onsolas"/>
              </a:defRPr>
            </a:pPr>
            <a:r>
              <a:t>                 + " " + Naam.achternaam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669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Expressietalen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 CEL (Common Expression Language) — default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Google's type-safe, Go-native (K8s, Firebase)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 Expr — lightweight Go-based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 JsonLogic — JSON-serialiseerbaar, cross-platform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 Pseudo — documentatie, niet geëvalueerd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931920"/>
            <a:ext cx="56692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Weergavevelden (isWeergaveVeld)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Velden met isWeergaveVeld: true verschijnen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op visuele kaarten in Index en Tijdlijn: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Entiteitskaart: "J. de Vries"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GE-box: samenvatting van de inhoud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Meerdere weergavevelden: "Jansen | EigenNaam"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Frontend evalueert CEL via celEvaluator.js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(hub-aware: kent de pad-notatie GE.veld)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6692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t>UML-conventie voor afgeleide velden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In UML: /prefix (schuine streep = afgeleid)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EA580C"/>
                </a:solidFill>
                <a:latin typeface="Consolas"/>
              </a:defRPr>
            </a:pPr>
            <a:r>
              <a:t>  /weergavenaam : string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Oranje / prefix in de editor canvas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Italic weergave op diagram-nodes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Edit-panel met oranje accent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Bewaard in V3 JSON → roundtrip behouden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23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Referentielijsten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Landenlijst, EU-Lidstaten — als subtypes van bestaande metatypes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1521440" cy="9144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854D0E"/>
                </a:solidFill>
                <a:latin typeface="Calibri"/>
              </a:defRPr>
            </a:pPr>
            <a:r>
              <a:t>💡  Referentielijsten zijn geen apart mechanisme — ze hergebruiken hub+data, formele/materiële tijd en de registratie-API.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560320"/>
            <a:ext cx="56692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700" b="1">
                <a:solidFill>
                  <a:srgbClr val="2C5F8A"/>
                </a:solidFill>
                <a:latin typeface="Calibri"/>
              </a:defRPr>
            </a:pPr>
            <a:r>
              <a:t>Drie subtypes van bestaande metatypes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C5F8A"/>
                </a:solidFill>
                <a:latin typeface="Calibri"/>
              </a:defRPr>
            </a:pPr>
            <a:r>
              <a:t>▸  referentielijst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subtype van Entiteit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Eén Go struct; elke instantie (bijv.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"Landenlijst") is een record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16A34A"/>
                </a:solidFill>
                <a:latin typeface="Calibri"/>
              </a:defRPr>
            </a:pPr>
            <a:r>
              <a:t>▸  referentielijst_item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subtype van Entiteit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Bijv. Land — gewone entiteit met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vrij modelleerbare GE's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A580C"/>
                </a:solidFill>
                <a:latin typeface="Calibri"/>
              </a:defRPr>
            </a:pPr>
            <a:r>
              <a:t>▸  referentielijst_items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subtype van Relatie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Koppeltabel: FK naar lijst + FK naar item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Bijv. LandenlijstLand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2C5F8A"/>
                </a:solidFill>
                <a:latin typeface="Calibri"/>
              </a:defRPr>
            </a:pPr>
            <a:r>
              <a:t>Onderscheid zit puur in metamodel-metadata,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2C5F8A"/>
                </a:solidFill>
                <a:latin typeface="Calibri"/>
              </a:defRPr>
            </a:pPr>
            <a:r>
              <a:t>niet in runtime-gedrag!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560320"/>
            <a:ext cx="566928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Mermaid: referentielijsten voorbeeld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classDiagram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direction LR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Referentielijst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&lt;&lt;entiteit&gt;&gt;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+id : integer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ReferentielijstNaam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&lt;&lt;GE hub&gt;&gt;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naam : string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Land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&lt;&lt;referentielijst_item&gt;&gt;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+id : integer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LandenlijstLand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&lt;&lt;referentielijst_items&gt;&gt;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+landenlijst_id : FK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+land_id : FK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class Landcode {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&lt;&lt;GE hub&gt;&gt;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  code : string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Referentielijst *-- LandenlijstLand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LandenlijstLand *-- Land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Land *-- Landcode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100" b="0">
                <a:solidFill>
                  <a:srgbClr val="A5D6FF"/>
                </a:solidFill>
                <a:latin typeface="Consolas"/>
              </a:defRPr>
            </a:pPr>
            <a:r>
              <a:t>  ReferentielijstNaam --* Referentielijst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24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Tech stack &amp; architectuur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Van MetaRegistry tot browser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601200" cy="658368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990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Calibri"/>
              </a:defRPr>
            </a:pPr>
            <a:r>
              <a:t>React +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9903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Dynamische UI, SVG-visualisatie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9601200" cy="658368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Schema-API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219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Calibri"/>
              </a:defRPr>
            </a:pPr>
            <a:r>
              <a:t>/api/viz/schema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219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Metadata + veldtypes als JSON (OAS 3.1)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017520"/>
            <a:ext cx="9601200" cy="658368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Handlers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449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Calibri"/>
              </a:defRPr>
            </a:pPr>
            <a:r>
              <a:t>Generieke Go handlers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04495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MakeGet…ByMetaHandler(meta)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840480"/>
            <a:ext cx="9601200" cy="658368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1600" b="1">
                <a:solidFill>
                  <a:srgbClr val="CA8A04"/>
                </a:solidFill>
                <a:latin typeface="Calibri"/>
              </a:defRPr>
            </a:pPr>
            <a:r>
              <a:t>MetaRegistry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86791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Calibri"/>
              </a:defRPr>
            </a:pPr>
            <a:r>
              <a:t>Go map[string]TypeMeta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8679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Single source of truth (gegenereerd)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663440"/>
            <a:ext cx="9601200" cy="658368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t>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69087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Calibri"/>
              </a:defRPr>
            </a:pPr>
            <a:r>
              <a:t>Bun (Go)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69087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DB-mapping via struct tags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486400"/>
            <a:ext cx="9601200" cy="658368"/>
          </a:xfrm>
          <a:prstGeom prst="roundRect">
            <a:avLst/>
          </a:prstGeom>
          <a:solidFill>
            <a:srgbClr val="E0E7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5138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1383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Tabellen, FK's, relatieve autoincrement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72200" y="2029968"/>
            <a:ext cx="0" cy="164592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72200" y="2852928"/>
            <a:ext cx="0" cy="164592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72200" y="3675888"/>
            <a:ext cx="0" cy="164592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72200" y="4498848"/>
            <a:ext cx="0" cy="164592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72200" y="5321808"/>
            <a:ext cx="0" cy="164592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82880" y="1371600"/>
            <a:ext cx="1097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75569"/>
                </a:solidFill>
                <a:latin typeface="Calibri"/>
              </a:defRPr>
            </a:pPr>
            <a:r>
              <a:t>Tools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300" b="0">
                <a:solidFill>
                  <a:srgbClr val="202020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Gin HTTP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Codegen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UML Editor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Mermaid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PlantUML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XMI/EA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CEL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GraphQL*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25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Werkwijze bij modelwijzigingen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Twee paden: handmatig of via codegen roundtrip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669280" cy="5029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16A34A"/>
                </a:solidFill>
                <a:latin typeface="Calibri"/>
              </a:defRPr>
            </a:pPr>
            <a:r>
              <a:t>Pad A: via UML Editor + Codegen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(aanbevolen)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  1.  Model aanpassen in UML Editor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  2.  Exporteer V3 JSON (of save naar API)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  3.  Run codegen: go run ./cmd/codegen --input model.json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  4.  7 bestanden worden gegenereerd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  5.  DB-tabel aanmaken (createtables.go)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  6.  go build &amp;&amp; go test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  7.  Frontend past zich automatisch aan!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Pad B: handmatig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(voor edge cases / fijntuning)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  1.  Struct definiëren (modellen_*.go)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    Go struct met JSON/Bun/schema tags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  2.  Interface-methoden implementeren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    GetID, Metatype, ClearID, Opvoer/Afvoer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  3.  MetaRegistry-entry toevoegen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    TypeMeta met alle metadata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  4.  OnderliggendeGE's aanpassen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    Bij entiteiten: Rolnaam + JSONRolnaam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  5.  DB-tabel aanmaken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    CREATE TABLE in createtables.go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  6.  Klaar!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     Routes en handlers automatisch gegenereerd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" b="0">
                <a:solidFill>
                  <a:srgbClr val="20202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26 /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Samenvatting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657600" cy="5120640"/>
          </a:xfrm>
          <a:prstGeom prst="roundRect">
            <a:avLst/>
          </a:prstGeom>
          <a:solidFill>
            <a:srgbClr val="25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2200" b="1">
                <a:solidFill>
                  <a:srgbClr val="BFDBFE"/>
                </a:solidFill>
                <a:latin typeface="Calibri"/>
              </a:defRPr>
            </a:pPr>
            <a:r>
              <a:t>Principes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Twee tijdsdimensies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FDBFE"/>
                </a:solidFill>
                <a:latin typeface="Calibri"/>
              </a:defRPr>
            </a:pPr>
            <a:r>
              <a:t>     formeel + materieel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Opvoer/afvoer altijd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Drie metatypes: ENT → GE → REL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Hub + Data pattern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FDBFE"/>
                </a:solidFill>
                <a:latin typeface="Calibri"/>
              </a:defRPr>
            </a:pPr>
            <a:r>
              <a:t>     Apart corrigeerbaar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Tijdreizen over 2 dimensies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5120640"/>
          </a:xfrm>
          <a:prstGeom prst="roundRect">
            <a:avLst/>
          </a:prstGeom>
          <a:solidFill>
            <a:srgbClr val="25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2200" b="1">
                <a:solidFill>
                  <a:srgbClr val="BFDBFE"/>
                </a:solidFill>
                <a:latin typeface="Calibri"/>
              </a:defRPr>
            </a:pPr>
            <a:r>
              <a:t>Tooling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UML Editor met roundtrip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FDBFE"/>
                </a:solidFill>
                <a:latin typeface="Calibri"/>
              </a:defRPr>
            </a:pPr>
            <a:r>
              <a:t>     V3 JSON als uitwisselformaat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Code generatie (7 bestanden)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Import/Export: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FDBFE"/>
                </a:solidFill>
                <a:latin typeface="Calibri"/>
              </a:defRPr>
            </a:pPr>
            <a:r>
              <a:t>     Mermaid, PlantUML, XMI/EA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Validatie-framework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FDBFE"/>
                </a:solidFill>
                <a:latin typeface="Calibri"/>
              </a:defRPr>
            </a:pPr>
            <a:r>
              <a:t>     BSN, NLPostcode, IBAN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Afgeleide velden (CEL)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Referentielijsten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188720"/>
            <a:ext cx="3657600" cy="5120640"/>
          </a:xfrm>
          <a:prstGeom prst="roundRect">
            <a:avLst/>
          </a:prstGeom>
          <a:solidFill>
            <a:srgbClr val="25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2200" b="1">
                <a:solidFill>
                  <a:srgbClr val="BFDBFE"/>
                </a:solidFill>
                <a:latin typeface="Calibri"/>
              </a:defRPr>
            </a:pPr>
            <a:r>
              <a:t>Implementatie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MetaRegistry = single source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FDBFE"/>
                </a:solidFill>
                <a:latin typeface="Calibri"/>
              </a:defRPr>
            </a:pPr>
            <a:r>
              <a:t>     Dynamische routes, handlers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Schema-driven frontend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FDBFE"/>
                </a:solidFill>
                <a:latin typeface="Calibri"/>
              </a:defRPr>
            </a:pPr>
            <a:r>
              <a:t>     Geen hardcoded structuren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PostgreSQL + relatieve AI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FDBFE"/>
                </a:solidFill>
                <a:latin typeface="Calibri"/>
              </a:defRPr>
            </a:pPr>
            <a:r>
              <a:t>     Samengestelde PK's/scope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Go + Gin + Bun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React + Vite frontend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OAS 3.1 type-systeem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