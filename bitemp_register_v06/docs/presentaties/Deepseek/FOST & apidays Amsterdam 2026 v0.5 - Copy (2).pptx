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FDA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</a:t>
            </a: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apidays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6167781-CBD4-A12F-78EA-7C72BA73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17" y="835286"/>
            <a:ext cx="2371429" cy="1038095"/>
          </a:xfrm>
          <a:prstGeom prst="rect">
            <a:avLst/>
          </a:prstGeom>
        </p:spPr>
      </p:pic>
      <p:sp>
        <p:nvSpPr>
          <p:cNvPr id="4" name="Tekstballon: rechthoek met afgeronde hoeken 3">
            <a:extLst>
              <a:ext uri="{FF2B5EF4-FFF2-40B4-BE49-F238E27FC236}">
                <a16:creationId xmlns:a16="http://schemas.microsoft.com/office/drawing/2014/main" id="{54B4BE11-0A9F-CF7A-DD90-A89C3C392282}"/>
              </a:ext>
            </a:extLst>
          </p:cNvPr>
          <p:cNvSpPr/>
          <p:nvPr/>
        </p:nvSpPr>
        <p:spPr>
          <a:xfrm>
            <a:off x="539496" y="3846389"/>
            <a:ext cx="2569464" cy="1038095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EF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b="1" dirty="0">
                <a:solidFill>
                  <a:schemeClr val="tx1"/>
                </a:solidFill>
                <a:latin typeface="Aptos" panose="020B0004020202020204" pitchFamily="34" charset="0"/>
              </a:rPr>
              <a:t>Future Of Software Technologies </a:t>
            </a:r>
            <a:endParaRPr lang="en-NL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F5FD397-EF49-76E5-C6B0-447F80E84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788" y="641894"/>
            <a:ext cx="2715460" cy="1241743"/>
          </a:xfrm>
          <a:prstGeom prst="rect">
            <a:avLst/>
          </a:prstGeom>
        </p:spPr>
      </p:pic>
      <p:pic>
        <p:nvPicPr>
          <p:cNvPr id="8" name="Afbeelding 7" descr="What exactly is GraphQL? - everyday.codes">
            <a:extLst>
              <a:ext uri="{FF2B5EF4-FFF2-40B4-BE49-F238E27FC236}">
                <a16:creationId xmlns:a16="http://schemas.microsoft.com/office/drawing/2014/main" id="{AAF014E2-2E5E-E135-CEE4-7EF44EA03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090" y="588724"/>
            <a:ext cx="2831211" cy="148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 ad-hoc API-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geintegreerde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API-platforms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o.b.v.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nationale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wereldwijde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kosten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spendeert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momenteel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miljarden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aan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Amerikaanse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licenties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closed-source software</a:t>
            </a:r>
          </a:p>
          <a:p>
            <a:pPr lvl="0">
              <a:lnSpc>
                <a:spcPct val="144941"/>
              </a:lnSpc>
            </a:pPr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 lang="nl-NL" dirty="0"/>
          </a:p>
          <a:p>
            <a:pPr lvl="0">
              <a:lnSpc>
                <a:spcPct val="144941"/>
              </a:lnSpc>
            </a:pPr>
            <a:endParaRPr lang="en-GB" dirty="0"/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vendor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lock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-ins en bouwt autonome, Europese capaciteit.</a:t>
            </a:r>
            <a:endParaRPr lang="nl-NL" dirty="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934075" y="935980"/>
            <a:ext cx="6096000" cy="491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43650" y="1534939"/>
            <a:ext cx="5267325" cy="3045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47775"/>
            <a:ext cx="5380862" cy="307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41"/>
              </a:lnSpc>
            </a:pPr>
            <a:r>
              <a:rPr lang="nl-N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 lang="nl-NL" sz="1600" dirty="0"/>
          </a:p>
          <a:p>
            <a:pPr lvl="0">
              <a:lnSpc>
                <a:spcPct val="144941"/>
              </a:lnSpc>
            </a:pPr>
            <a:endParaRPr lang="en-US" sz="12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gewoontes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Ontwikkelaars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veranderen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workflow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zomaar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Pas governance toe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ze al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werken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lvl="0">
              <a:lnSpc>
                <a:spcPct val="144941"/>
              </a:lnSpc>
            </a:pPr>
            <a:endParaRPr lang="en-US" sz="12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wat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daadwerkelijk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draait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Bouw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index, model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actuele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landkaart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je API’s</a:t>
            </a:r>
          </a:p>
          <a:p>
            <a:pPr lvl="0">
              <a:lnSpc>
                <a:spcPct val="144941"/>
              </a:lnSpc>
            </a:pPr>
            <a:endParaRPr lang="en-US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complimenten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voormalig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Obama-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adviseur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Nederlandse API-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expliciet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!.</a:t>
            </a:r>
            <a:endParaRPr lang="en-US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66221" y="1257300"/>
            <a:ext cx="522218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TextBox 132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De Transformatielaag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Noodzaak voor een gateway/tussenlaag (KrakenD):</a:t>
            </a:r>
          </a:p>
          <a:p>
            <a:r>
              <a:rPr sz="1600" b="1"/>
              <a:t/>
            </a:r>
          </a:p>
          <a:p>
            <a:r>
              <a:rPr sz="1600" b="1"/>
              <a:t>→ Ontkoppeling: Transformeer payloads, pas rate-limiting toe en valideer autorisatie direct in de gateway-laag.</a:t>
            </a:r>
          </a:p>
          <a:p>
            <a:r>
              <a:rPr sz="1600" b="1"/>
              <a:t/>
            </a:r>
          </a:p>
          <a:p>
            <a:r>
              <a:rPr sz="1600" b="1"/>
              <a:t>→ KrakenD Open Source: Een krachtige engine om calls on-the-fly en direct in de gateway te manipuleren.</a:t>
            </a:r>
          </a:p>
          <a:p>
            <a:r>
              <a:rPr sz="1600" b="1"/>
              <a:t/>
            </a:r>
          </a:p>
          <a:p>
            <a:r>
              <a:rPr sz="1600" b="1"/>
              <a:t>→ Multi-Backend Aggregation: Voeg meerdere losse endpoints samen tot één beheersbaar en consistent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Het Nationaal Schema Register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Het Goede Initiatief</a:t>
            </a:r>
          </a:p>
          <a:p>
            <a:r>
              <a:rPr sz="1600" b="1"/>
              <a:t/>
            </a:r>
          </a:p>
          <a:p>
            <a:r>
              <a:rPr sz="1600" b="1"/>
              <a:t>→ Dimitri van Hees (Geonovum) presenteerde een register om OpenAPI- en JSON-schema's centraal te ontsluiten voor de overheid.</a:t>
            </a:r>
          </a:p>
          <a:p>
            <a:r>
              <a:rPr sz="1600" b="1"/>
              <a:t/>
            </a:r>
          </a:p>
          <a:p>
            <a:r>
              <a:rPr sz="1600" b="1"/>
              <a:t>→ Dit stimuleert hergebruik en standaardisatie van dataspecificaties over overheidsgrenzen heen.</a:t>
            </a:r>
          </a:p>
          <a:p>
            <a:r>
              <a:rPr sz="1600" b="1"/>
              <a:t/>
            </a:r>
          </a:p>
          <a:p>
            <a:r>
              <a:rPr sz="1600" b="1"/>
              <a:t>→ Kritiek: De 'Grabbelton'</a:t>
            </a:r>
          </a:p>
          <a:p>
            <a:r>
              <a:rPr sz="1600" b="1"/>
              <a:t/>
            </a:r>
          </a:p>
          <a:p>
            <a:r>
              <a:rPr sz="1600" b="1"/>
              <a:t>→ Het register mist op dit moment nog een goede visuele representatie. Het voelt nu als een grote vergaarbak zonder heldere context.</a:t>
            </a:r>
          </a:p>
          <a:p>
            <a:r>
              <a:rPr sz="1600" b="1"/>
              <a:t/>
            </a:r>
          </a:p>
          <a:p>
            <a:r>
              <a:rPr sz="1600" b="1"/>
              <a:t>→ Een kans: Onze UML/objecttypen POC in React kan hier uitstekend bij helpen om semantisch begrip visueel te maken! Ik ga Dimitri benaderen.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096000" y="1833562"/>
            <a:ext cx="60960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TextBox 167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API-Sturing in Italië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Roberto Polli over de Italiaanse aanpak:</a:t>
            </a:r>
          </a:p>
          <a:p>
            <a:r>
              <a:rPr sz="1600" b="1"/>
              <a:t/>
            </a:r>
          </a:p>
          <a:p>
            <a:r>
              <a:rPr sz="1600" b="1"/>
              <a:t>→ Federatieve uitdaging: Italië heeft te maken met 20 autonome regio's en meer dan 8000 gemeenten met elk eigen regels.</a:t>
            </a:r>
          </a:p>
          <a:p>
            <a:r>
              <a:rPr sz="1600" b="1"/>
              <a:t/>
            </a:r>
          </a:p>
          <a:p>
            <a:r>
              <a:rPr sz="1600" b="1"/>
              <a:t>→ Sterk Mandaat: Sinds 2016 heeft het Digital Transformation Team de regie strak in handen genomen vanaf de premier.</a:t>
            </a:r>
          </a:p>
          <a:p>
            <a:r>
              <a:rPr sz="1600" b="1"/>
              <a:t/>
            </a:r>
          </a:p>
          <a:p>
            <a:r>
              <a:rPr sz="1600" b="1"/>
              <a:t>→ REST-Transitie: Volledige overstap van SOAP naar open standaarden en internetprotocollen voor interoperabiliteit.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668680"/>
            <a:ext cx="5267325" cy="27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TextBox 17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Lessen uit Italië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Strategische successen en platforms:</a:t>
            </a:r>
          </a:p>
          <a:p>
            <a:r>
              <a:rPr sz="1600" b="1"/>
              <a:t/>
            </a:r>
          </a:p>
          <a:p>
            <a:r>
              <a:rPr sz="1600" b="1"/>
              <a:t>→ Nationale registers: Succesvolle integratie via de centrale API-catalogus (api.gov.it) en schema-register.</a:t>
            </a:r>
          </a:p>
          <a:p>
            <a:r>
              <a:rPr sz="1600" b="1"/>
              <a:t/>
            </a:r>
          </a:p>
          <a:p>
            <a:r>
              <a:rPr sz="1600" b="1"/>
              <a:t>→ Mensen &amp; wetten: Je hebt niet altijd harde wetgeving nodig... tenzij het niet anders kan. Zorg voor juridische expertise in je team.</a:t>
            </a:r>
          </a:p>
          <a:p>
            <a:r>
              <a:rPr sz="1600" b="1"/>
              <a:t/>
            </a:r>
          </a:p>
          <a:p>
            <a:r>
              <a:rPr sz="1600" b="1"/>
              <a:t>→ EIF Interoperabiliteit: Strikte naleving van de Europese interoperabiliteits-architectuur voorkomt technische omwegen.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EC128A0C-09BF-92A2-F51E-DA4E4336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4" y="249285"/>
            <a:ext cx="2990960" cy="2990960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Dag 2: De GraphQL Ochtend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Mythes ontmaskerd, integratie met LLM's en AI-powered mock-omgevingen.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550370"/>
            <a:ext cx="5267325" cy="30143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TextBox 198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GraphQL vs REST Mythes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Jens Neuse (WunderGraph) ontmaskert dogma's:</a:t>
            </a:r>
          </a:p>
          <a:p>
            <a:r>
              <a:rPr sz="1600" b="1"/>
              <a:t/>
            </a:r>
          </a:p>
          <a:p>
            <a:r>
              <a:rPr sz="1600" b="1"/>
              <a:t>→ De caching-mythe: GraphQL is volwassen geworden. De bewering "GraphQL breekt caching" klopt niet meer.</a:t>
            </a:r>
          </a:p>
          <a:p>
            <a:r>
              <a:rPr sz="1600" b="1"/>
              <a:t/>
            </a:r>
          </a:p>
          <a:p>
            <a:r>
              <a:rPr sz="1600" b="1"/>
              <a:t>→ Gelaagde aanpak: Caching vereist een gecoördineerde stack (Client, CDN, Gateway en Applicatie-niveau).</a:t>
            </a:r>
          </a:p>
          <a:p>
            <a:r>
              <a:rPr sz="1600" b="1"/>
              <a:t/>
            </a:r>
          </a:p>
          <a:p>
            <a:r>
              <a:rPr sz="1600" b="1"/>
              <a:t>→ Abstraction Layer: GraphQL blinkt uit als één simplistische interface voor AI-modellen en agents, i.p.v. honderden REST-endpoints.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0F1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TextBox 21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Mensen of Engines beheren?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De transitie in moderne API Governance:</a:t>
            </a:r>
          </a:p>
          <a:p>
            <a:r>
              <a:rPr sz="1600" b="1"/>
              <a:t/>
            </a:r>
          </a:p>
          <a:p>
            <a:r>
              <a:rPr sz="1600" b="1"/>
              <a:t>→ De chaos: Traditionele governance probeert complexe interacties tussen mensen / teams en API’s handmatig te reguleren.</a:t>
            </a:r>
          </a:p>
          <a:p>
            <a:r>
              <a:rPr sz="1600" b="1"/>
              <a:t/>
            </a:r>
          </a:p>
          <a:p>
            <a:r>
              <a:rPr sz="1600" b="1"/>
              <a:t>→ De oplossing: Verschuif de focus naar het inrichten en beheren van platform-engines (de gateways).</a:t>
            </a:r>
          </a:p>
          <a:p>
            <a:r>
              <a:rPr sz="1600" b="1"/>
              <a:t/>
            </a:r>
          </a:p>
          <a:p>
            <a:r>
              <a:rPr sz="1600" b="1"/>
              <a:t>→ Automatische controle: Regels centraal in de 'engine' afdwingen ontlast ontwikkelaars en behoudt grip.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445128" y="1257300"/>
            <a:ext cx="5064369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TextBox 228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Mocking m.b.v. AI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Annotaties sturen de router aan:</a:t>
            </a:r>
          </a:p>
          <a:p>
            <a:r>
              <a:rPr sz="1600" b="1"/>
              <a:t/>
            </a:r>
          </a:p>
          <a:p>
            <a:r>
              <a:rPr sz="1600" b="1"/>
              <a:t>→ De @mock annotatie: Backend-teams annoteren velden die nog niet zijn geïmplementeerd direct in het schema.</a:t>
            </a:r>
          </a:p>
          <a:p>
            <a:r>
              <a:rPr sz="1600" b="1"/>
              <a:t/>
            </a:r>
          </a:p>
          <a:p>
            <a:r>
              <a:rPr sz="1600" b="1"/>
              <a:t>→ AI-gegenereerd: De router interpreteert de annotatie en genereert realistische, domein-specifieke mockdata.</a:t>
            </a:r>
          </a:p>
          <a:p>
            <a:r>
              <a:rPr sz="1600" b="1"/>
              <a:t/>
            </a:r>
          </a:p>
          <a:p>
            <a:r>
              <a:rPr sz="1600" b="1"/>
              <a:t>→ Voorbeeld: `@mock(source: "llm" hint: "Amsterdam hotel")` levert direct betekenisvolle UI-vulling 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TextBox 242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Platform Engineering 2026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Alice Roquette (TomTom)</a:t>
            </a:r>
          </a:p>
          <a:p>
            <a:r>
              <a:rPr sz="1600" b="1"/>
              <a:t/>
            </a:r>
          </a:p>
          <a:p>
            <a:r>
              <a:rPr sz="1600" b="1"/>
              <a:t>→ Uitgebreide discussie over API-governance, gateways en complexe re-engineering binnen een platform-omgeving.</a:t>
            </a:r>
          </a:p>
          <a:p>
            <a:r>
              <a:rPr sz="1600" b="1"/>
              <a:t/>
            </a:r>
          </a:p>
          <a:p>
            <a:r>
              <a:rPr sz="1600" b="1"/>
              <a:t>→ Platform engineering is de lijm tussen de technische architectuur en de uiteindelijke developer experience.</a:t>
            </a:r>
          </a:p>
          <a:p>
            <a:r>
              <a:rPr sz="1600" b="1"/>
              <a:t/>
            </a:r>
          </a:p>
          <a:p>
            <a:r>
              <a:rPr sz="1600" b="1"/>
              <a:t>→ De DevOps AI Chatroom</a:t>
            </a:r>
          </a:p>
          <a:p>
            <a:r>
              <a:rPr sz="1600" b="1"/>
              <a:t/>
            </a:r>
          </a:p>
          <a:p>
            <a:r>
              <a:rPr sz="1600" b="1"/>
              <a:t>→ Een bijzonder initiatief van jonge engineers: een discord-chatroom waar teams samen AI-prompts sturen en de complete prompt-historie opslaan.</a:t>
            </a:r>
          </a:p>
          <a:p>
            <a:r>
              <a:rPr sz="1600" b="1"/>
              <a:t/>
            </a:r>
          </a:p>
          <a:p>
            <a:r>
              <a:rPr sz="1600" b="1"/>
              <a:t>→ Waarom: Dit herontdekt de "waarom" achter het ontwerp van systemen. De herontdekking van specs, maar dan organisch.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703413"/>
            <a:ext cx="6096000" cy="345117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TextBox 26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AsyncAPI Event-Sturing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Lukasz Gornicki (AsyncAPI Maintainer):</a:t>
            </a:r>
          </a:p>
          <a:p>
            <a:r>
              <a:rPr sz="1600" b="1"/>
              <a:t/>
            </a:r>
          </a:p>
          <a:p>
            <a:r>
              <a:rPr sz="1600" b="1"/>
              <a:t>→ De Omhulling telt: Lukasz benadrukte dat het payload-schema zelf secundair is; AsyncAPI definieert de interactie en kanalen (Kafka, MQTT).</a:t>
            </a:r>
          </a:p>
          <a:p>
            <a:r>
              <a:rPr sz="1600" b="1"/>
              <a:t/>
            </a:r>
          </a:p>
          <a:p>
            <a:r>
              <a:rPr sz="1600" b="1"/>
              <a:t>→ Consistentie voor Events: Brengt dezelfde structuur en developer experience naar event-driven systemen als OpenAPI deed voor REST.</a:t>
            </a:r>
          </a:p>
          <a:p>
            <a:r>
              <a:rPr sz="1600" b="1"/>
              <a:t/>
            </a:r>
          </a:p>
          <a:p>
            <a:r>
              <a:rPr sz="1600" b="1"/>
              <a:t>→ Tooling Ecosysteem: Snelle groei in open-source code-generatoren en validatie-pipelines.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326964"/>
            <a:ext cx="5267325" cy="346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TextBox 271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Ask AsyncAPI AI Interface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Interactieve AI assistent voor AsyncAPI:</a:t>
            </a:r>
          </a:p>
          <a:p>
            <a:r>
              <a:rPr sz="1600" b="1"/>
              <a:t/>
            </a:r>
          </a:p>
          <a:p>
            <a:r>
              <a:rPr sz="1600" b="1"/>
              <a:t>→ Laagdrempelig: Beantwoordt vragen over de specificatie, concepten en protocollen direct vanuit de officiële documentatie.</a:t>
            </a:r>
          </a:p>
          <a:p>
            <a:r>
              <a:rPr sz="1600" b="1"/>
              <a:t/>
            </a:r>
          </a:p>
          <a:p>
            <a:r>
              <a:rPr sz="1600" b="1"/>
              <a:t>→ Echte passie: "AsyncAPI is built by people with passion, not large corporate funding."</a:t>
            </a:r>
          </a:p>
          <a:p>
            <a:r>
              <a:rPr sz="1600" b="1"/>
              <a:t/>
            </a:r>
          </a:p>
          <a:p>
            <a:r>
              <a:rPr sz="1600" b="1"/>
              <a:t>→ Follow-up: Tevens kort met het GraphQL team gesproken en een vervolgafspraak ingepland om ervaringen uit te wisselen!</a:t>
            </a:r>
          </a:p>
          <a:p>
            <a:r>
              <a:rPr sz="1600" b="1"/>
              <a:t/>
            </a:r>
          </a:p>
          <a:p>
            <a:r>
              <a:rPr sz="1600" b="1"/>
              <a:t>→ askasyncapi.brainfart.dev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TextBox 28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De Toekomst van Software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De menselijke maat is essentieel bij het gebruik van AI. Blijf zelf specificeren en ontwerpen. Bedenk zelf wat je wilt bouwen — anders wordt alles uiteindelijk een identieke gemeenplaats. Blijf nadenken: dat is wat wij mensen nog steeds als de beste kunnen.</a:t>
            </a:r>
          </a:p>
          <a:p>
            <a:r>
              <a:rPr sz="1600" b="1"/>
              <a:t>"</a:t>
            </a:r>
          </a:p>
          <a:p>
            <a:r>
              <a:rPr sz="1600" b="1"/>
              <a:t/>
            </a:r>
          </a:p>
          <a:p>
            <a:r>
              <a:rPr sz="1600" b="1"/>
              <a:t>→ — Paneldiscussie met Mark Boyd, Erik Wilde, Kristen Womack &amp; Alice Roquette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TextBox 29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Vragen &amp; Discussie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Hoe vertalen we deze lessen over menselijke regie, AI-mocking en platform-governance naar onze eigen visie?</a:t>
            </a:r>
          </a:p>
          <a:p>
            <a:r>
              <a:rPr sz="1600" b="1"/>
              <a:t/>
            </a:r>
          </a:p>
          <a:p>
            <a:r>
              <a:rPr sz="1600" b="1"/>
              <a:t>→ Dank voor jullie aandacht en bijdrage!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1009</Words>
  <Application>Microsoft Office PowerPoint</Application>
  <PresentationFormat>Breedbeeld</PresentationFormat>
  <Paragraphs>112</Paragraphs>
  <Slides>17</Slides>
  <Notes>17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5" baseType="lpstr">
      <vt:lpstr>Urbanist</vt:lpstr>
      <vt:lpstr>Aptos</vt:lpstr>
      <vt:lpstr>Urbanist Medium</vt:lpstr>
      <vt:lpstr>Arial</vt:lpstr>
      <vt:lpstr>Courier New</vt:lpstr>
      <vt:lpstr>Calibri</vt:lpstr>
      <vt:lpstr>Urbanist SemiBold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Westbroek</cp:lastModifiedBy>
  <cp:revision>4</cp:revision>
  <dcterms:modified xsi:type="dcterms:W3CDTF">2026-06-15T21:22:25Z</dcterms:modified>
</cp:coreProperties>
</file>