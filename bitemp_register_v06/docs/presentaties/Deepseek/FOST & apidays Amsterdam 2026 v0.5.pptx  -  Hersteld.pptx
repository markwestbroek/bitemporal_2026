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Urbanis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FDA"/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60383" y="2456110"/>
            <a:ext cx="987123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FOST &amp; </a:t>
            </a:r>
            <a:r>
              <a:rPr lang="en-US" sz="48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apidays</a:t>
            </a: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395412" y="3269456"/>
            <a:ext cx="9401175" cy="33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Persoonlijke Terugblik, Workshops &amp; Core Takeaways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95412" y="3981896"/>
            <a:ext cx="9401175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9 - 10 juni 2026 • Amsterdam, Nederland</a:t>
            </a:r>
            <a:endParaRPr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6167781-CBD4-A12F-78EA-7C72BA73E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17" y="835286"/>
            <a:ext cx="2371429" cy="1038095"/>
          </a:xfrm>
          <a:prstGeom prst="rect">
            <a:avLst/>
          </a:prstGeom>
        </p:spPr>
      </p:pic>
      <p:sp>
        <p:nvSpPr>
          <p:cNvPr id="4" name="Tekstballon: rechthoek met afgeronde hoeken 3">
            <a:extLst>
              <a:ext uri="{FF2B5EF4-FFF2-40B4-BE49-F238E27FC236}">
                <a16:creationId xmlns:a16="http://schemas.microsoft.com/office/drawing/2014/main" id="{54B4BE11-0A9F-CF7A-DD90-A89C3C392282}"/>
              </a:ext>
            </a:extLst>
          </p:cNvPr>
          <p:cNvSpPr/>
          <p:nvPr/>
        </p:nvSpPr>
        <p:spPr>
          <a:xfrm>
            <a:off x="539496" y="3846389"/>
            <a:ext cx="2569464" cy="1038095"/>
          </a:xfrm>
          <a:prstGeom prst="wedgeRoundRectCallout">
            <a:avLst>
              <a:gd name="adj1" fmla="val 47789"/>
              <a:gd name="adj2" fmla="val -121821"/>
              <a:gd name="adj3" fmla="val 16667"/>
            </a:avLst>
          </a:prstGeom>
          <a:solidFill>
            <a:srgbClr val="DEFF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b="1" dirty="0">
                <a:solidFill>
                  <a:schemeClr val="tx1"/>
                </a:solidFill>
                <a:latin typeface="Aptos" panose="020B0004020202020204" pitchFamily="34" charset="0"/>
              </a:rPr>
              <a:t>Future Of Software Technologies </a:t>
            </a:r>
            <a:endParaRPr lang="en-NL" sz="20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F5FD397-EF49-76E5-C6B0-447F80E84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788" y="641894"/>
            <a:ext cx="2715460" cy="1241743"/>
          </a:xfrm>
          <a:prstGeom prst="rect">
            <a:avLst/>
          </a:prstGeom>
        </p:spPr>
      </p:pic>
      <p:pic>
        <p:nvPicPr>
          <p:cNvPr id="8" name="Afbeelding 7" descr="What exactly is GraphQL? - everyday.codes">
            <a:extLst>
              <a:ext uri="{FF2B5EF4-FFF2-40B4-BE49-F238E27FC236}">
                <a16:creationId xmlns:a16="http://schemas.microsoft.com/office/drawing/2014/main" id="{AAF014E2-2E5E-E135-CEE4-7EF44EA03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090" y="588724"/>
            <a:ext cx="2831211" cy="1486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65471" y="3121372"/>
            <a:ext cx="846105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1: </a:t>
            </a:r>
            <a:r>
              <a:rPr lang="en-US" sz="4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Architectuur &amp; Governance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59547"/>
            <a:ext cx="76200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Van ad-hoc API-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ontwerp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naar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geintegreerde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API-platforms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o.b.v.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nationale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wereldwijde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standaarden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Europese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5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Soevereiniteit</a:t>
            </a:r>
            <a:endParaRPr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Jean-Baptiste Kempf (VLC):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Propriëtaire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kosten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Europa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spendeert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momenteel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miljarden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aan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Amerikaanse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licenties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closed-source software</a:t>
            </a:r>
          </a:p>
          <a:p>
            <a:pPr lvl="0">
              <a:lnSpc>
                <a:spcPct val="144941"/>
              </a:lnSpc>
            </a:pPr>
            <a:endParaRPr lang="en-US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Investering in Open Source: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Besteed dit budget direct aan open source om onszelf digitaal en strategisch te versterken.</a:t>
            </a:r>
            <a:endParaRPr lang="nl-NL" dirty="0"/>
          </a:p>
          <a:p>
            <a:pPr lvl="0">
              <a:lnSpc>
                <a:spcPct val="144941"/>
              </a:lnSpc>
            </a:pPr>
            <a:endParaRPr lang="en-GB" dirty="0"/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Geen afhankelijkheid: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structurele verschuiving elimineert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vendor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lock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-ins en bouwt autonome, Europese capaciteit.</a:t>
            </a:r>
            <a:endParaRPr lang="nl-NL" dirty="0"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934075" y="935980"/>
            <a:ext cx="6096000" cy="491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343650" y="1534939"/>
            <a:ext cx="5267325" cy="3045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1247775"/>
            <a:ext cx="5380862" cy="307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941"/>
              </a:lnSpc>
            </a:pPr>
            <a:r>
              <a:rPr lang="nl-NL" sz="16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Gedragsverandering zonder weerstand (Kin Lane):</a:t>
            </a:r>
            <a:endParaRPr lang="nl-NL" sz="1600" dirty="0"/>
          </a:p>
          <a:p>
            <a:pPr lvl="0">
              <a:lnSpc>
                <a:spcPct val="144941"/>
              </a:lnSpc>
            </a:pPr>
            <a:endParaRPr lang="en-US" sz="1200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Respecteer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gewoontes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Ontwikkelaars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veranderen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hun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workflow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niet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zomaar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Pas governance toe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ze al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werken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pPr lvl="0">
              <a:lnSpc>
                <a:spcPct val="144941"/>
              </a:lnSpc>
            </a:pPr>
            <a:endParaRPr lang="en-US" sz="12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Stap 1 - Discover: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 in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wat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daadwerkelijk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draait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Bouw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index, model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actuele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landkaart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je API’s</a:t>
            </a:r>
          </a:p>
          <a:p>
            <a:pPr lvl="0">
              <a:lnSpc>
                <a:spcPct val="144941"/>
              </a:lnSpc>
            </a:pPr>
            <a:endParaRPr lang="en-US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Nederlandse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complimenten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Kin (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voormalig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Obama-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adviseur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Nederlandse API-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expliciet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!.</a:t>
            </a:r>
            <a:endParaRPr lang="en-US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Governance gaat over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Mensen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66221" y="1257300"/>
            <a:ext cx="5222182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TextBox 132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De Transformatielaag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Noodzaak voor een gateway/tussenlaag (KrakenD):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Ontkoppeling: Transformeer payloads, pas rate-limiting toe en valideer autorisatie direct in de gateway-laag.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KrakenD Open Source: Een krachtige engine om calls on-the-fly en direct in de gateway te manipuleren.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Multi-Backend Aggregation: Voeg meerdere losse endpoints samen tot één beheersbaar en consistent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TextBox 146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Het Nationaal Schema Register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Het Goede Initiatief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Dimitri van Hees (Geonovum) presenteerde een register om OpenAPI- en JSON-schema's centraal te ontsluiten voor de overheid.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Dit stimuleert hergebruik en standaardisatie van dataspecificaties over overheidsgrenzen heen.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Kritiek: De 'Grabbelton'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Het register mist op dit moment nog een goede visuele representatie. Het voelt nu als een grote vergaarbak zonder heldere context.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Een kans: Onze UML/objecttypen POC in React kan hier uitstekend bij helpen om semantisch begrip visueel te maken! Ik ga Dimitri benaderen.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096000" y="1833562"/>
            <a:ext cx="60960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TextBox 167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API-Sturing in Italië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Roberto Polli over de Italiaanse aanpak: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Federatieve uitdaging: Italië heeft te maken met 20 autonome regio's en meer dan 8000 gemeenten met elk eigen regels.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Sterk Mandaat: Sinds 2016 heeft het Digital Transformation Team de regie strak in handen genomen vanaf de premier.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REST-Transitie: Volledige overstap van SOAP naar open standaarden en internetprotocollen voor interoperabiliteit.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668680"/>
            <a:ext cx="5267325" cy="277769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TextBox 175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Lessen uit Italië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Strategische successen en platforms: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Nationale registers: Succesvolle integratie via de centrale API-catalogus (api.gov.it) en schema-register.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Mensen &amp; wetten: Je hebt niet altijd harde wetgeving nodig... tenzij het niet anders kan. Zorg voor juridische expertise in je team.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EIF Interoperabiliteit: Strikte naleving van de Europese interoperabiliteits-architectuur voorkomt technische omwegen.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Afbeelding 1" descr="File:GraphQL Logo.svg - Wikimedia Commons">
            <a:extLst>
              <a:ext uri="{FF2B5EF4-FFF2-40B4-BE49-F238E27FC236}">
                <a16:creationId xmlns:a16="http://schemas.microsoft.com/office/drawing/2014/main" id="{EC128A0C-09BF-92A2-F51E-DA4E43364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4" y="249285"/>
            <a:ext cx="2990960" cy="2990960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Dag 2: De GraphQL Ochtend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Mythes ontmaskerd, integratie met LLM's en AI-powered mock-omgevingen.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550370"/>
            <a:ext cx="5267325" cy="30143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TextBox 198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GraphQL vs REST Mythes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Jens Neuse (WunderGraph) ontmaskert dogma's: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De caching-mythe: GraphQL is volwassen geworden. De bewering "GraphQL breekt caching" klopt niet meer.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Gelaagde aanpak: Caching vereist een gecoördineerde stack (Client, CDN, Gateway en Applicatie-niveau).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Abstraction Layer: GraphQL blinkt uit als één simplistische interface voor AI-modellen en agents, i.p.v. honderden REST-endpoints.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TextBox 213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Mensen of Engines beheren?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De transitie in moderne API Governance: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De chaos: Traditionele governance probeert complexe interacties tussen mensen / teams en API’s handmatig te reguleren.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De oplossing: Verschuif de focus naar het inrichten en beheren van platform-engines (de gateways).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Automatische controle: Regels centraal in de 'engine' afdwingen ontlast ontwikkelaars en behoudt grip.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445128" y="1257300"/>
            <a:ext cx="5064369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TextBox 228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Mocking m.b.v. AI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Annotaties sturen de router aan: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De @mock annotatie: Backend-teams annoteren velden die nog niet zijn geïmplementeerd direct in het schema.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AI-gegenereerd: De router interpreteert de annotatie en genereert realistische, domein-specifieke mockdata.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Voorbeeld: `@mock(source: "llm" hint: "Amsterdam hotel")` levert direct betekenisvolle UI-vulling 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TextBox 242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Platform Engineering 2026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DAFFDE"/>
                </a:solidFill>
              </a:rPr>
              <a:t>Alice Roquette (TomTom)</a:t>
            </a:r>
          </a:p>
          <a:p>
            <a:endParaRPr sz="1600" b="1" dirty="0">
              <a:solidFill>
                <a:srgbClr val="DAFFDE"/>
              </a:solidFill>
            </a:endParaRPr>
          </a:p>
          <a:p>
            <a:r>
              <a:rPr sz="1600" b="1" dirty="0">
                <a:solidFill>
                  <a:srgbClr val="DAFFDE"/>
                </a:solidFill>
              </a:rPr>
              <a:t>→ </a:t>
            </a:r>
            <a:r>
              <a:rPr sz="1600" b="1" dirty="0" err="1">
                <a:solidFill>
                  <a:srgbClr val="DAFFDE"/>
                </a:solidFill>
              </a:rPr>
              <a:t>Uitgebreide</a:t>
            </a:r>
            <a:r>
              <a:rPr sz="1600" b="1" dirty="0">
                <a:solidFill>
                  <a:srgbClr val="DAFFDE"/>
                </a:solidFill>
              </a:rPr>
              <a:t> </a:t>
            </a:r>
            <a:r>
              <a:rPr sz="1600" b="1" dirty="0" err="1">
                <a:solidFill>
                  <a:srgbClr val="DAFFDE"/>
                </a:solidFill>
              </a:rPr>
              <a:t>discussie</a:t>
            </a:r>
            <a:r>
              <a:rPr sz="1600" b="1" dirty="0">
                <a:solidFill>
                  <a:srgbClr val="DAFFDE"/>
                </a:solidFill>
              </a:rPr>
              <a:t> over API-governance, gateways </a:t>
            </a:r>
            <a:r>
              <a:rPr sz="1600" b="1" dirty="0" err="1">
                <a:solidFill>
                  <a:srgbClr val="DAFFDE"/>
                </a:solidFill>
              </a:rPr>
              <a:t>en</a:t>
            </a:r>
            <a:r>
              <a:rPr sz="1600" b="1" dirty="0">
                <a:solidFill>
                  <a:srgbClr val="DAFFDE"/>
                </a:solidFill>
              </a:rPr>
              <a:t> </a:t>
            </a:r>
            <a:r>
              <a:rPr sz="1600" b="1" dirty="0" err="1">
                <a:solidFill>
                  <a:srgbClr val="DAFFDE"/>
                </a:solidFill>
              </a:rPr>
              <a:t>complexe</a:t>
            </a:r>
            <a:r>
              <a:rPr sz="1600" b="1" dirty="0">
                <a:solidFill>
                  <a:srgbClr val="DAFFDE"/>
                </a:solidFill>
              </a:rPr>
              <a:t> re-engineering </a:t>
            </a:r>
            <a:r>
              <a:rPr sz="1600" b="1" dirty="0" err="1">
                <a:solidFill>
                  <a:srgbClr val="DAFFDE"/>
                </a:solidFill>
              </a:rPr>
              <a:t>binnen</a:t>
            </a:r>
            <a:r>
              <a:rPr sz="1600" b="1" dirty="0">
                <a:solidFill>
                  <a:srgbClr val="DAFFDE"/>
                </a:solidFill>
              </a:rPr>
              <a:t> </a:t>
            </a:r>
            <a:r>
              <a:rPr sz="1600" b="1" dirty="0" err="1">
                <a:solidFill>
                  <a:srgbClr val="DAFFDE"/>
                </a:solidFill>
              </a:rPr>
              <a:t>een</a:t>
            </a:r>
            <a:r>
              <a:rPr sz="1600" b="1" dirty="0">
                <a:solidFill>
                  <a:srgbClr val="DAFFDE"/>
                </a:solidFill>
              </a:rPr>
              <a:t> platform-</a:t>
            </a:r>
            <a:r>
              <a:rPr sz="1600" b="1" dirty="0" err="1">
                <a:solidFill>
                  <a:srgbClr val="DAFFDE"/>
                </a:solidFill>
              </a:rPr>
              <a:t>omgeving</a:t>
            </a:r>
            <a:r>
              <a:rPr sz="1600" b="1" dirty="0">
                <a:solidFill>
                  <a:srgbClr val="DAFFDE"/>
                </a:solidFill>
              </a:rPr>
              <a:t>.</a:t>
            </a:r>
          </a:p>
          <a:p>
            <a:endParaRPr sz="1600" b="1" dirty="0">
              <a:solidFill>
                <a:srgbClr val="DAFFDE"/>
              </a:solidFill>
            </a:endParaRPr>
          </a:p>
          <a:p>
            <a:r>
              <a:rPr sz="1600" b="1" dirty="0">
                <a:solidFill>
                  <a:srgbClr val="DAFFDE"/>
                </a:solidFill>
              </a:rPr>
              <a:t>→ Platform engineering is de </a:t>
            </a:r>
            <a:r>
              <a:rPr sz="1600" b="1" dirty="0" err="1">
                <a:solidFill>
                  <a:srgbClr val="DAFFDE"/>
                </a:solidFill>
              </a:rPr>
              <a:t>lijm</a:t>
            </a:r>
            <a:r>
              <a:rPr sz="1600" b="1" dirty="0">
                <a:solidFill>
                  <a:srgbClr val="DAFFDE"/>
                </a:solidFill>
              </a:rPr>
              <a:t> </a:t>
            </a:r>
            <a:r>
              <a:rPr sz="1600" b="1" dirty="0" err="1">
                <a:solidFill>
                  <a:srgbClr val="DAFFDE"/>
                </a:solidFill>
              </a:rPr>
              <a:t>tussen</a:t>
            </a:r>
            <a:r>
              <a:rPr sz="1600" b="1" dirty="0">
                <a:solidFill>
                  <a:srgbClr val="DAFFDE"/>
                </a:solidFill>
              </a:rPr>
              <a:t> de </a:t>
            </a:r>
            <a:r>
              <a:rPr sz="1600" b="1" dirty="0" err="1">
                <a:solidFill>
                  <a:srgbClr val="DAFFDE"/>
                </a:solidFill>
              </a:rPr>
              <a:t>technische</a:t>
            </a:r>
            <a:r>
              <a:rPr sz="1600" b="1" dirty="0">
                <a:solidFill>
                  <a:srgbClr val="DAFFDE"/>
                </a:solidFill>
              </a:rPr>
              <a:t> </a:t>
            </a:r>
            <a:r>
              <a:rPr sz="1600" b="1" dirty="0" err="1">
                <a:solidFill>
                  <a:srgbClr val="DAFFDE"/>
                </a:solidFill>
              </a:rPr>
              <a:t>architectuur</a:t>
            </a:r>
            <a:r>
              <a:rPr sz="1600" b="1" dirty="0">
                <a:solidFill>
                  <a:srgbClr val="DAFFDE"/>
                </a:solidFill>
              </a:rPr>
              <a:t> </a:t>
            </a:r>
            <a:r>
              <a:rPr sz="1600" b="1" dirty="0" err="1">
                <a:solidFill>
                  <a:srgbClr val="DAFFDE"/>
                </a:solidFill>
              </a:rPr>
              <a:t>en</a:t>
            </a:r>
            <a:r>
              <a:rPr sz="1600" b="1" dirty="0">
                <a:solidFill>
                  <a:srgbClr val="DAFFDE"/>
                </a:solidFill>
              </a:rPr>
              <a:t> de </a:t>
            </a:r>
            <a:r>
              <a:rPr sz="1600" b="1" dirty="0" err="1">
                <a:solidFill>
                  <a:srgbClr val="DAFFDE"/>
                </a:solidFill>
              </a:rPr>
              <a:t>uiteindelijke</a:t>
            </a:r>
            <a:r>
              <a:rPr sz="1600" b="1" dirty="0">
                <a:solidFill>
                  <a:srgbClr val="DAFFDE"/>
                </a:solidFill>
              </a:rPr>
              <a:t> developer experience.</a:t>
            </a:r>
          </a:p>
          <a:p>
            <a:endParaRPr sz="1600" b="1" dirty="0">
              <a:solidFill>
                <a:srgbClr val="DAFFDE"/>
              </a:solidFill>
            </a:endParaRPr>
          </a:p>
          <a:p>
            <a:r>
              <a:rPr sz="1600" b="1" dirty="0">
                <a:solidFill>
                  <a:srgbClr val="DAFFDE"/>
                </a:solidFill>
              </a:rPr>
              <a:t>→ De DevOps AI Chatroom</a:t>
            </a:r>
          </a:p>
          <a:p>
            <a:endParaRPr sz="1600" b="1" dirty="0">
              <a:solidFill>
                <a:srgbClr val="DAFFDE"/>
              </a:solidFill>
            </a:endParaRPr>
          </a:p>
          <a:p>
            <a:r>
              <a:rPr sz="1600" b="1" dirty="0">
                <a:solidFill>
                  <a:srgbClr val="DAFFDE"/>
                </a:solidFill>
              </a:rPr>
              <a:t>→ Een </a:t>
            </a:r>
            <a:r>
              <a:rPr sz="1600" b="1" dirty="0" err="1">
                <a:solidFill>
                  <a:srgbClr val="DAFFDE"/>
                </a:solidFill>
              </a:rPr>
              <a:t>bijzonder</a:t>
            </a:r>
            <a:r>
              <a:rPr sz="1600" b="1" dirty="0">
                <a:solidFill>
                  <a:srgbClr val="DAFFDE"/>
                </a:solidFill>
              </a:rPr>
              <a:t> </a:t>
            </a:r>
            <a:r>
              <a:rPr sz="1600" b="1" dirty="0" err="1">
                <a:solidFill>
                  <a:srgbClr val="DAFFDE"/>
                </a:solidFill>
              </a:rPr>
              <a:t>initiatief</a:t>
            </a:r>
            <a:r>
              <a:rPr sz="1600" b="1" dirty="0">
                <a:solidFill>
                  <a:srgbClr val="DAFFDE"/>
                </a:solidFill>
              </a:rPr>
              <a:t> van </a:t>
            </a:r>
            <a:r>
              <a:rPr sz="1600" b="1" dirty="0" err="1">
                <a:solidFill>
                  <a:srgbClr val="DAFFDE"/>
                </a:solidFill>
              </a:rPr>
              <a:t>jonge</a:t>
            </a:r>
            <a:r>
              <a:rPr sz="1600" b="1" dirty="0">
                <a:solidFill>
                  <a:srgbClr val="DAFFDE"/>
                </a:solidFill>
              </a:rPr>
              <a:t> engineers: </a:t>
            </a:r>
            <a:r>
              <a:rPr sz="1600" b="1" dirty="0" err="1">
                <a:solidFill>
                  <a:srgbClr val="DAFFDE"/>
                </a:solidFill>
              </a:rPr>
              <a:t>een</a:t>
            </a:r>
            <a:r>
              <a:rPr sz="1600" b="1" dirty="0">
                <a:solidFill>
                  <a:srgbClr val="DAFFDE"/>
                </a:solidFill>
              </a:rPr>
              <a:t> discord-chatroom </a:t>
            </a:r>
            <a:r>
              <a:rPr sz="1600" b="1" dirty="0" err="1">
                <a:solidFill>
                  <a:srgbClr val="DAFFDE"/>
                </a:solidFill>
              </a:rPr>
              <a:t>waar</a:t>
            </a:r>
            <a:r>
              <a:rPr sz="1600" b="1" dirty="0">
                <a:solidFill>
                  <a:srgbClr val="DAFFDE"/>
                </a:solidFill>
              </a:rPr>
              <a:t> teams </a:t>
            </a:r>
            <a:r>
              <a:rPr sz="1600" b="1" dirty="0" err="1">
                <a:solidFill>
                  <a:srgbClr val="DAFFDE"/>
                </a:solidFill>
              </a:rPr>
              <a:t>samen</a:t>
            </a:r>
            <a:r>
              <a:rPr sz="1600" b="1" dirty="0">
                <a:solidFill>
                  <a:srgbClr val="DAFFDE"/>
                </a:solidFill>
              </a:rPr>
              <a:t> AI-prompts </a:t>
            </a:r>
            <a:r>
              <a:rPr sz="1600" b="1" dirty="0" err="1">
                <a:solidFill>
                  <a:srgbClr val="DAFFDE"/>
                </a:solidFill>
              </a:rPr>
              <a:t>sturen</a:t>
            </a:r>
            <a:r>
              <a:rPr sz="1600" b="1" dirty="0">
                <a:solidFill>
                  <a:srgbClr val="DAFFDE"/>
                </a:solidFill>
              </a:rPr>
              <a:t> </a:t>
            </a:r>
            <a:r>
              <a:rPr sz="1600" b="1" dirty="0" err="1">
                <a:solidFill>
                  <a:srgbClr val="DAFFDE"/>
                </a:solidFill>
              </a:rPr>
              <a:t>en</a:t>
            </a:r>
            <a:r>
              <a:rPr sz="1600" b="1" dirty="0">
                <a:solidFill>
                  <a:srgbClr val="DAFFDE"/>
                </a:solidFill>
              </a:rPr>
              <a:t> de complete prompt-</a:t>
            </a:r>
            <a:r>
              <a:rPr sz="1600" b="1" dirty="0" err="1">
                <a:solidFill>
                  <a:srgbClr val="DAFFDE"/>
                </a:solidFill>
              </a:rPr>
              <a:t>historie</a:t>
            </a:r>
            <a:r>
              <a:rPr sz="1600" b="1" dirty="0">
                <a:solidFill>
                  <a:srgbClr val="DAFFDE"/>
                </a:solidFill>
              </a:rPr>
              <a:t> </a:t>
            </a:r>
            <a:r>
              <a:rPr sz="1600" b="1" dirty="0" err="1">
                <a:solidFill>
                  <a:srgbClr val="DAFFDE"/>
                </a:solidFill>
              </a:rPr>
              <a:t>opslaan</a:t>
            </a:r>
            <a:r>
              <a:rPr sz="1600" b="1" dirty="0">
                <a:solidFill>
                  <a:srgbClr val="DAFFDE"/>
                </a:solidFill>
              </a:rPr>
              <a:t>.</a:t>
            </a:r>
          </a:p>
          <a:p>
            <a:endParaRPr sz="1600" b="1" dirty="0">
              <a:solidFill>
                <a:srgbClr val="DAFFDE"/>
              </a:solidFill>
            </a:endParaRPr>
          </a:p>
          <a:p>
            <a:r>
              <a:rPr sz="1600" b="1" dirty="0">
                <a:solidFill>
                  <a:srgbClr val="DAFFDE"/>
                </a:solidFill>
              </a:rPr>
              <a:t>→ </a:t>
            </a:r>
            <a:r>
              <a:rPr sz="1600" b="1" dirty="0" err="1">
                <a:solidFill>
                  <a:srgbClr val="DAFFDE"/>
                </a:solidFill>
              </a:rPr>
              <a:t>Waarom</a:t>
            </a:r>
            <a:r>
              <a:rPr sz="1600" b="1" dirty="0">
                <a:solidFill>
                  <a:srgbClr val="DAFFDE"/>
                </a:solidFill>
              </a:rPr>
              <a:t>: Dit </a:t>
            </a:r>
            <a:r>
              <a:rPr sz="1600" b="1" dirty="0" err="1">
                <a:solidFill>
                  <a:srgbClr val="DAFFDE"/>
                </a:solidFill>
              </a:rPr>
              <a:t>herontdekt</a:t>
            </a:r>
            <a:r>
              <a:rPr sz="1600" b="1" dirty="0">
                <a:solidFill>
                  <a:srgbClr val="DAFFDE"/>
                </a:solidFill>
              </a:rPr>
              <a:t> de "</a:t>
            </a:r>
            <a:r>
              <a:rPr sz="1600" b="1" dirty="0" err="1">
                <a:solidFill>
                  <a:srgbClr val="DAFFDE"/>
                </a:solidFill>
              </a:rPr>
              <a:t>waarom</a:t>
            </a:r>
            <a:r>
              <a:rPr sz="1600" b="1" dirty="0">
                <a:solidFill>
                  <a:srgbClr val="DAFFDE"/>
                </a:solidFill>
              </a:rPr>
              <a:t>" achter het </a:t>
            </a:r>
            <a:r>
              <a:rPr sz="1600" b="1" dirty="0" err="1">
                <a:solidFill>
                  <a:srgbClr val="DAFFDE"/>
                </a:solidFill>
              </a:rPr>
              <a:t>ontwerp</a:t>
            </a:r>
            <a:r>
              <a:rPr sz="1600" b="1" dirty="0">
                <a:solidFill>
                  <a:srgbClr val="DAFFDE"/>
                </a:solidFill>
              </a:rPr>
              <a:t> van </a:t>
            </a:r>
            <a:r>
              <a:rPr sz="1600" b="1" dirty="0" err="1">
                <a:solidFill>
                  <a:srgbClr val="DAFFDE"/>
                </a:solidFill>
              </a:rPr>
              <a:t>systemen</a:t>
            </a:r>
            <a:r>
              <a:rPr sz="1600" b="1" dirty="0">
                <a:solidFill>
                  <a:srgbClr val="DAFFDE"/>
                </a:solidFill>
              </a:rPr>
              <a:t>. De </a:t>
            </a:r>
            <a:r>
              <a:rPr sz="1600" b="1" dirty="0" err="1">
                <a:solidFill>
                  <a:srgbClr val="DAFFDE"/>
                </a:solidFill>
              </a:rPr>
              <a:t>herontdekking</a:t>
            </a:r>
            <a:r>
              <a:rPr sz="1600" b="1" dirty="0">
                <a:solidFill>
                  <a:srgbClr val="DAFFDE"/>
                </a:solidFill>
              </a:rPr>
              <a:t> van specs, maar dan </a:t>
            </a:r>
            <a:r>
              <a:rPr sz="1600" b="1" dirty="0" err="1">
                <a:solidFill>
                  <a:srgbClr val="DAFFDE"/>
                </a:solidFill>
              </a:rPr>
              <a:t>organisch</a:t>
            </a:r>
            <a:r>
              <a:rPr sz="1600" b="1" dirty="0">
                <a:solidFill>
                  <a:srgbClr val="DAFFDE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703413"/>
            <a:ext cx="6096000" cy="345117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TextBox 263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AsyncAPI Event-Sturing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Lukasz Gornicki (AsyncAPI Maintainer):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De Omhulling telt: Lukasz benadrukte dat het payload-schema zelf secundair is; AsyncAPI definieert de interactie en kanalen (Kafka, MQTT).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Consistentie voor Events: Brengt dezelfde structuur en developer experience naar event-driven systemen als OpenAPI deed voor REST.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Tooling Ecosysteem: Snelle groei in open-source code-generatoren en validatie-pipelines.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326964"/>
            <a:ext cx="5267325" cy="346112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TextBox 271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Ask AsyncAPI AI Interface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Interactieve AI assistent voor AsyncAPI: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Laagdrempelig: Beantwoordt vragen over de specificatie, concepten en protocollen direct vanuit de officiële documentatie.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Echte passie: "AsyncAPI is built by people with passion, not large corporate funding."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Follow-up: Tevens kort met het GraphQL team gesproken en een vervolgafspraak ingepland om ervaringen uit te wisselen!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askasyncapi.brainfart.dev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TextBox 283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De Toekomst van Software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De menselijke maat is essentieel bij het gebruik van AI. Blijf zelf specificeren en ontwerpen. Bedenk zelf wat je wilt bouwen — anders wordt alles uiteindelijk een identieke gemeenplaats. Blijf nadenken: dat is wat wij mensen nog steeds als de beste kunnen.</a:t>
            </a:r>
          </a:p>
          <a:p>
            <a:r>
              <a:rPr sz="1600" b="1">
                <a:solidFill>
                  <a:srgbClr val="DAFFDE"/>
                </a:solidFill>
              </a:rPr>
              <a:t>"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— Paneldiscussie met Mark Boyd, Erik Wilde, Kristen Womack &amp; Alice Roquette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TextBox 293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Vragen &amp; Discussie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Hoe vertalen we deze lessen over menselijke regie, AI-mocking en platform-governance naar onze eigen visie?</a:t>
            </a:r>
          </a:p>
          <a:p>
            <a:endParaRPr sz="1600" b="1">
              <a:solidFill>
                <a:srgbClr val="DAFFDE"/>
              </a:solidFill>
            </a:endParaRPr>
          </a:p>
          <a:p>
            <a:r>
              <a:rPr sz="1600" b="1">
                <a:solidFill>
                  <a:srgbClr val="DAFFDE"/>
                </a:solidFill>
              </a:rPr>
              <a:t>→ Dank voor jullie aandacht en bijdrage!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1021</Words>
  <Application>Microsoft Office PowerPoint</Application>
  <PresentationFormat>Breedbeeld</PresentationFormat>
  <Paragraphs>124</Paragraphs>
  <Slides>17</Slides>
  <Notes>17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Urbanist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Mark Westbroek</cp:lastModifiedBy>
  <cp:revision>5</cp:revision>
  <dcterms:modified xsi:type="dcterms:W3CDTF">2026-06-15T22:03:10Z</dcterms:modified>
</cp:coreProperties>
</file>