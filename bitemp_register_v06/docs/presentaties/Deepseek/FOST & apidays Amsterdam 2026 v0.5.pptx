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Urbanist" panose="020B0604020202020204" charset="0"/>
      <p:regular r:id="rId20"/>
      <p:bold r:id="rId21"/>
      <p:italic r:id="rId22"/>
      <p:boldItalic r:id="rId23"/>
    </p:embeddedFont>
    <p:embeddedFont>
      <p:font typeface="Urbanist Medium" panose="020B0604020202020204" charset="0"/>
      <p:regular r:id="rId24"/>
      <p:bold r:id="rId25"/>
      <p:italic r:id="rId26"/>
      <p:boldItalic r:id="rId27"/>
    </p:embeddedFont>
    <p:embeddedFont>
      <p:font typeface="Urbanist SemiBold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AFDA"/>
    <a:srgbClr val="DEFF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Relationship Id="rId26" Type="http://schemas.openxmlformats.org/officeDocument/2006/relationships/font" Target="fonts/font7.fntdata"/><Relationship Id="rId27" Type="http://schemas.openxmlformats.org/officeDocument/2006/relationships/font" Target="fonts/font8.fntdata"/><Relationship Id="rId28" Type="http://schemas.openxmlformats.org/officeDocument/2006/relationships/font" Target="fonts/font9.fntdata"/><Relationship Id="rId29" Type="http://schemas.openxmlformats.org/officeDocument/2006/relationships/font" Target="fonts/font10.fntdata"/><Relationship Id="rId30" Type="http://schemas.openxmlformats.org/officeDocument/2006/relationships/font" Target="fonts/font11.fntdata"/><Relationship Id="rId31" Type="http://schemas.openxmlformats.org/officeDocument/2006/relationships/font" Target="fonts/font12.fntdata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2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3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5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160383" y="2456110"/>
            <a:ext cx="9871233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FOST &amp; </a:t>
            </a:r>
            <a:r>
              <a:rPr lang="en-US" sz="480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apidays</a:t>
            </a:r>
            <a:r>
              <a:rPr lang="en-US" sz="48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48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2026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1395412" y="3269456"/>
            <a:ext cx="9401175" cy="33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Persoonlijke Terugblik, Workshops &amp; Core Takeaways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395412" y="3981896"/>
            <a:ext cx="9401175" cy="248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9 - 10 juni 2026 • Amsterdam, Nederland</a:t>
            </a:r>
            <a:endParaRPr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76167781-CBD4-A12F-78EA-7C72BA73E9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17" y="835286"/>
            <a:ext cx="2371429" cy="1038095"/>
          </a:xfrm>
          <a:prstGeom prst="rect">
            <a:avLst/>
          </a:prstGeom>
        </p:spPr>
      </p:pic>
      <p:sp>
        <p:nvSpPr>
          <p:cNvPr id="4" name="Tekstballon: rechthoek met afgeronde hoeken 3">
            <a:extLst>
              <a:ext uri="{FF2B5EF4-FFF2-40B4-BE49-F238E27FC236}">
                <a16:creationId xmlns:a16="http://schemas.microsoft.com/office/drawing/2014/main" id="{54B4BE11-0A9F-CF7A-DD90-A89C3C392282}"/>
              </a:ext>
            </a:extLst>
          </p:cNvPr>
          <p:cNvSpPr/>
          <p:nvPr/>
        </p:nvSpPr>
        <p:spPr>
          <a:xfrm>
            <a:off x="539496" y="3846389"/>
            <a:ext cx="2569464" cy="1038095"/>
          </a:xfrm>
          <a:prstGeom prst="wedgeRoundRectCallout">
            <a:avLst>
              <a:gd name="adj1" fmla="val 47789"/>
              <a:gd name="adj2" fmla="val -121821"/>
              <a:gd name="adj3" fmla="val 16667"/>
            </a:avLst>
          </a:prstGeom>
          <a:solidFill>
            <a:srgbClr val="DEFF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2000" b="1" dirty="0">
                <a:solidFill>
                  <a:schemeClr val="tx1"/>
                </a:solidFill>
                <a:latin typeface="Aptos" panose="020B0004020202020204" pitchFamily="34" charset="0"/>
              </a:rPr>
              <a:t>Future Of Software Technologies </a:t>
            </a:r>
            <a:endParaRPr lang="en-NL" sz="20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9F5FD397-EF49-76E5-C6B0-447F80E847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788" y="641894"/>
            <a:ext cx="2715460" cy="1241743"/>
          </a:xfrm>
          <a:prstGeom prst="rect">
            <a:avLst/>
          </a:prstGeom>
        </p:spPr>
      </p:pic>
      <p:pic>
        <p:nvPicPr>
          <p:cNvPr id="8" name="Afbeelding 7" descr="What exactly is GraphQL? - everyday.codes">
            <a:extLst>
              <a:ext uri="{FF2B5EF4-FFF2-40B4-BE49-F238E27FC236}">
                <a16:creationId xmlns:a16="http://schemas.microsoft.com/office/drawing/2014/main" id="{AAF014E2-2E5E-E135-CEE4-7EF44EA03D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4090" y="588724"/>
            <a:ext cx="2831211" cy="14863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524500" y="2797522"/>
            <a:ext cx="1143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865471" y="3121372"/>
            <a:ext cx="8461057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Dag 1: </a:t>
            </a:r>
            <a:r>
              <a:rPr lang="en-US" sz="42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Architectuur &amp; Governance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286000" y="3759547"/>
            <a:ext cx="7620000" cy="710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Van ad-hoc API-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ontwerp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naar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geintegreerde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API-platforms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o.b.v.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nationale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wereldwijde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standaarden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Europese</a:t>
            </a:r>
            <a:r>
              <a:rPr lang="en-US" sz="285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85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Soevereiniteit</a:t>
            </a:r>
            <a:endParaRPr dirty="0"/>
          </a:p>
        </p:txBody>
      </p:sp>
      <p:sp>
        <p:nvSpPr>
          <p:cNvPr id="102" name="Google Shape;102;p15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Jean-Baptiste Kempf (VLC):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en-US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Propriëtaire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kosten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Europa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spendeert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momenteel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miljarden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aan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Amerikaanse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licenties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closed-source software</a:t>
            </a:r>
          </a:p>
          <a:p>
            <a:pPr lvl="0">
              <a:lnSpc>
                <a:spcPct val="144941"/>
              </a:lnSpc>
            </a:pPr>
            <a:endParaRPr lang="en-US" b="1" dirty="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nl-NL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Investering in Open Source:</a:t>
            </a:r>
            <a:r>
              <a:rPr lang="nl-NL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Besteed dit budget direct aan open source om onszelf digitaal en strategisch te versterken.</a:t>
            </a:r>
            <a:endParaRPr lang="nl-NL" dirty="0"/>
          </a:p>
          <a:p>
            <a:pPr lvl="0">
              <a:lnSpc>
                <a:spcPct val="144941"/>
              </a:lnSpc>
            </a:pPr>
            <a:endParaRPr lang="en-GB" dirty="0"/>
          </a:p>
          <a:p>
            <a:pPr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nl-NL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Geen afhankelijkheid:</a:t>
            </a:r>
            <a:r>
              <a:rPr lang="nl-NL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Een structurele verschuiving elimineert </a:t>
            </a:r>
            <a:r>
              <a:rPr lang="nl-NL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vendor</a:t>
            </a:r>
            <a:r>
              <a:rPr lang="nl-NL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nl-NL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lock</a:t>
            </a:r>
            <a:r>
              <a:rPr lang="nl-NL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-ins en bouwt autonome, Europese capaciteit.</a:t>
            </a:r>
            <a:endParaRPr lang="nl-NL" dirty="0"/>
          </a:p>
        </p:txBody>
      </p:sp>
      <p:pic>
        <p:nvPicPr>
          <p:cNvPr id="109" name="Google Shape;109;p15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5934075" y="935980"/>
            <a:ext cx="6096000" cy="4919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/>
          <p:cNvPicPr preferRelativeResize="0"/>
          <p:nvPr/>
        </p:nvPicPr>
        <p:blipFill>
          <a:blip r:embed="rId4">
            <a:alphaModFix/>
          </a:blip>
          <a:srcRect/>
          <a:stretch/>
        </p:blipFill>
        <p:spPr>
          <a:xfrm>
            <a:off x="6343650" y="1534939"/>
            <a:ext cx="5267325" cy="304517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571500" y="1247775"/>
            <a:ext cx="5380862" cy="3079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4941"/>
              </a:lnSpc>
            </a:pPr>
            <a:r>
              <a:rPr lang="nl-NL" sz="1600" b="1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Gedragsverandering zonder weerstand (Kin Lane):</a:t>
            </a:r>
            <a:endParaRPr lang="nl-NL" sz="1600" dirty="0"/>
          </a:p>
          <a:p>
            <a:pPr lvl="0">
              <a:lnSpc>
                <a:spcPct val="144941"/>
              </a:lnSpc>
            </a:pPr>
            <a:endParaRPr lang="en-US" sz="1200" b="1" dirty="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en-US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Respecteer</a:t>
            </a:r>
            <a:r>
              <a:rPr lang="en-US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gewoontes</a:t>
            </a:r>
            <a:r>
              <a:rPr lang="en-US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Ontwikkelaars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veranderen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hun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workflow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niet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zomaar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 Pas governance toe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waar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ze al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werken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</a:p>
          <a:p>
            <a:pPr lvl="0">
              <a:lnSpc>
                <a:spcPct val="144941"/>
              </a:lnSpc>
            </a:pPr>
            <a:endParaRPr lang="en-US" sz="1200" b="0" i="0" u="none" strike="noStrike" cap="none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Stap 1 - Discover: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Breng in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kaart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wat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daadwerkelijk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draait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 Bouw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een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index, model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actuele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landkaart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van je API’s</a:t>
            </a:r>
          </a:p>
          <a:p>
            <a:pPr lvl="0">
              <a:lnSpc>
                <a:spcPct val="144941"/>
              </a:lnSpc>
            </a:pPr>
            <a:endParaRPr lang="en-US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 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Nederlandse </a:t>
            </a:r>
            <a:r>
              <a:rPr lang="en-US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complimenten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Kin (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voormalig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Obama-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adviseur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prees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Nederlandse API-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strategie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expliciet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!.</a:t>
            </a:r>
            <a:endParaRPr lang="en-US" dirty="0"/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Governance gaat over </a:t>
            </a:r>
            <a:r>
              <a:rPr lang="en-US" sz="28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Mensen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pic>
        <p:nvPicPr>
          <p:cNvPr id="129" name="Google Shape;12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6366221" y="1257300"/>
            <a:ext cx="5222182" cy="3600450"/>
          </a:xfrm>
          <a:prstGeom prst="rect">
            <a:avLst/>
          </a:prstGeom>
          <a:noFill/>
          <a:ln>
            <a:noFill/>
          </a:ln>
        </p:spPr>
      </p:pic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Box 132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5F5"/>
                </a:solidFill>
              </a:rPr>
              <a:t>De Transformatielaag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AFFDE"/>
                </a:solidFill>
              </a:rPr>
              <a:t>Noodzaak voor een gateway/tussenlaag (KrakenD):</a:t>
            </a:r>
          </a:p>
          <a:p>
            <a:r>
              <a:rPr sz="1600" b="1">
                <a:solidFill>
                  <a:srgbClr val="DAFFDE"/>
                </a:solidFill>
              </a:rPr>
              <a:t/>
            </a:r>
          </a:p>
          <a:p>
            <a:r>
              <a:rPr sz="1600" b="1">
                <a:solidFill>
                  <a:srgbClr val="DAFFDE"/>
                </a:solidFill>
              </a:rPr>
              <a:t>→ Ontkoppeling: Transformeer payloads, pas rate-limiting toe en valideer autorisatie direct in de gateway-laag.</a:t>
            </a:r>
          </a:p>
          <a:p>
            <a:r>
              <a:rPr sz="1600" b="1">
                <a:solidFill>
                  <a:srgbClr val="DAFFDE"/>
                </a:solidFill>
              </a:rPr>
              <a:t/>
            </a:r>
          </a:p>
          <a:p>
            <a:r>
              <a:rPr sz="1600" b="1">
                <a:solidFill>
                  <a:srgbClr val="DAFFDE"/>
                </a:solidFill>
              </a:rPr>
              <a:t>→ KrakenD Open Source: Een krachtige engine om calls on-the-fly en direct in de gateway te manipuleren.</a:t>
            </a:r>
          </a:p>
          <a:p>
            <a:r>
              <a:rPr sz="1600" b="1">
                <a:solidFill>
                  <a:srgbClr val="DAFFDE"/>
                </a:solidFill>
              </a:rPr>
              <a:t/>
            </a:r>
          </a:p>
          <a:p>
            <a:r>
              <a:rPr sz="1600" b="1">
                <a:solidFill>
                  <a:srgbClr val="DAFFDE"/>
                </a:solidFill>
              </a:rPr>
              <a:t>→ Multi-Backend Aggregation: Voeg meerdere losse endpoints samen tot één beheersbaar en consistent interface.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pic>
        <p:nvPicPr>
          <p:cNvPr id="144" name="Google Shape;14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 146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5F5"/>
                </a:solidFill>
              </a:rPr>
              <a:t>Het Nationaal Schema Register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AFFDE"/>
                </a:solidFill>
              </a:rPr>
              <a:t>Het Goede Initiatief</a:t>
            </a:r>
          </a:p>
          <a:p>
            <a:r>
              <a:rPr sz="1600" b="1">
                <a:solidFill>
                  <a:srgbClr val="DAFFDE"/>
                </a:solidFill>
              </a:rPr>
              <a:t/>
            </a:r>
          </a:p>
          <a:p>
            <a:r>
              <a:rPr sz="1600" b="1">
                <a:solidFill>
                  <a:srgbClr val="DAFFDE"/>
                </a:solidFill>
              </a:rPr>
              <a:t>→ Dimitri van Hees (Geonovum) presenteerde een register om OpenAPI- en JSON-schema's centraal te ontsluiten voor de overheid.</a:t>
            </a:r>
          </a:p>
          <a:p>
            <a:r>
              <a:rPr sz="1600" b="1">
                <a:solidFill>
                  <a:srgbClr val="DAFFDE"/>
                </a:solidFill>
              </a:rPr>
              <a:t/>
            </a:r>
          </a:p>
          <a:p>
            <a:r>
              <a:rPr sz="1600" b="1">
                <a:solidFill>
                  <a:srgbClr val="DAFFDE"/>
                </a:solidFill>
              </a:rPr>
              <a:t>→ Dit stimuleert hergebruik en standaardisatie van dataspecificaties over overheidsgrenzen heen.</a:t>
            </a:r>
          </a:p>
          <a:p>
            <a:r>
              <a:rPr sz="1600" b="1">
                <a:solidFill>
                  <a:srgbClr val="DAFFDE"/>
                </a:solidFill>
              </a:rPr>
              <a:t/>
            </a:r>
          </a:p>
          <a:p>
            <a:r>
              <a:rPr sz="1600" b="1">
                <a:solidFill>
                  <a:srgbClr val="DAFFDE"/>
                </a:solidFill>
              </a:rPr>
              <a:t>→ Kritiek: De 'Grabbelton'</a:t>
            </a:r>
          </a:p>
          <a:p>
            <a:r>
              <a:rPr sz="1600" b="1">
                <a:solidFill>
                  <a:srgbClr val="DAFFDE"/>
                </a:solidFill>
              </a:rPr>
              <a:t/>
            </a:r>
          </a:p>
          <a:p>
            <a:r>
              <a:rPr sz="1600" b="1">
                <a:solidFill>
                  <a:srgbClr val="DAFFDE"/>
                </a:solidFill>
              </a:rPr>
              <a:t>→ Het register mist op dit moment nog een goede visuele representatie. Het voelt nu als een grote vergaarbak zonder heldere context.</a:t>
            </a:r>
          </a:p>
          <a:p>
            <a:r>
              <a:rPr sz="1600" b="1">
                <a:solidFill>
                  <a:srgbClr val="DAFFDE"/>
                </a:solidFill>
              </a:rPr>
              <a:t/>
            </a:r>
          </a:p>
          <a:p>
            <a:r>
              <a:rPr sz="1600" b="1">
                <a:solidFill>
                  <a:srgbClr val="DAFFDE"/>
                </a:solidFill>
              </a:rPr>
              <a:t>→ Een kans: Onze UML/objecttypen POC in React kan hier uitstekend bij helpen om semantisch begrip visueel te maken! Ik ga Dimitri benaderen.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pic>
        <p:nvPicPr>
          <p:cNvPr id="158" name="Google Shape;15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9"/>
          <p:cNvPicPr preferRelativeResize="0"/>
          <p:nvPr/>
        </p:nvPicPr>
        <p:blipFill>
          <a:blip r:embed="rId4">
            <a:alphaModFix/>
          </a:blip>
          <a:srcRect/>
          <a:stretch/>
        </p:blipFill>
        <p:spPr>
          <a:xfrm>
            <a:off x="6096000" y="1833562"/>
            <a:ext cx="6096000" cy="3190875"/>
          </a:xfrm>
          <a:prstGeom prst="rect">
            <a:avLst/>
          </a:prstGeom>
          <a:noFill/>
          <a:ln>
            <a:noFill/>
          </a:ln>
        </p:spPr>
      </p:pic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Box 167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5F5"/>
                </a:solidFill>
              </a:rPr>
              <a:t>API-Sturing in Italië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AFFDE"/>
                </a:solidFill>
              </a:rPr>
              <a:t>Roberto Polli over de Italiaanse aanpak:</a:t>
            </a:r>
          </a:p>
          <a:p>
            <a:r>
              <a:rPr sz="1600" b="1">
                <a:solidFill>
                  <a:srgbClr val="DAFFDE"/>
                </a:solidFill>
              </a:rPr>
              <a:t/>
            </a:r>
          </a:p>
          <a:p>
            <a:r>
              <a:rPr sz="1600" b="1">
                <a:solidFill>
                  <a:srgbClr val="DAFFDE"/>
                </a:solidFill>
              </a:rPr>
              <a:t>→ Federatieve uitdaging: Italië heeft te maken met 20 autonome regio's en meer dan 8000 gemeenten met elk eigen regels.</a:t>
            </a:r>
          </a:p>
          <a:p>
            <a:r>
              <a:rPr sz="1600" b="1">
                <a:solidFill>
                  <a:srgbClr val="DAFFDE"/>
                </a:solidFill>
              </a:rPr>
              <a:t/>
            </a:r>
          </a:p>
          <a:p>
            <a:r>
              <a:rPr sz="1600" b="1">
                <a:solidFill>
                  <a:srgbClr val="DAFFDE"/>
                </a:solidFill>
              </a:rPr>
              <a:t>→ Sterk Mandaat: Sinds 2016 heeft het Digital Transformation Team de regie strak in handen genomen vanaf de premier.</a:t>
            </a:r>
          </a:p>
          <a:p>
            <a:r>
              <a:rPr sz="1600" b="1">
                <a:solidFill>
                  <a:srgbClr val="DAFFDE"/>
                </a:solidFill>
              </a:rPr>
              <a:t/>
            </a:r>
          </a:p>
          <a:p>
            <a:r>
              <a:rPr sz="1600" b="1">
                <a:solidFill>
                  <a:srgbClr val="DAFFDE"/>
                </a:solidFill>
              </a:rPr>
              <a:t>→ REST-Transitie: Volledige overstap van SOAP naar open standaarden en internetprotocollen voor interoperabiliteit.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pic>
        <p:nvPicPr>
          <p:cNvPr id="172" name="Google Shape;17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6343650" y="1668680"/>
            <a:ext cx="5267325" cy="2777690"/>
          </a:xfrm>
          <a:prstGeom prst="rect">
            <a:avLst/>
          </a:prstGeom>
          <a:noFill/>
          <a:ln>
            <a:noFill/>
          </a:ln>
        </p:spPr>
      </p:pic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Box 175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5F5"/>
                </a:solidFill>
              </a:rPr>
              <a:t>Lessen uit Italië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AFFDE"/>
                </a:solidFill>
              </a:rPr>
              <a:t>Strategische successen en platforms:</a:t>
            </a:r>
          </a:p>
          <a:p>
            <a:r>
              <a:rPr sz="1600" b="1">
                <a:solidFill>
                  <a:srgbClr val="DAFFDE"/>
                </a:solidFill>
              </a:rPr>
              <a:t/>
            </a:r>
          </a:p>
          <a:p>
            <a:r>
              <a:rPr sz="1600" b="1">
                <a:solidFill>
                  <a:srgbClr val="DAFFDE"/>
                </a:solidFill>
              </a:rPr>
              <a:t>→ Nationale registers: Succesvolle integratie via de centrale API-catalogus (api.gov.it) en schema-register.</a:t>
            </a:r>
          </a:p>
          <a:p>
            <a:r>
              <a:rPr sz="1600" b="1">
                <a:solidFill>
                  <a:srgbClr val="DAFFDE"/>
                </a:solidFill>
              </a:rPr>
              <a:t/>
            </a:r>
          </a:p>
          <a:p>
            <a:r>
              <a:rPr sz="1600" b="1">
                <a:solidFill>
                  <a:srgbClr val="DAFFDE"/>
                </a:solidFill>
              </a:rPr>
              <a:t>→ Mensen &amp; wetten: Je hebt niet altijd harde wetgeving nodig... tenzij het niet anders kan. Zorg voor juridische expertise in je team.</a:t>
            </a:r>
          </a:p>
          <a:p>
            <a:r>
              <a:rPr sz="1600" b="1">
                <a:solidFill>
                  <a:srgbClr val="DAFFDE"/>
                </a:solidFill>
              </a:rPr>
              <a:t/>
            </a:r>
          </a:p>
          <a:p>
            <a:r>
              <a:rPr sz="1600" b="1">
                <a:solidFill>
                  <a:srgbClr val="DAFFDE"/>
                </a:solidFill>
              </a:rPr>
              <a:t>→ EIF Interoperabiliteit: Strikte naleving van de Europese interoperabiliteits-architectuur voorkomt technische omwegen.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pic>
        <p:nvPicPr>
          <p:cNvPr id="187" name="Google Shape;18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Afbeelding 1" descr="File:GraphQL Logo.svg - Wikimedia Commons">
            <a:extLst>
              <a:ext uri="{FF2B5EF4-FFF2-40B4-BE49-F238E27FC236}">
                <a16:creationId xmlns:a16="http://schemas.microsoft.com/office/drawing/2014/main" id="{EC128A0C-09BF-92A2-F51E-DA4E43364E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54" y="249285"/>
            <a:ext cx="2990960" cy="2990960"/>
          </a:xfrm>
          <a:prstGeom prst="rect">
            <a:avLst/>
          </a:prstGeom>
        </p:spPr>
      </p:pic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Box 187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5F5"/>
                </a:solidFill>
              </a:rPr>
              <a:t>Dag 2: De GraphQL Ochtend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AFFDE"/>
                </a:solidFill>
              </a:rPr>
              <a:t>Mythes ontmaskerd, integratie met LLM's en AI-powered mock-omgevingen.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pic>
        <p:nvPicPr>
          <p:cNvPr id="195" name="Google Shape;19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6343650" y="1550370"/>
            <a:ext cx="5267325" cy="3014309"/>
          </a:xfrm>
          <a:prstGeom prst="rect">
            <a:avLst/>
          </a:prstGeom>
          <a:noFill/>
          <a:ln>
            <a:noFill/>
          </a:ln>
        </p:spPr>
      </p:pic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Box 198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5F5"/>
                </a:solidFill>
              </a:rPr>
              <a:t>GraphQL vs REST Mythes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AFFDE"/>
                </a:solidFill>
              </a:rPr>
              <a:t>Jens Neuse (WunderGraph) ontmaskert dogma's:</a:t>
            </a:r>
          </a:p>
          <a:p>
            <a:r>
              <a:rPr sz="1600" b="1">
                <a:solidFill>
                  <a:srgbClr val="DAFFDE"/>
                </a:solidFill>
              </a:rPr>
              <a:t/>
            </a:r>
          </a:p>
          <a:p>
            <a:r>
              <a:rPr sz="1600" b="1">
                <a:solidFill>
                  <a:srgbClr val="DAFFDE"/>
                </a:solidFill>
              </a:rPr>
              <a:t>→ De caching-mythe: GraphQL is volwassen geworden. De bewering "GraphQL breekt caching" klopt niet meer.</a:t>
            </a:r>
          </a:p>
          <a:p>
            <a:r>
              <a:rPr sz="1600" b="1">
                <a:solidFill>
                  <a:srgbClr val="DAFFDE"/>
                </a:solidFill>
              </a:rPr>
              <a:t/>
            </a:r>
          </a:p>
          <a:p>
            <a:r>
              <a:rPr sz="1600" b="1">
                <a:solidFill>
                  <a:srgbClr val="DAFFDE"/>
                </a:solidFill>
              </a:rPr>
              <a:t>→ Gelaagde aanpak: Caching vereist een gecoördineerde stack (Client, CDN, Gateway en Applicatie-niveau).</a:t>
            </a:r>
          </a:p>
          <a:p>
            <a:r>
              <a:rPr sz="1600" b="1">
                <a:solidFill>
                  <a:srgbClr val="DAFFDE"/>
                </a:solidFill>
              </a:rPr>
              <a:t/>
            </a:r>
          </a:p>
          <a:p>
            <a:r>
              <a:rPr sz="1600" b="1">
                <a:solidFill>
                  <a:srgbClr val="DAFFDE"/>
                </a:solidFill>
              </a:rPr>
              <a:t>→ Abstraction Layer: GraphQL blinkt uit als één simplistische interface voor AI-modellen en agents, i.p.v. honderden REST-endpoints.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D0F12"/>
        </a:solidFill>
        <a:effectLst/>
      </p:bgPr>
    </p:bg>
    <p:spTree>
      <p:pic>
        <p:nvPicPr>
          <p:cNvPr id="210" name="Google Shape;21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257300"/>
            <a:ext cx="5267325" cy="3600450"/>
          </a:xfrm>
          <a:prstGeom prst="rect">
            <a:avLst/>
          </a:prstGeom>
          <a:noFill/>
          <a:ln>
            <a:noFill/>
          </a:ln>
        </p:spPr>
      </p:pic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extBox 213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5F5"/>
                </a:solidFill>
              </a:rPr>
              <a:t>Mensen of Engines beheren?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AFFDE"/>
                </a:solidFill>
              </a:rPr>
              <a:t>De transitie in moderne API Governance:</a:t>
            </a:r>
          </a:p>
          <a:p>
            <a:r>
              <a:rPr sz="1600" b="1">
                <a:solidFill>
                  <a:srgbClr val="DAFFDE"/>
                </a:solidFill>
              </a:rPr>
              <a:t/>
            </a:r>
          </a:p>
          <a:p>
            <a:r>
              <a:rPr sz="1600" b="1">
                <a:solidFill>
                  <a:srgbClr val="DAFFDE"/>
                </a:solidFill>
              </a:rPr>
              <a:t>→ De chaos: Traditionele governance probeert complexe interacties tussen mensen / teams en API’s handmatig te reguleren.</a:t>
            </a:r>
          </a:p>
          <a:p>
            <a:r>
              <a:rPr sz="1600" b="1">
                <a:solidFill>
                  <a:srgbClr val="DAFFDE"/>
                </a:solidFill>
              </a:rPr>
              <a:t/>
            </a:r>
          </a:p>
          <a:p>
            <a:r>
              <a:rPr sz="1600" b="1">
                <a:solidFill>
                  <a:srgbClr val="DAFFDE"/>
                </a:solidFill>
              </a:rPr>
              <a:t>→ De oplossing: Verschuif de focus naar het inrichten en beheren van platform-engines (de gateways).</a:t>
            </a:r>
          </a:p>
          <a:p>
            <a:r>
              <a:rPr sz="1600" b="1">
                <a:solidFill>
                  <a:srgbClr val="DAFFDE"/>
                </a:solidFill>
              </a:rPr>
              <a:t/>
            </a:r>
          </a:p>
          <a:p>
            <a:r>
              <a:rPr sz="1600" b="1">
                <a:solidFill>
                  <a:srgbClr val="DAFFDE"/>
                </a:solidFill>
              </a:rPr>
              <a:t>→ Automatische controle: Regels centraal in de 'engine' afdwingen ontlast ontwikkelaars en behoudt grip.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pic>
        <p:nvPicPr>
          <p:cNvPr id="225" name="Google Shape;22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4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6445128" y="1257300"/>
            <a:ext cx="5064369" cy="3600450"/>
          </a:xfrm>
          <a:prstGeom prst="rect">
            <a:avLst/>
          </a:prstGeom>
          <a:noFill/>
          <a:ln>
            <a:noFill/>
          </a:ln>
        </p:spPr>
      </p:pic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Box 228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5F5"/>
                </a:solidFill>
              </a:rPr>
              <a:t>Mocking m.b.v. AI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AFFDE"/>
                </a:solidFill>
              </a:rPr>
              <a:t>Annotaties sturen de router aan:</a:t>
            </a:r>
          </a:p>
          <a:p>
            <a:r>
              <a:rPr sz="1600" b="1">
                <a:solidFill>
                  <a:srgbClr val="DAFFDE"/>
                </a:solidFill>
              </a:rPr>
              <a:t/>
            </a:r>
          </a:p>
          <a:p>
            <a:r>
              <a:rPr sz="1600" b="1">
                <a:solidFill>
                  <a:srgbClr val="DAFFDE"/>
                </a:solidFill>
              </a:rPr>
              <a:t>→ De @mock annotatie: Backend-teams annoteren velden die nog niet zijn geïmplementeerd direct in het schema.</a:t>
            </a:r>
          </a:p>
          <a:p>
            <a:r>
              <a:rPr sz="1600" b="1">
                <a:solidFill>
                  <a:srgbClr val="DAFFDE"/>
                </a:solidFill>
              </a:rPr>
              <a:t/>
            </a:r>
          </a:p>
          <a:p>
            <a:r>
              <a:rPr sz="1600" b="1">
                <a:solidFill>
                  <a:srgbClr val="DAFFDE"/>
                </a:solidFill>
              </a:rPr>
              <a:t>→ AI-gegenereerd: De router interpreteert de annotatie en genereert realistische, domein-specifieke mockdata.</a:t>
            </a:r>
          </a:p>
          <a:p>
            <a:r>
              <a:rPr sz="1600" b="1">
                <a:solidFill>
                  <a:srgbClr val="DAFFDE"/>
                </a:solidFill>
              </a:rPr>
              <a:t/>
            </a:r>
          </a:p>
          <a:p>
            <a:r>
              <a:rPr sz="1600" b="1">
                <a:solidFill>
                  <a:srgbClr val="DAFFDE"/>
                </a:solidFill>
              </a:rPr>
              <a:t>→ Voorbeeld: `@mock(source: "llm" hint: "Amsterdam hotel")` levert direct betekenisvolle UI-vulling op.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pic>
        <p:nvPicPr>
          <p:cNvPr id="240" name="Google Shape;24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extBox 242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5F5"/>
                </a:solidFill>
              </a:rPr>
              <a:t>Platform Engineering 2026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AFFDE"/>
                </a:solidFill>
              </a:rPr>
              <a:t>Alice Roquette (TomTom)</a:t>
            </a:r>
          </a:p>
          <a:p>
            <a:r>
              <a:rPr sz="1600" b="1">
                <a:solidFill>
                  <a:srgbClr val="DAFFDE"/>
                </a:solidFill>
              </a:rPr>
              <a:t/>
            </a:r>
          </a:p>
          <a:p>
            <a:r>
              <a:rPr sz="1600" b="1">
                <a:solidFill>
                  <a:srgbClr val="DAFFDE"/>
                </a:solidFill>
              </a:rPr>
              <a:t>→ Uitgebreide discussie over API-governance, gateways en complexe re-engineering binnen een platform-omgeving.</a:t>
            </a:r>
          </a:p>
          <a:p>
            <a:r>
              <a:rPr sz="1600" b="1">
                <a:solidFill>
                  <a:srgbClr val="DAFFDE"/>
                </a:solidFill>
              </a:rPr>
              <a:t/>
            </a:r>
          </a:p>
          <a:p>
            <a:r>
              <a:rPr sz="1600" b="1">
                <a:solidFill>
                  <a:srgbClr val="DAFFDE"/>
                </a:solidFill>
              </a:rPr>
              <a:t>→ Platform engineering is de lijm tussen de technische architectuur en de uiteindelijke developer experience.</a:t>
            </a:r>
          </a:p>
          <a:p>
            <a:r>
              <a:rPr sz="1600" b="1">
                <a:solidFill>
                  <a:srgbClr val="DAFFDE"/>
                </a:solidFill>
              </a:rPr>
              <a:t/>
            </a:r>
          </a:p>
          <a:p>
            <a:r>
              <a:rPr sz="1600" b="1">
                <a:solidFill>
                  <a:srgbClr val="DAFFDE"/>
                </a:solidFill>
              </a:rPr>
              <a:t>→ De DevOps AI Chatroom</a:t>
            </a:r>
          </a:p>
          <a:p>
            <a:r>
              <a:rPr sz="1600" b="1">
                <a:solidFill>
                  <a:srgbClr val="DAFFDE"/>
                </a:solidFill>
              </a:rPr>
              <a:t/>
            </a:r>
          </a:p>
          <a:p>
            <a:r>
              <a:rPr sz="1600" b="1">
                <a:solidFill>
                  <a:srgbClr val="DAFFDE"/>
                </a:solidFill>
              </a:rPr>
              <a:t>→ Een bijzonder initiatief van jonge engineers: een discord-chatroom waar teams samen AI-prompts sturen en de complete prompt-historie opslaan.</a:t>
            </a:r>
          </a:p>
          <a:p>
            <a:r>
              <a:rPr sz="1600" b="1">
                <a:solidFill>
                  <a:srgbClr val="DAFFDE"/>
                </a:solidFill>
              </a:rPr>
              <a:t/>
            </a:r>
          </a:p>
          <a:p>
            <a:r>
              <a:rPr sz="1600" b="1">
                <a:solidFill>
                  <a:srgbClr val="DAFFDE"/>
                </a:solidFill>
              </a:rPr>
              <a:t>→ Waarom: Dit herontdekt de "waarom" achter het ontwerp van systemen. De herontdekking van specs, maar dan organisch.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pic>
        <p:nvPicPr>
          <p:cNvPr id="254" name="Google Shape;254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1703413"/>
            <a:ext cx="6096000" cy="3451174"/>
          </a:xfrm>
          <a:prstGeom prst="rect">
            <a:avLst/>
          </a:prstGeom>
          <a:noFill/>
          <a:ln>
            <a:noFill/>
          </a:ln>
        </p:spPr>
      </p:pic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Box 263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5F5"/>
                </a:solidFill>
              </a:rPr>
              <a:t>AsyncAPI Event-Sturing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AFFDE"/>
                </a:solidFill>
              </a:rPr>
              <a:t>Lukasz Gornicki (AsyncAPI Maintainer):</a:t>
            </a:r>
          </a:p>
          <a:p>
            <a:r>
              <a:rPr sz="1600" b="1">
                <a:solidFill>
                  <a:srgbClr val="DAFFDE"/>
                </a:solidFill>
              </a:rPr>
              <a:t/>
            </a:r>
          </a:p>
          <a:p>
            <a:r>
              <a:rPr sz="1600" b="1">
                <a:solidFill>
                  <a:srgbClr val="DAFFDE"/>
                </a:solidFill>
              </a:rPr>
              <a:t>→ De Omhulling telt: Lukasz benadrukte dat het payload-schema zelf secundair is; AsyncAPI definieert de interactie en kanalen (Kafka, MQTT).</a:t>
            </a:r>
          </a:p>
          <a:p>
            <a:r>
              <a:rPr sz="1600" b="1">
                <a:solidFill>
                  <a:srgbClr val="DAFFDE"/>
                </a:solidFill>
              </a:rPr>
              <a:t/>
            </a:r>
          </a:p>
          <a:p>
            <a:r>
              <a:rPr sz="1600" b="1">
                <a:solidFill>
                  <a:srgbClr val="DAFFDE"/>
                </a:solidFill>
              </a:rPr>
              <a:t>→ Consistentie voor Events: Brengt dezelfde structuur en developer experience naar event-driven systemen als OpenAPI deed voor REST.</a:t>
            </a:r>
          </a:p>
          <a:p>
            <a:r>
              <a:rPr sz="1600" b="1">
                <a:solidFill>
                  <a:srgbClr val="DAFFDE"/>
                </a:solidFill>
              </a:rPr>
              <a:t/>
            </a:r>
          </a:p>
          <a:p>
            <a:r>
              <a:rPr sz="1600" b="1">
                <a:solidFill>
                  <a:srgbClr val="DAFFDE"/>
                </a:solidFill>
              </a:rPr>
              <a:t>→ Tooling Ecosysteem: Snelle groei in open-source code-generatoren en validatie-pipelines.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pic>
        <p:nvPicPr>
          <p:cNvPr id="268" name="Google Shape;268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326964"/>
            <a:ext cx="5267325" cy="3461122"/>
          </a:xfrm>
          <a:prstGeom prst="rect">
            <a:avLst/>
          </a:prstGeom>
          <a:noFill/>
          <a:ln>
            <a:noFill/>
          </a:ln>
        </p:spPr>
      </p:pic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extBox 271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5F5"/>
                </a:solidFill>
              </a:rPr>
              <a:t>Ask AsyncAPI AI Interface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AFFDE"/>
                </a:solidFill>
              </a:rPr>
              <a:t>Interactieve AI assistent voor AsyncAPI:</a:t>
            </a:r>
          </a:p>
          <a:p>
            <a:r>
              <a:rPr sz="1600" b="1">
                <a:solidFill>
                  <a:srgbClr val="DAFFDE"/>
                </a:solidFill>
              </a:rPr>
              <a:t/>
            </a:r>
          </a:p>
          <a:p>
            <a:r>
              <a:rPr sz="1600" b="1">
                <a:solidFill>
                  <a:srgbClr val="DAFFDE"/>
                </a:solidFill>
              </a:rPr>
              <a:t>→ Laagdrempelig: Beantwoordt vragen over de specificatie, concepten en protocollen direct vanuit de officiële documentatie.</a:t>
            </a:r>
          </a:p>
          <a:p>
            <a:r>
              <a:rPr sz="1600" b="1">
                <a:solidFill>
                  <a:srgbClr val="DAFFDE"/>
                </a:solidFill>
              </a:rPr>
              <a:t/>
            </a:r>
          </a:p>
          <a:p>
            <a:r>
              <a:rPr sz="1600" b="1">
                <a:solidFill>
                  <a:srgbClr val="DAFFDE"/>
                </a:solidFill>
              </a:rPr>
              <a:t>→ Echte passie: "AsyncAPI is built by people with passion, not large corporate funding."</a:t>
            </a:r>
          </a:p>
          <a:p>
            <a:r>
              <a:rPr sz="1600" b="1">
                <a:solidFill>
                  <a:srgbClr val="DAFFDE"/>
                </a:solidFill>
              </a:rPr>
              <a:t/>
            </a:r>
          </a:p>
          <a:p>
            <a:r>
              <a:rPr sz="1600" b="1">
                <a:solidFill>
                  <a:srgbClr val="DAFFDE"/>
                </a:solidFill>
              </a:rPr>
              <a:t>→ Follow-up: Tevens kort met het GraphQL team gesproken en een vervolgafspraak ingepland om ervaringen uit te wisselen!</a:t>
            </a:r>
          </a:p>
          <a:p>
            <a:r>
              <a:rPr sz="1600" b="1">
                <a:solidFill>
                  <a:srgbClr val="DAFFDE"/>
                </a:solidFill>
              </a:rPr>
              <a:t/>
            </a:r>
          </a:p>
          <a:p>
            <a:r>
              <a:rPr sz="1600" b="1">
                <a:solidFill>
                  <a:srgbClr val="DAFFDE"/>
                </a:solidFill>
              </a:rPr>
              <a:t>→ askasyncapi.brainfart.dev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pic>
        <p:nvPicPr>
          <p:cNvPr id="283" name="Google Shape;283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TextBox 283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5F5"/>
                </a:solidFill>
              </a:rPr>
              <a:t>De Toekomst van Software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AFFDE"/>
                </a:solidFill>
              </a:rPr>
              <a:t>De menselijke maat is essentieel bij het gebruik van AI. Blijf zelf specificeren en ontwerpen. Bedenk zelf wat je wilt bouwen — anders wordt alles uiteindelijk een identieke gemeenplaats. Blijf nadenken: dat is wat wij mensen nog steeds als de beste kunnen.</a:t>
            </a:r>
          </a:p>
          <a:p>
            <a:r>
              <a:rPr sz="1600" b="1">
                <a:solidFill>
                  <a:srgbClr val="DAFFDE"/>
                </a:solidFill>
              </a:rPr>
              <a:t>"</a:t>
            </a:r>
          </a:p>
          <a:p>
            <a:r>
              <a:rPr sz="1600" b="1">
                <a:solidFill>
                  <a:srgbClr val="DAFFDE"/>
                </a:solidFill>
              </a:rPr>
              <a:t/>
            </a:r>
          </a:p>
          <a:p>
            <a:r>
              <a:rPr sz="1600" b="1">
                <a:solidFill>
                  <a:srgbClr val="DAFFDE"/>
                </a:solidFill>
              </a:rPr>
              <a:t>→ — Paneldiscussie met Mark Boyd, Erik Wilde, Kristen Womack &amp; Alice Roquette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pic>
        <p:nvPicPr>
          <p:cNvPr id="293" name="Google Shape;293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TextBox 293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5F5"/>
                </a:solidFill>
              </a:rPr>
              <a:t>Vragen &amp; Discussie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AFFDE"/>
                </a:solidFill>
              </a:rPr>
              <a:t>Hoe vertalen we deze lessen over menselijke regie, AI-mocking en platform-governance naar onze eigen visie?</a:t>
            </a:r>
          </a:p>
          <a:p>
            <a:r>
              <a:rPr sz="1600" b="1">
                <a:solidFill>
                  <a:srgbClr val="DAFFDE"/>
                </a:solidFill>
              </a:rPr>
              <a:t/>
            </a:r>
          </a:p>
          <a:p>
            <a:r>
              <a:rPr sz="1600" b="1">
                <a:solidFill>
                  <a:srgbClr val="DAFFDE"/>
                </a:solidFill>
              </a:rPr>
              <a:t>→ Dank voor jullie aandacht en bijdrage!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1009</Words>
  <Application>Microsoft Office PowerPoint</Application>
  <PresentationFormat>Breedbeeld</PresentationFormat>
  <Paragraphs>112</Paragraphs>
  <Slides>17</Slides>
  <Notes>17</Notes>
  <HiddenSlides>1</HiddenSlides>
  <MMClips>0</MMClips>
  <ScaleCrop>false</ScaleCrop>
  <HeadingPairs>
    <vt:vector size="6" baseType="variant">
      <vt:variant>
        <vt:lpstr>Gebruikte lettertypen</vt:lpstr>
      </vt:variant>
      <vt:variant>
        <vt:i4>7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17</vt:i4>
      </vt:variant>
    </vt:vector>
  </HeadingPairs>
  <TitlesOfParts>
    <vt:vector size="25" baseType="lpstr">
      <vt:lpstr>Urbanist</vt:lpstr>
      <vt:lpstr>Aptos</vt:lpstr>
      <vt:lpstr>Urbanist Medium</vt:lpstr>
      <vt:lpstr>Arial</vt:lpstr>
      <vt:lpstr>Courier New</vt:lpstr>
      <vt:lpstr>Calibri</vt:lpstr>
      <vt:lpstr>Urbanist SemiBold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Mark Westbroek</cp:lastModifiedBy>
  <cp:revision>4</cp:revision>
  <dcterms:modified xsi:type="dcterms:W3CDTF">2026-06-15T21:22:25Z</dcterms:modified>
</cp:coreProperties>
</file>