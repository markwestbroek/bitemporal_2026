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jp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89788" y="12739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4;p16">
            <a:extLst>
              <a:ext uri="{FF2B5EF4-FFF2-40B4-BE49-F238E27FC236}">
                <a16:creationId xmlns:a16="http://schemas.microsoft.com/office/drawing/2014/main" id="{F340A66C-688D-F213-33B0-E7AA7172013E}"/>
              </a:ext>
            </a:extLst>
          </p:cNvPr>
          <p:cNvSpPr txBox="1"/>
          <p:nvPr/>
        </p:nvSpPr>
        <p:spPr>
          <a:xfrm>
            <a:off x="571499" y="571500"/>
            <a:ext cx="11458575" cy="6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5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lang="en-US" sz="3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gaat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over </a:t>
            </a:r>
            <a:r>
              <a:rPr lang="en-US" sz="28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4941"/>
              </a:lnSpc>
            </a:pPr>
            <a:r>
              <a:rPr lang="nl-NL" sz="1600" b="1" dirty="0">
                <a:solidFill>
                  <a:schemeClr val="bg1"/>
                </a:solidFill>
              </a:rPr>
              <a:t>1. een gateway/tussenlaag (</a:t>
            </a:r>
            <a:r>
              <a:rPr lang="nl-NL" sz="1600" b="1" dirty="0" err="1">
                <a:solidFill>
                  <a:schemeClr val="bg1"/>
                </a:solidFill>
              </a:rPr>
              <a:t>KrakenD</a:t>
            </a:r>
            <a:r>
              <a:rPr lang="nl-NL" sz="1600" b="1" dirty="0">
                <a:solidFill>
                  <a:schemeClr val="bg1"/>
                </a:solidFill>
              </a:rPr>
              <a:t>)</a:t>
            </a:r>
          </a:p>
          <a:p>
            <a:pPr lvl="0">
              <a:lnSpc>
                <a:spcPct val="144941"/>
              </a:lnSpc>
            </a:pPr>
            <a:endParaRPr lang="nl-NL" sz="1600" b="1" dirty="0">
              <a:solidFill>
                <a:schemeClr val="bg1"/>
              </a:solidFill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Ontkoppeling</a:t>
            </a:r>
            <a:r>
              <a:rPr lang="nl-NL" b="1" dirty="0">
                <a:solidFill>
                  <a:srgbClr val="DAFFDE"/>
                </a:solidFill>
              </a:rPr>
              <a:t>: Transformeer </a:t>
            </a:r>
            <a:r>
              <a:rPr lang="nl-NL" b="1" dirty="0" err="1">
                <a:solidFill>
                  <a:srgbClr val="DAFFDE"/>
                </a:solidFill>
              </a:rPr>
              <a:t>payloads</a:t>
            </a:r>
            <a:r>
              <a:rPr lang="nl-NL" b="1" dirty="0">
                <a:solidFill>
                  <a:srgbClr val="DAFFDE"/>
                </a:solidFill>
              </a:rPr>
              <a:t>, pas </a:t>
            </a:r>
            <a:r>
              <a:rPr lang="nl-NL" b="1" dirty="0" err="1">
                <a:solidFill>
                  <a:srgbClr val="DAFFDE"/>
                </a:solidFill>
              </a:rPr>
              <a:t>rate-limiting</a:t>
            </a:r>
            <a:r>
              <a:rPr lang="nl-NL" b="1" dirty="0">
                <a:solidFill>
                  <a:srgbClr val="DAFFDE"/>
                </a:solidFill>
              </a:rPr>
              <a:t> toe en valideer autorisatie direct in de gateway-laag.</a:t>
            </a: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Open Source</a:t>
            </a:r>
            <a:r>
              <a:rPr lang="nl-NL" b="1" dirty="0">
                <a:solidFill>
                  <a:srgbClr val="DAFFDE"/>
                </a:solidFill>
              </a:rPr>
              <a:t>: Een krachtige engine om calls on-</a:t>
            </a:r>
            <a:r>
              <a:rPr lang="nl-NL" b="1" dirty="0" err="1">
                <a:solidFill>
                  <a:srgbClr val="DAFFDE"/>
                </a:solidFill>
              </a:rPr>
              <a:t>the</a:t>
            </a:r>
            <a:r>
              <a:rPr lang="nl-NL" b="1" dirty="0">
                <a:solidFill>
                  <a:srgbClr val="DAFFDE"/>
                </a:solidFill>
              </a:rPr>
              <a:t>-</a:t>
            </a:r>
            <a:r>
              <a:rPr lang="nl-NL" b="1" dirty="0" err="1">
                <a:solidFill>
                  <a:srgbClr val="DAFFDE"/>
                </a:solidFill>
              </a:rPr>
              <a:t>fly</a:t>
            </a:r>
            <a:r>
              <a:rPr lang="nl-NL" b="1" dirty="0">
                <a:solidFill>
                  <a:srgbClr val="DAFFDE"/>
                </a:solidFill>
              </a:rPr>
              <a:t> en direct in de gateway te manipuleren.</a:t>
            </a: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Multi-Backend </a:t>
            </a:r>
            <a:r>
              <a:rPr lang="nl-NL" b="1" dirty="0" err="1">
                <a:solidFill>
                  <a:schemeClr val="bg1"/>
                </a:solidFill>
              </a:rPr>
              <a:t>Aggregation</a:t>
            </a:r>
            <a:r>
              <a:rPr lang="nl-NL" b="1" dirty="0">
                <a:solidFill>
                  <a:srgbClr val="DAFFDE"/>
                </a:solidFill>
              </a:rPr>
              <a:t>: Voeg meerdere losse </a:t>
            </a:r>
            <a:r>
              <a:rPr lang="nl-NL" b="1" dirty="0" err="1">
                <a:solidFill>
                  <a:srgbClr val="DAFFDE"/>
                </a:solidFill>
              </a:rPr>
              <a:t>endpoints</a:t>
            </a:r>
            <a:r>
              <a:rPr lang="nl-NL" b="1" dirty="0">
                <a:solidFill>
                  <a:srgbClr val="DAFFDE"/>
                </a:solidFill>
              </a:rPr>
              <a:t> samen tot één beheersbaar en consistent interface.</a:t>
            </a:r>
          </a:p>
          <a:p>
            <a:pPr lvl="0">
              <a:lnSpc>
                <a:spcPct val="144941"/>
              </a:lnSpc>
            </a:pPr>
            <a:endParaRPr lang="nl-NL" b="1" dirty="0">
              <a:solidFill>
                <a:srgbClr val="DAFFDE"/>
              </a:solidFill>
            </a:endParaRPr>
          </a:p>
          <a:p>
            <a:pPr lvl="0">
              <a:lnSpc>
                <a:spcPct val="144941"/>
              </a:lnSpc>
            </a:pPr>
            <a:r>
              <a:rPr lang="nl-NL" sz="1600" b="1" dirty="0">
                <a:solidFill>
                  <a:schemeClr val="bg1"/>
                </a:solidFill>
              </a:rPr>
              <a:t>2. Een eigen API-laag (vgl. </a:t>
            </a:r>
            <a:r>
              <a:rPr lang="nl-NL" sz="1600" b="1" dirty="0" err="1">
                <a:solidFill>
                  <a:schemeClr val="bg1"/>
                </a:solidFill>
              </a:rPr>
              <a:t>process</a:t>
            </a:r>
            <a:r>
              <a:rPr lang="nl-NL" sz="1600" b="1" dirty="0">
                <a:solidFill>
                  <a:schemeClr val="bg1"/>
                </a:solidFill>
              </a:rPr>
              <a:t> </a:t>
            </a:r>
            <a:r>
              <a:rPr lang="nl-NL" sz="1600" b="1" dirty="0" err="1">
                <a:solidFill>
                  <a:schemeClr val="bg1"/>
                </a:solidFill>
              </a:rPr>
              <a:t>API’s</a:t>
            </a:r>
            <a:r>
              <a:rPr lang="nl-NL" sz="1600" b="1" dirty="0">
                <a:solidFill>
                  <a:schemeClr val="bg1"/>
                </a:solidFill>
              </a:rPr>
              <a:t>, </a:t>
            </a:r>
            <a:r>
              <a:rPr lang="nl-NL" sz="1600" b="1" dirty="0" err="1">
                <a:solidFill>
                  <a:schemeClr val="bg1"/>
                </a:solidFill>
              </a:rPr>
              <a:t>GraphQL</a:t>
            </a:r>
            <a:r>
              <a:rPr lang="nl-NL" sz="1600" b="1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uitgebreid</a:t>
            </a: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besproken</a:t>
            </a: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(elevator pitch). Heb contact.</a:t>
            </a:r>
            <a:endParaRPr lang="nl-NL" sz="1600" b="1" dirty="0">
              <a:solidFill>
                <a:schemeClr val="bg1"/>
              </a:solidFill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285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opties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43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Het goede initiatief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Dimitri van Hees (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Geonovum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) presenteerde een register om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OpenAPI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- en JSON-schema's centraal te ontsluiten voor de overheid.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Dit stimuleert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hergebruik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en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standaardisatie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van dataspecificaties over overheidsgrenzen heen.</a:t>
            </a: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Het Nationale </a:t>
            </a:r>
            <a:r>
              <a:rPr lang="en-US" sz="285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Schema Register</a:t>
            </a:r>
            <a:endParaRPr sz="2850" b="1" dirty="0">
              <a:solidFill>
                <a:srgbClr val="DEFF9A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74B184C8-391E-5C3A-DD63-24D3A3C0ED0D}"/>
              </a:ext>
            </a:extLst>
          </p:cNvPr>
          <p:cNvSpPr txBox="1"/>
          <p:nvPr/>
        </p:nvSpPr>
        <p:spPr>
          <a:xfrm>
            <a:off x="6429375" y="1485900"/>
            <a:ext cx="4648200" cy="285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4941"/>
              </a:lnSpc>
            </a:pPr>
            <a:r>
              <a:rPr lang="en-US" sz="1600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 SemiBold"/>
              </a:rPr>
              <a:t>Kritiek</a:t>
            </a:r>
            <a:r>
              <a:rPr lang="en-US" sz="1600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 SemiBold"/>
              </a:rPr>
              <a:t>: de ‘</a:t>
            </a:r>
            <a:r>
              <a:rPr lang="en-US" sz="1600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 SemiBold"/>
              </a:rPr>
              <a:t>grabbelton</a:t>
            </a:r>
            <a:r>
              <a:rPr lang="en-US" sz="1600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 SemiBold"/>
              </a:rPr>
              <a:t>'</a:t>
            </a:r>
            <a:endParaRPr lang="en-US" sz="1600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Het register </a:t>
            </a:r>
            <a:r>
              <a:rPr lang="nl-NL" b="1" dirty="0">
                <a:solidFill>
                  <a:schemeClr val="bg1"/>
                </a:solidFill>
              </a:rPr>
              <a:t>mist</a:t>
            </a:r>
            <a:r>
              <a:rPr lang="nl-NL" b="1" dirty="0">
                <a:solidFill>
                  <a:srgbClr val="DAFFDE"/>
                </a:solidFill>
              </a:rPr>
              <a:t> op dit moment nog een goede </a:t>
            </a:r>
            <a:r>
              <a:rPr lang="nl-NL" b="1" dirty="0">
                <a:solidFill>
                  <a:schemeClr val="bg1"/>
                </a:solidFill>
              </a:rPr>
              <a:t>visuele representatie</a:t>
            </a:r>
            <a:r>
              <a:rPr lang="nl-NL" b="1" dirty="0">
                <a:solidFill>
                  <a:srgbClr val="DAFFDE"/>
                </a:solidFill>
              </a:rPr>
              <a:t>. Het voelt nu als een grote vergaarbak zonder heldere context.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Een kans: mijn UML/objecttypen POC in </a:t>
            </a:r>
            <a:r>
              <a:rPr lang="nl-NL" b="1" dirty="0" err="1">
                <a:solidFill>
                  <a:srgbClr val="DAFFDE"/>
                </a:solidFill>
              </a:rPr>
              <a:t>React</a:t>
            </a:r>
            <a:r>
              <a:rPr lang="nl-NL" b="1" dirty="0">
                <a:solidFill>
                  <a:srgbClr val="DAFFDE"/>
                </a:solidFill>
              </a:rPr>
              <a:t> kan hier uitstekend bij helpen om semantisch begrip visueel te maken! Ik ga Dimitri benaderen.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1526381"/>
            <a:ext cx="4953000" cy="366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</a:rPr>
              <a:t>Roberto </a:t>
            </a:r>
            <a:r>
              <a:rPr lang="nl-NL" b="1" dirty="0" err="1">
                <a:solidFill>
                  <a:srgbClr val="DAFFDE"/>
                </a:solidFill>
              </a:rPr>
              <a:t>Polli</a:t>
            </a:r>
            <a:r>
              <a:rPr lang="nl-NL" b="1" dirty="0">
                <a:solidFill>
                  <a:srgbClr val="DAFFDE"/>
                </a:solidFill>
              </a:rPr>
              <a:t> over de Italiaanse aanpak: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Federatieve uitdaging</a:t>
            </a:r>
            <a:r>
              <a:rPr lang="nl-NL" b="1" dirty="0">
                <a:solidFill>
                  <a:srgbClr val="DAFFDE"/>
                </a:solidFill>
              </a:rPr>
              <a:t>: Italië heeft te maken met 20 autonome regio's en meer dan 8000 gemeenten met elk eigen regels.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</a:rPr>
              <a:t>Sterk mandaat</a:t>
            </a:r>
            <a:r>
              <a:rPr lang="nl-NL" b="1" dirty="0">
                <a:solidFill>
                  <a:srgbClr val="DAFFDE"/>
                </a:solidFill>
              </a:rPr>
              <a:t>: Sinds 2016 heeft het Digital </a:t>
            </a:r>
            <a:r>
              <a:rPr lang="nl-NL" b="1" dirty="0" err="1">
                <a:solidFill>
                  <a:srgbClr val="DAFFDE"/>
                </a:solidFill>
              </a:rPr>
              <a:t>Transformation</a:t>
            </a:r>
            <a:r>
              <a:rPr lang="nl-NL" b="1" dirty="0">
                <a:solidFill>
                  <a:srgbClr val="DAFFDE"/>
                </a:solidFill>
              </a:rPr>
              <a:t> Team de regie strak in handen genomen vanaf de premier.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REST-transitie</a:t>
            </a:r>
            <a:r>
              <a:rPr lang="nl-NL" b="1" dirty="0">
                <a:solidFill>
                  <a:srgbClr val="DAFFDE"/>
                </a:solidFill>
              </a:rPr>
              <a:t>: Volledige overstap van SOAP naar open standaarden en internetprotocollen voor interoperabiliteit.</a:t>
            </a: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3;p18">
            <a:extLst>
              <a:ext uri="{FF2B5EF4-FFF2-40B4-BE49-F238E27FC236}">
                <a16:creationId xmlns:a16="http://schemas.microsoft.com/office/drawing/2014/main" id="{33F2579C-0CF0-5D14-94D2-C969ABC267B1}"/>
              </a:ext>
            </a:extLst>
          </p:cNvPr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Sturing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in </a:t>
            </a:r>
            <a:r>
              <a:rPr lang="en-US" sz="285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 lang="en-US" sz="285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409700"/>
            <a:ext cx="5286375" cy="366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</a:rPr>
              <a:t>Strategische successen en platforms: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Nationale registers</a:t>
            </a:r>
            <a:r>
              <a:rPr lang="nl-NL" b="1" dirty="0">
                <a:solidFill>
                  <a:srgbClr val="DAFFDE"/>
                </a:solidFill>
              </a:rPr>
              <a:t>: Succesvolle integratie via de centrale API-catalogus (api.gov.it) en schema-register.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Mensen &amp; wetten</a:t>
            </a:r>
            <a:r>
              <a:rPr lang="nl-NL" b="1" dirty="0">
                <a:solidFill>
                  <a:srgbClr val="DAFFDE"/>
                </a:solidFill>
              </a:rPr>
              <a:t>: Je hebt niet altijd harde wetgeving nodig... tenzij het niet anders kan. Zorg voor juridische expertise in je team.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</a:t>
            </a:r>
            <a:r>
              <a:rPr lang="nl-NL" b="1" dirty="0">
                <a:solidFill>
                  <a:srgbClr val="DAFFDE"/>
                </a:solidFill>
              </a:rPr>
              <a:t> </a:t>
            </a:r>
            <a:r>
              <a:rPr lang="nl-NL" b="1" dirty="0">
                <a:solidFill>
                  <a:schemeClr val="bg1"/>
                </a:solidFill>
              </a:rPr>
              <a:t>EIF Interoperabiliteit</a:t>
            </a:r>
            <a:r>
              <a:rPr lang="nl-NL" b="1" dirty="0">
                <a:solidFill>
                  <a:srgbClr val="DAFFDE"/>
                </a:solidFill>
              </a:rPr>
              <a:t>: Strikte naleving van de Europese interoperabiliteits-architectuur voorkomt technische omwegen.</a:t>
            </a: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Lessen uit Italië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De </a:t>
            </a:r>
            <a:r>
              <a:rPr lang="en-US" sz="420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GraphQL</a:t>
            </a:r>
            <a:r>
              <a:rPr lang="en-US" sz="4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2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Ochtend</a:t>
            </a:r>
            <a:endParaRPr dirty="0"/>
          </a:p>
        </p:txBody>
      </p:sp>
      <p:sp>
        <p:nvSpPr>
          <p:cNvPr id="190" name="Google Shape;190;p21"/>
          <p:cNvSpPr txBox="1"/>
          <p:nvPr/>
        </p:nvSpPr>
        <p:spPr>
          <a:xfrm>
            <a:off x="2286000" y="3759547"/>
            <a:ext cx="7620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nl-NL" sz="16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Mythes ontmaskerd, integratie met </a:t>
            </a:r>
            <a:r>
              <a:rPr lang="nl-NL" sz="16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LLM's</a:t>
            </a:r>
            <a:r>
              <a:rPr lang="nl-NL" sz="16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 AI-</a:t>
            </a:r>
            <a:r>
              <a:rPr lang="nl-NL" sz="16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powered</a:t>
            </a:r>
            <a:r>
              <a:rPr lang="nl-NL" sz="16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sz="16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mock</a:t>
            </a:r>
            <a:r>
              <a:rPr lang="nl-NL" sz="16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-omgevingen.</a:t>
            </a:r>
            <a:endParaRPr lang="nl-NL" sz="1600" dirty="0"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1409700"/>
            <a:ext cx="5286375" cy="335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Jens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Neuse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(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WunderGraph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) ontmaskert dogma's: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De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caching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-mythe: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GraphQL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is volwassen geworden. De bewering "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GraphQL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breekt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caching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" klopt niet meer.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Gelaagde aanpak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Caching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vereist een gecoördineerde stack (Client, CDN, Gateway en Applicatie-niveau).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Abstraction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Layer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GraphQL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blinkt uit als één simplistische interface voor AI-modellen en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agents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, i.p.v. honderden REST-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endpoints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.</a:t>
            </a: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Mythes</a:t>
            </a:r>
            <a:endParaRPr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8507208A-D237-24CA-CE5A-0D76BE359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754" y="123127"/>
            <a:ext cx="896746" cy="8967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409700"/>
            <a:ext cx="5286375" cy="304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Annotaties sturen de router aan: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De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@mock 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annotatie: Backend-teams annoteren velden die nog niet zijn geïmplementeerd direct in het schema.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AI-gegenereerd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De router interpreteert de annotatie en genereert realistische, domein-specifieke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mockdata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Voorbeeld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`@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mock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(source: "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llm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" hint: "Amsterdam hotel")` levert direct betekenisvolle UI-vulling op.</a:t>
            </a: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m.b.v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 AI</a:t>
            </a:r>
            <a:endParaRPr dirty="0"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D2CC9E06-50FD-0907-3960-E72908686C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754" y="123127"/>
            <a:ext cx="896746" cy="8967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1409700"/>
            <a:ext cx="5286375" cy="403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</a:rPr>
              <a:t>Een </a:t>
            </a:r>
            <a:r>
              <a:rPr lang="nl-NL" b="1" dirty="0" err="1">
                <a:solidFill>
                  <a:srgbClr val="DAFFDE"/>
                </a:solidFill>
              </a:rPr>
              <a:t>GraphQL</a:t>
            </a:r>
            <a:r>
              <a:rPr lang="nl-NL" b="1" dirty="0">
                <a:solidFill>
                  <a:srgbClr val="DAFFDE"/>
                </a:solidFill>
              </a:rPr>
              <a:t> schema is ideale context voor een LLM.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Geef een LLM een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GraphQL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query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en het kan precies het soort informatie ophalen dat het nodig heeft.</a:t>
            </a:r>
          </a:p>
          <a:p>
            <a:pPr lvl="0">
              <a:lnSpc>
                <a:spcPct val="144941"/>
              </a:lnSpc>
            </a:pPr>
            <a:endParaRPr lang="nl-NL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Ontdekken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van informatie is veel gemakkelijker dan bij REST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API’s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‘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all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over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place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’</a:t>
            </a:r>
          </a:p>
          <a:p>
            <a:pPr lvl="0">
              <a:lnSpc>
                <a:spcPct val="144941"/>
              </a:lnSpc>
            </a:pPr>
            <a:endParaRPr lang="nl-NL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Reflectie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het schema </a:t>
            </a:r>
            <a:r>
              <a:rPr lang="nl-NL" b="1" i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zelf 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is ook zeer waardevolle informatie</a:t>
            </a:r>
          </a:p>
          <a:p>
            <a:pPr lvl="0">
              <a:lnSpc>
                <a:spcPct val="144941"/>
              </a:lnSpc>
            </a:pPr>
            <a:endParaRPr lang="nl-NL" b="1" i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Tekortkoming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delen van een schema zijn nog niet op te halen. Dit is lastig voor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LLM’s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omdat ze een beperkte geheugengrootte voor context bezitten.</a:t>
            </a:r>
            <a:endParaRPr lang="nl-NL" b="1" i="1" dirty="0">
              <a:solidFill>
                <a:srgbClr val="DAFFDE"/>
              </a:solidFill>
            </a:endParaRPr>
          </a:p>
        </p:txBody>
      </p:sp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 sz="2850" b="1" dirty="0">
              <a:solidFill>
                <a:srgbClr val="DEFF9A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1CD933CB-4329-A685-7346-216EF8A05F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754" y="123127"/>
            <a:ext cx="896746" cy="8967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362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Alice Roquette (TomTom)</a:t>
            </a:r>
            <a:endParaRPr lang="en-US" sz="1600" dirty="0"/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Uitgebreide discussie en 1 op 1 gesprek over API-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governance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, gateways en complexe re-engineering binnen een platform-omgeving.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Platform engineering is de lijm tussen de technische architectuur en user experience.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Gameification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om dingen tastbaar te maken.</a:t>
            </a:r>
          </a:p>
          <a:p>
            <a:pPr lvl="0">
              <a:lnSpc>
                <a:spcPct val="144941"/>
              </a:lnSpc>
            </a:pPr>
            <a:endParaRPr lang="nl-NL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Er is een interessante middenweg tussen top-down en bottom-up mogelijk: een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regisserend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midden-team!</a:t>
            </a:r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‘Platform Engineering’ 2026</a:t>
            </a:r>
            <a:endParaRPr dirty="0"/>
          </a:p>
        </p:txBody>
      </p:sp>
      <p:sp>
        <p:nvSpPr>
          <p:cNvPr id="2" name="Google Shape;243;p25">
            <a:extLst>
              <a:ext uri="{FF2B5EF4-FFF2-40B4-BE49-F238E27FC236}">
                <a16:creationId xmlns:a16="http://schemas.microsoft.com/office/drawing/2014/main" id="{9441721B-8795-E451-A653-4F89428C2568}"/>
              </a:ext>
            </a:extLst>
          </p:cNvPr>
          <p:cNvSpPr txBox="1"/>
          <p:nvPr/>
        </p:nvSpPr>
        <p:spPr>
          <a:xfrm>
            <a:off x="6486525" y="1485900"/>
            <a:ext cx="5050631" cy="237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 DevOps AI Chatroom</a:t>
            </a:r>
            <a:endParaRPr lang="en-US" sz="1600" dirty="0"/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Een bijzonder initiatief van jonge engineers: een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discord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-chatroom waar teams samen AI-prompts sturen en de complete prompt-historie opslaan.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Waarom?? De herontdekking van specificatie en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requirements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? Maar dan zonder structuur… :-/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571500" y="1703413"/>
            <a:ext cx="4953000" cy="366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Lukasz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Gornicki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(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AsyncAPI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Maintainer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 omhulling telt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Lukasz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benadrukte dat het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payload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-schema zelf secundair is;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AsyncAPI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definieert de interactie en kanalen (Kafka, MQTT).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Consistentie voor Events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Brengt dezelfde structuur en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developer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experience naar event-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driven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systemen als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OpenAPI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deed voor REST.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 err="1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Tooling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Ecosysteem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Snelle groei in open-source code-generatoren en validatie-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pipelines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.</a:t>
            </a:r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5;p24">
            <a:extLst>
              <a:ext uri="{FF2B5EF4-FFF2-40B4-BE49-F238E27FC236}">
                <a16:creationId xmlns:a16="http://schemas.microsoft.com/office/drawing/2014/main" id="{DC2A9673-FFF5-F67D-807D-68093BC560BE}"/>
              </a:ext>
            </a:extLst>
          </p:cNvPr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</a:t>
            </a:r>
            <a:r>
              <a:rPr lang="en-US" sz="285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Event-</a:t>
            </a:r>
            <a:r>
              <a:rPr lang="en-US" sz="285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Sturing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1409700"/>
            <a:ext cx="5286375" cy="213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Interactieve AI assistent voor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AsyncAPI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Laagdrempelig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Beantwoordt vragen over de specificatie, concepten en protocollen direct vanuit de officiële documentatie.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→ </a:t>
            </a:r>
            <a:r>
              <a:rPr lang="nl-NL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Echte passie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: "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AsyncAPI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is built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by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people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with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passion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, </a:t>
            </a:r>
            <a:r>
              <a:rPr lang="nl-NL" b="1" dirty="0" err="1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not</a:t>
            </a:r>
            <a:r>
              <a:rPr lang="nl-NL" b="1" dirty="0">
                <a:solidFill>
                  <a:srgbClr val="DAFFDE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large corporate funding."</a:t>
            </a:r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AI Interface</a:t>
            </a:r>
            <a:endParaRPr/>
          </a:p>
        </p:txBody>
      </p:sp>
      <p:sp>
        <p:nvSpPr>
          <p:cNvPr id="2" name="Tekstballon: rechthoek met afgeronde hoeken 1">
            <a:extLst>
              <a:ext uri="{FF2B5EF4-FFF2-40B4-BE49-F238E27FC236}">
                <a16:creationId xmlns:a16="http://schemas.microsoft.com/office/drawing/2014/main" id="{19DE7F86-DE26-A491-D007-C5BF1404AE7A}"/>
              </a:ext>
            </a:extLst>
          </p:cNvPr>
          <p:cNvSpPr/>
          <p:nvPr/>
        </p:nvSpPr>
        <p:spPr>
          <a:xfrm>
            <a:off x="6245606" y="291679"/>
            <a:ext cx="3371469" cy="663794"/>
          </a:xfrm>
          <a:prstGeom prst="wedgeRoundRectCallout">
            <a:avLst>
              <a:gd name="adj1" fmla="val -24159"/>
              <a:gd name="adj2" fmla="val 92463"/>
              <a:gd name="adj3" fmla="val 16667"/>
            </a:avLst>
          </a:prstGeom>
          <a:solidFill>
            <a:srgbClr val="D0AF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askasyncapi.brainfart.dev</a:t>
            </a:r>
            <a:endParaRPr lang="en-NL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307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nl-NL" sz="2850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 lang="nl-NL" sz="3200" dirty="0"/>
          </a:p>
        </p:txBody>
      </p:sp>
      <p:sp>
        <p:nvSpPr>
          <p:cNvPr id="285" name="Google Shape;285;p28"/>
          <p:cNvSpPr txBox="1"/>
          <p:nvPr/>
        </p:nvSpPr>
        <p:spPr>
          <a:xfrm>
            <a:off x="1123950" y="5933396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— Paneldiscussie met Mark Boyd, Erik Wilde, Kristen Womack &amp; Alice Roquette</a:t>
            </a:r>
          </a:p>
        </p:txBody>
      </p:sp>
      <p:sp>
        <p:nvSpPr>
          <p:cNvPr id="286" name="Google Shape;286;p28"/>
          <p:cNvSpPr txBox="1"/>
          <p:nvPr/>
        </p:nvSpPr>
        <p:spPr>
          <a:xfrm>
            <a:off x="933450" y="280064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53750" y="514320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295275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Toekomst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van </a:t>
            </a:r>
            <a:r>
              <a:rPr lang="en-US" sz="285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Software</a:t>
            </a:r>
            <a:endParaRPr sz="2850" b="1" dirty="0">
              <a:solidFill>
                <a:srgbClr val="DEFF9A"/>
              </a:solidFill>
              <a:latin typeface="Urbanist"/>
              <a:ea typeface="Urbanist"/>
              <a:cs typeface="Urbani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Vragen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&amp; </a:t>
            </a: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 dirty="0"/>
          </a:p>
        </p:txBody>
      </p:sp>
      <p:sp>
        <p:nvSpPr>
          <p:cNvPr id="295" name="Google Shape;295;p29"/>
          <p:cNvSpPr txBox="1"/>
          <p:nvPr/>
        </p:nvSpPr>
        <p:spPr>
          <a:xfrm>
            <a:off x="1333500" y="2930425"/>
            <a:ext cx="9525000" cy="80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Hoe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vertalen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deze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lessen over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menselijke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regie, AI-mocking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platform-governance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onze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eigen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ontwerpen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  <p:sp>
        <p:nvSpPr>
          <p:cNvPr id="296" name="Google Shape;296;p29"/>
          <p:cNvSpPr txBox="1"/>
          <p:nvPr/>
        </p:nvSpPr>
        <p:spPr>
          <a:xfrm>
            <a:off x="1333500" y="3974306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 voor jullie aandacht en bijdrage!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1069</Words>
  <Application>Microsoft Office PowerPoint</Application>
  <PresentationFormat>Breedbeeld</PresentationFormat>
  <Paragraphs>123</Paragraphs>
  <Slides>17</Slides>
  <Notes>17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Mark Westbroek</cp:lastModifiedBy>
  <cp:revision>12</cp:revision>
  <dcterms:modified xsi:type="dcterms:W3CDTF">2026-06-15T22:43:01Z</dcterms:modified>
</cp:coreProperties>
</file>