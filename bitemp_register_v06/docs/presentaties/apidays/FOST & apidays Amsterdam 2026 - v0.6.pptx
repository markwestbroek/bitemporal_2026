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embeddedFontLst>
    <p:embeddedFont>
      <p:font typeface="Urbanist" panose="020B0604020202020204" charset="0"/>
      <p:regular r:id="rId20"/>
      <p:bold r:id="rId21"/>
      <p:italic r:id="rId22"/>
      <p:boldItalic r:id="rId23"/>
    </p:embeddedFont>
    <p:embeddedFont>
      <p:font typeface="Urbanist Medium" panose="020B0604020202020204" charset="0"/>
      <p:regular r:id="rId24"/>
      <p:bold r:id="rId25"/>
      <p:italic r:id="rId26"/>
      <p:boldItalic r:id="rId27"/>
    </p:embeddedFont>
    <p:embeddedFont>
      <p:font typeface="Urbanist SemiBold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AFDA"/>
    <a:srgbClr val="DEFF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e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5.jpe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6.jp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160383" y="2456110"/>
            <a:ext cx="9871233" cy="812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FOST &amp; </a:t>
            </a:r>
            <a:r>
              <a:rPr lang="en-US" sz="480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apidays</a:t>
            </a:r>
            <a:r>
              <a:rPr lang="en-US" sz="480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48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2026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1395412" y="3269456"/>
            <a:ext cx="9401175" cy="331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Persoonlijke Terugblik, Workshops &amp; Core Takeaways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95412" y="3981896"/>
            <a:ext cx="9401175" cy="248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9 - 10 juni 2026 • Amsterdam, Nederland</a:t>
            </a:r>
            <a:endParaRPr/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76167781-CBD4-A12F-78EA-7C72BA73E9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17" y="835286"/>
            <a:ext cx="2371429" cy="1038095"/>
          </a:xfrm>
          <a:prstGeom prst="rect">
            <a:avLst/>
          </a:prstGeom>
        </p:spPr>
      </p:pic>
      <p:sp>
        <p:nvSpPr>
          <p:cNvPr id="4" name="Tekstballon: rechthoek met afgeronde hoeken 3">
            <a:extLst>
              <a:ext uri="{FF2B5EF4-FFF2-40B4-BE49-F238E27FC236}">
                <a16:creationId xmlns:a16="http://schemas.microsoft.com/office/drawing/2014/main" id="{54B4BE11-0A9F-CF7A-DD90-A89C3C392282}"/>
              </a:ext>
            </a:extLst>
          </p:cNvPr>
          <p:cNvSpPr/>
          <p:nvPr/>
        </p:nvSpPr>
        <p:spPr>
          <a:xfrm>
            <a:off x="539496" y="3846389"/>
            <a:ext cx="2569464" cy="1038095"/>
          </a:xfrm>
          <a:prstGeom prst="wedgeRoundRectCallout">
            <a:avLst>
              <a:gd name="adj1" fmla="val 47789"/>
              <a:gd name="adj2" fmla="val -121821"/>
              <a:gd name="adj3" fmla="val 16667"/>
            </a:avLst>
          </a:prstGeom>
          <a:solidFill>
            <a:srgbClr val="DEFF9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2000" b="1" dirty="0">
                <a:solidFill>
                  <a:schemeClr val="tx1"/>
                </a:solidFill>
                <a:latin typeface="Aptos" panose="020B0004020202020204" pitchFamily="34" charset="0"/>
              </a:rPr>
              <a:t>Future Of Software Technologies </a:t>
            </a:r>
            <a:endParaRPr lang="en-NL" sz="2000" dirty="0">
              <a:solidFill>
                <a:schemeClr val="tx1"/>
              </a:solidFill>
              <a:latin typeface="Aptos" panose="020B0004020202020204" pitchFamily="34" charset="0"/>
            </a:endParaRPr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9F5FD397-EF49-76E5-C6B0-447F80E847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788" y="641894"/>
            <a:ext cx="2715460" cy="1241743"/>
          </a:xfrm>
          <a:prstGeom prst="rect">
            <a:avLst/>
          </a:prstGeom>
        </p:spPr>
      </p:pic>
      <p:pic>
        <p:nvPicPr>
          <p:cNvPr id="8" name="Afbeelding 7" descr="What exactly is GraphQL? - everyday.codes">
            <a:extLst>
              <a:ext uri="{FF2B5EF4-FFF2-40B4-BE49-F238E27FC236}">
                <a16:creationId xmlns:a16="http://schemas.microsoft.com/office/drawing/2014/main" id="{AAF014E2-2E5E-E135-CEE4-7EF44EA03D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4090" y="588724"/>
            <a:ext cx="2831211" cy="14863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/>
          <p:nvPr/>
        </p:nvSpPr>
        <p:spPr>
          <a:xfrm>
            <a:off x="5524500" y="2797522"/>
            <a:ext cx="1143000" cy="381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1865471" y="3121372"/>
            <a:ext cx="8461057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Dag 1: </a:t>
            </a:r>
            <a:r>
              <a:rPr lang="en-US" sz="42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Architectuur &amp; Governance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2286000" y="3759547"/>
            <a:ext cx="7620000" cy="710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Van ad-hoc API-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ontwerp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naar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geintegreerde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API-platforms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o.b.v.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nationale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wereldwijde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65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standaarden</a:t>
            </a:r>
            <a:r>
              <a:rPr lang="en-US" sz="165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/>
        </p:nvSpPr>
        <p:spPr>
          <a:xfrm>
            <a:off x="589788" y="1273905"/>
            <a:ext cx="4953000" cy="34530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Jean-Baptiste Kempf (VLC):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→ </a:t>
            </a:r>
            <a:r>
              <a:rPr lang="en-US" b="1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Propriëtaire</a:t>
            </a:r>
            <a:r>
              <a:rPr lang="en-US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1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kosten</a:t>
            </a:r>
            <a:r>
              <a:rPr lang="en-US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Europa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spendeert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momenteel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miljarden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aan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Amerikaanse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licenties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closed-source software</a:t>
            </a:r>
          </a:p>
          <a:p>
            <a:pPr lvl="0">
              <a:lnSpc>
                <a:spcPct val="144941"/>
              </a:lnSpc>
            </a:pPr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>
              <a:lnSpc>
                <a:spcPct val="144941"/>
              </a:lnSpc>
            </a:pP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→ </a:t>
            </a:r>
            <a:r>
              <a:rPr lang="nl-NL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Investering in Open Source:</a:t>
            </a:r>
            <a:r>
              <a:rPr lang="nl-NL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Besteed dit budget direct aan open source om onszelf digitaal en strategisch te versterken.</a:t>
            </a:r>
            <a:endParaRPr lang="nl-NL" dirty="0"/>
          </a:p>
          <a:p>
            <a:pPr lvl="0">
              <a:lnSpc>
                <a:spcPct val="144941"/>
              </a:lnSpc>
            </a:pPr>
            <a:endParaRPr lang="en-GB" dirty="0"/>
          </a:p>
          <a:p>
            <a:pPr>
              <a:lnSpc>
                <a:spcPct val="144941"/>
              </a:lnSpc>
            </a:pP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→ </a:t>
            </a:r>
            <a:r>
              <a:rPr lang="nl-NL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Geen afhankelijkheid:</a:t>
            </a:r>
            <a:r>
              <a:rPr lang="nl-NL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Een structurele verschuiving elimineert </a:t>
            </a:r>
            <a:r>
              <a:rPr lang="nl-NL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vendor</a:t>
            </a:r>
            <a:r>
              <a:rPr lang="nl-NL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nl-NL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lock</a:t>
            </a:r>
            <a:r>
              <a:rPr lang="nl-NL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-ins en bouwt autonome, Europese capaciteit.</a:t>
            </a:r>
            <a:endParaRPr lang="nl-NL" dirty="0"/>
          </a:p>
        </p:txBody>
      </p:sp>
      <p:pic>
        <p:nvPicPr>
          <p:cNvPr id="109" name="Google Shape;109;p15"/>
          <p:cNvPicPr preferRelativeResize="0"/>
          <p:nvPr/>
        </p:nvPicPr>
        <p:blipFill>
          <a:blip r:embed="rId3">
            <a:alphaModFix/>
          </a:blip>
          <a:srcRect/>
          <a:stretch/>
        </p:blipFill>
        <p:spPr>
          <a:xfrm>
            <a:off x="5934075" y="935980"/>
            <a:ext cx="6096000" cy="491995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24;p16">
            <a:extLst>
              <a:ext uri="{FF2B5EF4-FFF2-40B4-BE49-F238E27FC236}">
                <a16:creationId xmlns:a16="http://schemas.microsoft.com/office/drawing/2014/main" id="{F340A66C-688D-F213-33B0-E7AA7172013E}"/>
              </a:ext>
            </a:extLst>
          </p:cNvPr>
          <p:cNvSpPr txBox="1"/>
          <p:nvPr/>
        </p:nvSpPr>
        <p:spPr>
          <a:xfrm>
            <a:off x="571499" y="571500"/>
            <a:ext cx="11458575" cy="654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85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Europese</a:t>
            </a:r>
            <a:r>
              <a:rPr lang="en-US" sz="285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2850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Soevereiniteit</a:t>
            </a:r>
            <a:endParaRPr lang="en-US" sz="32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247775"/>
            <a:ext cx="5286375" cy="36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6343650" y="1534939"/>
            <a:ext cx="5267325" cy="3045172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6"/>
          <p:cNvSpPr txBox="1"/>
          <p:nvPr/>
        </p:nvSpPr>
        <p:spPr>
          <a:xfrm>
            <a:off x="571500" y="1247775"/>
            <a:ext cx="5380862" cy="3079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4941"/>
              </a:lnSpc>
            </a:pPr>
            <a:r>
              <a:rPr lang="nl-NL" sz="1600" b="1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Gedragsverandering zonder weerstand (Kin Lane):</a:t>
            </a:r>
            <a:endParaRPr lang="nl-NL" sz="1600" dirty="0"/>
          </a:p>
          <a:p>
            <a:pPr lvl="0">
              <a:lnSpc>
                <a:spcPct val="144941"/>
              </a:lnSpc>
            </a:pPr>
            <a:endParaRPr lang="en-US" sz="12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→ </a:t>
            </a:r>
            <a:r>
              <a:rPr lang="en-US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Respecteer</a:t>
            </a:r>
            <a:r>
              <a:rPr lang="en-US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1" i="0" u="none" strike="noStrike" cap="none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gewoontes</a:t>
            </a:r>
            <a:r>
              <a:rPr lang="en-US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Ontwikkelaars</a:t>
            </a:r>
            <a:r>
              <a:rPr lang="en-US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veranderen</a:t>
            </a:r>
            <a:r>
              <a:rPr lang="en-US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hun</a:t>
            </a:r>
            <a:r>
              <a:rPr lang="en-US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workflow </a:t>
            </a:r>
            <a:r>
              <a:rPr lang="en-US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niet</a:t>
            </a:r>
            <a:r>
              <a:rPr lang="en-US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zomaar</a:t>
            </a:r>
            <a:r>
              <a:rPr lang="en-US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 Pas governance toe </a:t>
            </a:r>
            <a:r>
              <a:rPr lang="en-US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waar</a:t>
            </a:r>
            <a:r>
              <a:rPr lang="en-US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ze al </a:t>
            </a:r>
            <a:r>
              <a:rPr lang="en-US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werken</a:t>
            </a:r>
            <a:r>
              <a:rPr lang="en-US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</a:p>
          <a:p>
            <a:pPr lvl="0">
              <a:lnSpc>
                <a:spcPct val="144941"/>
              </a:lnSpc>
            </a:pPr>
            <a:endParaRPr lang="en-US" sz="1200" b="0" i="0" u="none" strike="noStrike" cap="none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→ </a:t>
            </a:r>
            <a:r>
              <a:rPr lang="en-US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Stap 1 - Discover: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Breng in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kaart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wat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daadwerkelijk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draait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. Bouw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een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index, model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actuele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landkaart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van je API’s</a:t>
            </a:r>
          </a:p>
          <a:p>
            <a:pPr lvl="0">
              <a:lnSpc>
                <a:spcPct val="144941"/>
              </a:lnSpc>
            </a:pPr>
            <a:endParaRPr lang="en-US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>
              <a:lnSpc>
                <a:spcPct val="144941"/>
              </a:lnSpc>
            </a:pP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→  </a:t>
            </a:r>
            <a:r>
              <a:rPr lang="en-US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Nederlandse </a:t>
            </a:r>
            <a:r>
              <a:rPr lang="en-US" b="1" dirty="0" err="1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complimenten</a:t>
            </a:r>
            <a:r>
              <a:rPr lang="en-US" b="1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Kin (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voormalig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Obama-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adviseur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)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prees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de Nederlandse API-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strategie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expliciet</a:t>
            </a:r>
            <a:r>
              <a:rPr lang="en-US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!.</a:t>
            </a:r>
            <a:endParaRPr lang="en-US" dirty="0"/>
          </a:p>
        </p:txBody>
      </p:sp>
      <p:sp>
        <p:nvSpPr>
          <p:cNvPr id="124" name="Google Shape;124;p16"/>
          <p:cNvSpPr txBox="1"/>
          <p:nvPr/>
        </p:nvSpPr>
        <p:spPr>
          <a:xfrm>
            <a:off x="571500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Governance </a:t>
            </a:r>
            <a:r>
              <a:rPr lang="en-US" sz="285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gaat</a:t>
            </a: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over </a:t>
            </a:r>
            <a:r>
              <a:rPr lang="en-US" sz="285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Mensen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247775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7"/>
          <p:cNvSpPr txBox="1"/>
          <p:nvPr/>
        </p:nvSpPr>
        <p:spPr>
          <a:xfrm>
            <a:off x="571500" y="1409700"/>
            <a:ext cx="5286375" cy="3570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4941"/>
              </a:lnSpc>
            </a:pPr>
            <a:r>
              <a:rPr lang="nl-NL" sz="1600" b="1" dirty="0">
                <a:solidFill>
                  <a:schemeClr val="bg1"/>
                </a:solidFill>
              </a:rPr>
              <a:t>1. een gateway/tussenlaag (</a:t>
            </a:r>
            <a:r>
              <a:rPr lang="nl-NL" sz="1600" b="1" dirty="0" err="1">
                <a:solidFill>
                  <a:schemeClr val="bg1"/>
                </a:solidFill>
              </a:rPr>
              <a:t>KrakenD</a:t>
            </a:r>
            <a:r>
              <a:rPr lang="nl-NL" sz="1600" b="1" dirty="0">
                <a:solidFill>
                  <a:schemeClr val="bg1"/>
                </a:solidFill>
              </a:rPr>
              <a:t>)</a:t>
            </a:r>
          </a:p>
          <a:p>
            <a:pPr lvl="0">
              <a:lnSpc>
                <a:spcPct val="144941"/>
              </a:lnSpc>
            </a:pPr>
            <a:endParaRPr lang="nl-NL" sz="1600" b="1" dirty="0">
              <a:solidFill>
                <a:schemeClr val="bg1"/>
              </a:solidFill>
            </a:endParaRPr>
          </a:p>
          <a:p>
            <a:pPr lvl="0">
              <a:lnSpc>
                <a:spcPct val="144941"/>
              </a:lnSpc>
            </a:pP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r>
              <a:rPr lang="nl-NL" b="1" dirty="0">
                <a:solidFill>
                  <a:srgbClr val="DAFFDE"/>
                </a:solidFill>
              </a:rPr>
              <a:t> </a:t>
            </a:r>
            <a:r>
              <a:rPr lang="nl-NL" b="1" dirty="0">
                <a:solidFill>
                  <a:schemeClr val="bg1"/>
                </a:solidFill>
              </a:rPr>
              <a:t>Ontkoppeling</a:t>
            </a:r>
            <a:r>
              <a:rPr lang="nl-NL" b="1" dirty="0">
                <a:solidFill>
                  <a:srgbClr val="DAFFDE"/>
                </a:solidFill>
              </a:rPr>
              <a:t>: Transformeer </a:t>
            </a:r>
            <a:r>
              <a:rPr lang="nl-NL" b="1" dirty="0" err="1">
                <a:solidFill>
                  <a:srgbClr val="DAFFDE"/>
                </a:solidFill>
              </a:rPr>
              <a:t>payloads</a:t>
            </a:r>
            <a:r>
              <a:rPr lang="nl-NL" b="1" dirty="0">
                <a:solidFill>
                  <a:srgbClr val="DAFFDE"/>
                </a:solidFill>
              </a:rPr>
              <a:t>, pas </a:t>
            </a:r>
            <a:r>
              <a:rPr lang="nl-NL" b="1" dirty="0" err="1">
                <a:solidFill>
                  <a:srgbClr val="DAFFDE"/>
                </a:solidFill>
              </a:rPr>
              <a:t>rate-limiting</a:t>
            </a:r>
            <a:r>
              <a:rPr lang="nl-NL" b="1" dirty="0">
                <a:solidFill>
                  <a:srgbClr val="DAFFDE"/>
                </a:solidFill>
              </a:rPr>
              <a:t> toe en valideer autorisatie direct in de gateway-laag.</a:t>
            </a:r>
          </a:p>
          <a:p>
            <a:pPr lvl="0">
              <a:lnSpc>
                <a:spcPct val="144941"/>
              </a:lnSpc>
            </a:pP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r>
              <a:rPr lang="nl-NL" b="1" dirty="0">
                <a:solidFill>
                  <a:srgbClr val="DAFFDE"/>
                </a:solidFill>
              </a:rPr>
              <a:t> </a:t>
            </a:r>
            <a:r>
              <a:rPr lang="nl-NL" b="1" dirty="0">
                <a:solidFill>
                  <a:schemeClr val="bg1"/>
                </a:solidFill>
              </a:rPr>
              <a:t>Open Source</a:t>
            </a:r>
            <a:r>
              <a:rPr lang="nl-NL" b="1" dirty="0">
                <a:solidFill>
                  <a:srgbClr val="DAFFDE"/>
                </a:solidFill>
              </a:rPr>
              <a:t>: Een krachtige engine om calls on-</a:t>
            </a:r>
            <a:r>
              <a:rPr lang="nl-NL" b="1" dirty="0" err="1">
                <a:solidFill>
                  <a:srgbClr val="DAFFDE"/>
                </a:solidFill>
              </a:rPr>
              <a:t>the</a:t>
            </a:r>
            <a:r>
              <a:rPr lang="nl-NL" b="1" dirty="0">
                <a:solidFill>
                  <a:srgbClr val="DAFFDE"/>
                </a:solidFill>
              </a:rPr>
              <a:t>-</a:t>
            </a:r>
            <a:r>
              <a:rPr lang="nl-NL" b="1" dirty="0" err="1">
                <a:solidFill>
                  <a:srgbClr val="DAFFDE"/>
                </a:solidFill>
              </a:rPr>
              <a:t>fly</a:t>
            </a:r>
            <a:r>
              <a:rPr lang="nl-NL" b="1" dirty="0">
                <a:solidFill>
                  <a:srgbClr val="DAFFDE"/>
                </a:solidFill>
              </a:rPr>
              <a:t> en direct in de gateway te manipuleren.</a:t>
            </a:r>
          </a:p>
          <a:p>
            <a:pPr lvl="0">
              <a:lnSpc>
                <a:spcPct val="144941"/>
              </a:lnSpc>
            </a:pP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→</a:t>
            </a:r>
            <a:r>
              <a:rPr lang="nl-NL" b="1" dirty="0">
                <a:solidFill>
                  <a:srgbClr val="DAFFDE"/>
                </a:solidFill>
              </a:rPr>
              <a:t> </a:t>
            </a:r>
            <a:r>
              <a:rPr lang="nl-NL" b="1" dirty="0">
                <a:solidFill>
                  <a:schemeClr val="bg1"/>
                </a:solidFill>
              </a:rPr>
              <a:t>Multi-Backend </a:t>
            </a:r>
            <a:r>
              <a:rPr lang="nl-NL" b="1" dirty="0" err="1">
                <a:solidFill>
                  <a:schemeClr val="bg1"/>
                </a:solidFill>
              </a:rPr>
              <a:t>Aggregation</a:t>
            </a:r>
            <a:r>
              <a:rPr lang="nl-NL" b="1" dirty="0">
                <a:solidFill>
                  <a:srgbClr val="DAFFDE"/>
                </a:solidFill>
              </a:rPr>
              <a:t>: Voeg meerdere losse </a:t>
            </a:r>
            <a:r>
              <a:rPr lang="nl-NL" b="1" dirty="0" err="1">
                <a:solidFill>
                  <a:srgbClr val="DAFFDE"/>
                </a:solidFill>
              </a:rPr>
              <a:t>endpoints</a:t>
            </a:r>
            <a:r>
              <a:rPr lang="nl-NL" b="1" dirty="0">
                <a:solidFill>
                  <a:srgbClr val="DAFFDE"/>
                </a:solidFill>
              </a:rPr>
              <a:t> samen tot één beheersbaar en consistent interface.</a:t>
            </a:r>
          </a:p>
          <a:p>
            <a:pPr lvl="0">
              <a:lnSpc>
                <a:spcPct val="144941"/>
              </a:lnSpc>
            </a:pPr>
            <a:endParaRPr lang="nl-NL" b="1" dirty="0">
              <a:solidFill>
                <a:srgbClr val="DAFFDE"/>
              </a:solidFill>
            </a:endParaRPr>
          </a:p>
          <a:p>
            <a:pPr lvl="0">
              <a:lnSpc>
                <a:spcPct val="144941"/>
              </a:lnSpc>
            </a:pPr>
            <a:r>
              <a:rPr lang="nl-NL" sz="1600" b="1" dirty="0">
                <a:solidFill>
                  <a:schemeClr val="bg1"/>
                </a:solidFill>
              </a:rPr>
              <a:t>2. Een eigen API-laag (vgl. </a:t>
            </a:r>
            <a:r>
              <a:rPr lang="nl-NL" sz="1600" b="1" dirty="0" err="1">
                <a:solidFill>
                  <a:schemeClr val="bg1"/>
                </a:solidFill>
              </a:rPr>
              <a:t>process</a:t>
            </a:r>
            <a:r>
              <a:rPr lang="nl-NL" sz="1600" b="1" dirty="0">
                <a:solidFill>
                  <a:schemeClr val="bg1"/>
                </a:solidFill>
              </a:rPr>
              <a:t> </a:t>
            </a:r>
            <a:r>
              <a:rPr lang="nl-NL" sz="1600" b="1" dirty="0" err="1">
                <a:solidFill>
                  <a:schemeClr val="bg1"/>
                </a:solidFill>
              </a:rPr>
              <a:t>API’s</a:t>
            </a:r>
            <a:r>
              <a:rPr lang="nl-NL" sz="1600" b="1" dirty="0">
                <a:solidFill>
                  <a:schemeClr val="bg1"/>
                </a:solidFill>
              </a:rPr>
              <a:t>, </a:t>
            </a:r>
            <a:r>
              <a:rPr lang="nl-NL" sz="1600" b="1" dirty="0" err="1">
                <a:solidFill>
                  <a:schemeClr val="bg1"/>
                </a:solidFill>
              </a:rPr>
              <a:t>GraphQL</a:t>
            </a:r>
            <a:r>
              <a:rPr lang="nl-NL" sz="1600" b="1" dirty="0">
                <a:solidFill>
                  <a:schemeClr val="bg1"/>
                </a:solidFill>
              </a:rPr>
              <a:t>)</a:t>
            </a:r>
          </a:p>
          <a:p>
            <a:pPr>
              <a:lnSpc>
                <a:spcPct val="144941"/>
              </a:lnSpc>
            </a:pP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→ 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Niet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uitgebreid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besproken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 (elevator pitch). Heb contact.</a:t>
            </a:r>
            <a:endParaRPr lang="nl-NL" sz="1600" b="1" dirty="0">
              <a:solidFill>
                <a:schemeClr val="bg1"/>
              </a:solidFill>
            </a:endParaRPr>
          </a:p>
        </p:txBody>
      </p:sp>
      <p:pic>
        <p:nvPicPr>
          <p:cNvPr id="132" name="Google Shape;132;p17"/>
          <p:cNvPicPr preferRelativeResize="0"/>
          <p:nvPr/>
        </p:nvPicPr>
        <p:blipFill>
          <a:blip r:embed="rId5">
            <a:alphaModFix/>
          </a:blip>
          <a:srcRect/>
          <a:stretch/>
        </p:blipFill>
        <p:spPr>
          <a:xfrm>
            <a:off x="6366221" y="1257300"/>
            <a:ext cx="5222182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7"/>
          <p:cNvSpPr txBox="1"/>
          <p:nvPr/>
        </p:nvSpPr>
        <p:spPr>
          <a:xfrm>
            <a:off x="571500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De </a:t>
            </a:r>
            <a:r>
              <a:rPr lang="en-US" sz="2850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transformatielaag</a:t>
            </a: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(</a:t>
            </a:r>
            <a:r>
              <a:rPr lang="en-US" sz="285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opties</a:t>
            </a: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)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247775"/>
            <a:ext cx="5286375" cy="503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247775"/>
            <a:ext cx="5286375" cy="503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 txBox="1"/>
          <p:nvPr/>
        </p:nvSpPr>
        <p:spPr>
          <a:xfrm>
            <a:off x="809625" y="1485900"/>
            <a:ext cx="5050631" cy="25437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NL" sz="1600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Het goede initiatief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Dimitri van Hees (</a:t>
            </a:r>
            <a:r>
              <a:rPr lang="nl-NL" b="1" dirty="0" err="1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Geonovum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) presenteerde een register om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OpenAPI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- en JSON-schema's centraal te ontsluiten voor de overheid.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Dit stimuleert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hergebruik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en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standaardisatie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van dataspecificaties over overheidsgrenzen heen.</a:t>
            </a:r>
          </a:p>
        </p:txBody>
      </p:sp>
      <p:sp>
        <p:nvSpPr>
          <p:cNvPr id="153" name="Google Shape;153;p18"/>
          <p:cNvSpPr txBox="1"/>
          <p:nvPr/>
        </p:nvSpPr>
        <p:spPr>
          <a:xfrm>
            <a:off x="571500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Het Nationale </a:t>
            </a:r>
            <a:r>
              <a:rPr lang="en-US" sz="285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Schema Register</a:t>
            </a:r>
            <a:endParaRPr sz="2850" b="1" dirty="0">
              <a:solidFill>
                <a:srgbClr val="DEFF9A"/>
              </a:solidFill>
              <a:latin typeface="Urbanist"/>
              <a:ea typeface="Urbanist"/>
              <a:cs typeface="Urbanist"/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74B184C8-391E-5C3A-DD63-24D3A3C0ED0D}"/>
              </a:ext>
            </a:extLst>
          </p:cNvPr>
          <p:cNvSpPr txBox="1"/>
          <p:nvPr/>
        </p:nvSpPr>
        <p:spPr>
          <a:xfrm>
            <a:off x="6429375" y="1485900"/>
            <a:ext cx="4648200" cy="2855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4941"/>
              </a:lnSpc>
            </a:pPr>
            <a:r>
              <a:rPr lang="en-US" sz="1600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 SemiBold"/>
              </a:rPr>
              <a:t>Kritiek</a:t>
            </a:r>
            <a:r>
              <a:rPr lang="en-US" sz="1600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 SemiBold"/>
              </a:rPr>
              <a:t>: de ‘</a:t>
            </a:r>
            <a:r>
              <a:rPr lang="en-US" sz="1600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 SemiBold"/>
              </a:rPr>
              <a:t>grabbelton</a:t>
            </a:r>
            <a:r>
              <a:rPr lang="en-US" sz="1600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  <a:sym typeface="Urbanist SemiBold"/>
              </a:rPr>
              <a:t>'</a:t>
            </a:r>
            <a:endParaRPr lang="en-US" sz="1600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</a:t>
            </a:r>
            <a:r>
              <a:rPr lang="nl-NL" b="1" dirty="0">
                <a:solidFill>
                  <a:srgbClr val="DAFFDE"/>
                </a:solidFill>
              </a:rPr>
              <a:t> Het register </a:t>
            </a:r>
            <a:r>
              <a:rPr lang="nl-NL" b="1" dirty="0">
                <a:solidFill>
                  <a:schemeClr val="bg1"/>
                </a:solidFill>
              </a:rPr>
              <a:t>mist</a:t>
            </a:r>
            <a:r>
              <a:rPr lang="nl-NL" b="1" dirty="0">
                <a:solidFill>
                  <a:srgbClr val="DAFFDE"/>
                </a:solidFill>
              </a:rPr>
              <a:t> op dit moment nog een goede </a:t>
            </a:r>
            <a:r>
              <a:rPr lang="nl-NL" b="1" dirty="0">
                <a:solidFill>
                  <a:schemeClr val="bg1"/>
                </a:solidFill>
              </a:rPr>
              <a:t>visuele representatie</a:t>
            </a:r>
            <a:r>
              <a:rPr lang="nl-NL" b="1" dirty="0">
                <a:solidFill>
                  <a:srgbClr val="DAFFDE"/>
                </a:solidFill>
              </a:rPr>
              <a:t>. Het voelt nu als een grote vergaarbak zonder heldere context.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</a:t>
            </a:r>
            <a:r>
              <a:rPr lang="nl-NL" b="1" dirty="0">
                <a:solidFill>
                  <a:srgbClr val="DAFFDE"/>
                </a:solidFill>
              </a:rPr>
              <a:t> Een kans: mijn UML/objecttypen POC in </a:t>
            </a:r>
            <a:r>
              <a:rPr lang="nl-NL" b="1" dirty="0" err="1">
                <a:solidFill>
                  <a:srgbClr val="DAFFDE"/>
                </a:solidFill>
              </a:rPr>
              <a:t>React</a:t>
            </a:r>
            <a:r>
              <a:rPr lang="nl-NL" b="1" dirty="0">
                <a:solidFill>
                  <a:srgbClr val="DAFFDE"/>
                </a:solidFill>
              </a:rPr>
              <a:t> kan hier uitstekend bij helpen om semantisch begrip visueel te maken! Ik ga Dimitri benaderen.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9"/>
          <p:cNvSpPr txBox="1"/>
          <p:nvPr/>
        </p:nvSpPr>
        <p:spPr>
          <a:xfrm>
            <a:off x="571500" y="1526381"/>
            <a:ext cx="4953000" cy="3665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NL" b="1" dirty="0">
                <a:solidFill>
                  <a:srgbClr val="DAFFDE"/>
                </a:solidFill>
              </a:rPr>
              <a:t>Roberto </a:t>
            </a:r>
            <a:r>
              <a:rPr lang="nl-NL" b="1" dirty="0" err="1">
                <a:solidFill>
                  <a:srgbClr val="DAFFDE"/>
                </a:solidFill>
              </a:rPr>
              <a:t>Polli</a:t>
            </a:r>
            <a:r>
              <a:rPr lang="nl-NL" b="1" dirty="0">
                <a:solidFill>
                  <a:srgbClr val="DAFFDE"/>
                </a:solidFill>
              </a:rPr>
              <a:t> over de Italiaanse aanpak: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</a:t>
            </a:r>
            <a:r>
              <a:rPr lang="nl-NL" b="1" dirty="0">
                <a:solidFill>
                  <a:srgbClr val="DAFFDE"/>
                </a:solidFill>
              </a:rPr>
              <a:t> </a:t>
            </a:r>
            <a:r>
              <a:rPr lang="nl-NL" b="1" dirty="0">
                <a:solidFill>
                  <a:schemeClr val="bg1"/>
                </a:solidFill>
              </a:rPr>
              <a:t>Federatieve uitdaging</a:t>
            </a:r>
            <a:r>
              <a:rPr lang="nl-NL" b="1" dirty="0">
                <a:solidFill>
                  <a:srgbClr val="DAFFDE"/>
                </a:solidFill>
              </a:rPr>
              <a:t>: Italië heeft te maken met 20 autonome regio's en meer dan 8000 gemeenten met elk eigen regels.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>
                <a:solidFill>
                  <a:schemeClr val="bg1"/>
                </a:solidFill>
              </a:rPr>
              <a:t>Sterk mandaat</a:t>
            </a:r>
            <a:r>
              <a:rPr lang="nl-NL" b="1" dirty="0">
                <a:solidFill>
                  <a:srgbClr val="DAFFDE"/>
                </a:solidFill>
              </a:rPr>
              <a:t>: Sinds 2016 heeft het Digital </a:t>
            </a:r>
            <a:r>
              <a:rPr lang="nl-NL" b="1" dirty="0" err="1">
                <a:solidFill>
                  <a:srgbClr val="DAFFDE"/>
                </a:solidFill>
              </a:rPr>
              <a:t>Transformation</a:t>
            </a:r>
            <a:r>
              <a:rPr lang="nl-NL" b="1" dirty="0">
                <a:solidFill>
                  <a:srgbClr val="DAFFDE"/>
                </a:solidFill>
              </a:rPr>
              <a:t> Team de regie strak in handen genomen vanaf de premier.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</a:t>
            </a:r>
            <a:r>
              <a:rPr lang="nl-NL" b="1" dirty="0">
                <a:solidFill>
                  <a:srgbClr val="DAFFDE"/>
                </a:solidFill>
              </a:rPr>
              <a:t> </a:t>
            </a:r>
            <a:r>
              <a:rPr lang="nl-NL" b="1" dirty="0">
                <a:solidFill>
                  <a:schemeClr val="bg1"/>
                </a:solidFill>
              </a:rPr>
              <a:t>REST-transitie</a:t>
            </a:r>
            <a:r>
              <a:rPr lang="nl-NL" b="1" dirty="0">
                <a:solidFill>
                  <a:srgbClr val="DAFFDE"/>
                </a:solidFill>
              </a:rPr>
              <a:t>: Volledige overstap van SOAP naar open standaarden en internetprotocollen voor interoperabiliteit.</a:t>
            </a:r>
          </a:p>
        </p:txBody>
      </p:sp>
      <p:pic>
        <p:nvPicPr>
          <p:cNvPr id="167" name="Google Shape;167;p19"/>
          <p:cNvPicPr preferRelativeResize="0"/>
          <p:nvPr/>
        </p:nvPicPr>
        <p:blipFill>
          <a:blip r:embed="rId4">
            <a:alphaModFix/>
          </a:blip>
          <a:srcRect/>
          <a:stretch/>
        </p:blipFill>
        <p:spPr>
          <a:xfrm>
            <a:off x="6096000" y="1833562"/>
            <a:ext cx="6096000" cy="31908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53;p18">
            <a:extLst>
              <a:ext uri="{FF2B5EF4-FFF2-40B4-BE49-F238E27FC236}">
                <a16:creationId xmlns:a16="http://schemas.microsoft.com/office/drawing/2014/main" id="{33F2579C-0CF0-5D14-94D2-C969ABC267B1}"/>
              </a:ext>
            </a:extLst>
          </p:cNvPr>
          <p:cNvSpPr txBox="1"/>
          <p:nvPr/>
        </p:nvSpPr>
        <p:spPr>
          <a:xfrm>
            <a:off x="571500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API-</a:t>
            </a:r>
            <a:r>
              <a:rPr lang="en-US" sz="285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Sturing</a:t>
            </a: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in </a:t>
            </a:r>
            <a:r>
              <a:rPr lang="en-US" sz="2850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Italië</a:t>
            </a:r>
            <a:endParaRPr lang="en-US" sz="285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247775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0"/>
          <p:cNvSpPr txBox="1"/>
          <p:nvPr/>
        </p:nvSpPr>
        <p:spPr>
          <a:xfrm>
            <a:off x="571500" y="1409700"/>
            <a:ext cx="5286375" cy="3665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NL" b="1" dirty="0">
                <a:solidFill>
                  <a:srgbClr val="DAFFDE"/>
                </a:solidFill>
              </a:rPr>
              <a:t>Strategische successen en platforms: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</a:t>
            </a:r>
            <a:r>
              <a:rPr lang="nl-NL" b="1" dirty="0">
                <a:solidFill>
                  <a:srgbClr val="DAFFDE"/>
                </a:solidFill>
              </a:rPr>
              <a:t> </a:t>
            </a:r>
            <a:r>
              <a:rPr lang="nl-NL" b="1" dirty="0">
                <a:solidFill>
                  <a:schemeClr val="bg1"/>
                </a:solidFill>
              </a:rPr>
              <a:t>Nationale registers</a:t>
            </a:r>
            <a:r>
              <a:rPr lang="nl-NL" b="1" dirty="0">
                <a:solidFill>
                  <a:srgbClr val="DAFFDE"/>
                </a:solidFill>
              </a:rPr>
              <a:t>: Succesvolle integratie via de centrale API-catalogus (api.gov.it) en schema-register.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</a:t>
            </a:r>
            <a:r>
              <a:rPr lang="nl-NL" b="1" dirty="0">
                <a:solidFill>
                  <a:srgbClr val="DAFFDE"/>
                </a:solidFill>
              </a:rPr>
              <a:t> </a:t>
            </a:r>
            <a:r>
              <a:rPr lang="nl-NL" b="1" dirty="0">
                <a:solidFill>
                  <a:schemeClr val="bg1"/>
                </a:solidFill>
              </a:rPr>
              <a:t>Mensen &amp; wetten</a:t>
            </a:r>
            <a:r>
              <a:rPr lang="nl-NL" b="1" dirty="0">
                <a:solidFill>
                  <a:srgbClr val="DAFFDE"/>
                </a:solidFill>
              </a:rPr>
              <a:t>: Je hebt niet altijd harde wetgeving nodig... tenzij het niet anders kan. Zorg voor juridische expertise in je team.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</a:t>
            </a:r>
            <a:r>
              <a:rPr lang="nl-NL" b="1" dirty="0">
                <a:solidFill>
                  <a:srgbClr val="DAFFDE"/>
                </a:solidFill>
              </a:rPr>
              <a:t> </a:t>
            </a:r>
            <a:r>
              <a:rPr lang="nl-NL" b="1" dirty="0">
                <a:solidFill>
                  <a:schemeClr val="bg1"/>
                </a:solidFill>
              </a:rPr>
              <a:t>EIF Interoperabiliteit</a:t>
            </a:r>
            <a:r>
              <a:rPr lang="nl-NL" b="1" dirty="0">
                <a:solidFill>
                  <a:srgbClr val="DAFFDE"/>
                </a:solidFill>
              </a:rPr>
              <a:t>: Strikte naleving van de Europese interoperabiliteits-architectuur voorkomt technische omwegen.</a:t>
            </a:r>
          </a:p>
        </p:txBody>
      </p:sp>
      <p:pic>
        <p:nvPicPr>
          <p:cNvPr id="175" name="Google Shape;175;p20"/>
          <p:cNvPicPr preferRelativeResize="0"/>
          <p:nvPr/>
        </p:nvPicPr>
        <p:blipFill>
          <a:blip r:embed="rId5">
            <a:alphaModFix/>
          </a:blip>
          <a:srcRect/>
          <a:stretch/>
        </p:blipFill>
        <p:spPr>
          <a:xfrm>
            <a:off x="6343650" y="1668680"/>
            <a:ext cx="5267325" cy="277769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0"/>
          <p:cNvSpPr txBox="1"/>
          <p:nvPr/>
        </p:nvSpPr>
        <p:spPr>
          <a:xfrm>
            <a:off x="571500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Lessen uit Italië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/>
          <p:nvPr/>
        </p:nvSpPr>
        <p:spPr>
          <a:xfrm>
            <a:off x="5524500" y="2797522"/>
            <a:ext cx="1143000" cy="3810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1"/>
          <p:cNvSpPr txBox="1"/>
          <p:nvPr/>
        </p:nvSpPr>
        <p:spPr>
          <a:xfrm>
            <a:off x="2505551" y="3121372"/>
            <a:ext cx="718089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Dag 2: De </a:t>
            </a:r>
            <a:r>
              <a:rPr lang="en-US" sz="4200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GraphQL</a:t>
            </a:r>
            <a:r>
              <a:rPr lang="en-US" sz="420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420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Ochtend</a:t>
            </a:r>
            <a:endParaRPr dirty="0"/>
          </a:p>
        </p:txBody>
      </p:sp>
      <p:sp>
        <p:nvSpPr>
          <p:cNvPr id="190" name="Google Shape;190;p21"/>
          <p:cNvSpPr txBox="1"/>
          <p:nvPr/>
        </p:nvSpPr>
        <p:spPr>
          <a:xfrm>
            <a:off x="2286000" y="3759547"/>
            <a:ext cx="76200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40000"/>
              </a:lnSpc>
            </a:pPr>
            <a:r>
              <a:rPr lang="nl-NL" sz="16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Mythes ontmaskerd, integratie met </a:t>
            </a:r>
            <a:r>
              <a:rPr lang="nl-NL" sz="160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LLM's</a:t>
            </a:r>
            <a:r>
              <a:rPr lang="nl-NL" sz="16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en AI-</a:t>
            </a:r>
            <a:r>
              <a:rPr lang="nl-NL" sz="160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powered</a:t>
            </a:r>
            <a:r>
              <a:rPr lang="nl-NL" sz="16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nl-NL" sz="1600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mock</a:t>
            </a:r>
            <a:r>
              <a:rPr lang="nl-NL" sz="1600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-omgevingen.</a:t>
            </a:r>
            <a:endParaRPr lang="nl-NL" sz="1600" dirty="0"/>
          </a:p>
        </p:txBody>
      </p:sp>
      <p:pic>
        <p:nvPicPr>
          <p:cNvPr id="2" name="Afbeelding 1" descr="File:GraphQL Logo.svg - Wikimedia Commons">
            <a:extLst>
              <a:ext uri="{FF2B5EF4-FFF2-40B4-BE49-F238E27FC236}">
                <a16:creationId xmlns:a16="http://schemas.microsoft.com/office/drawing/2014/main" id="{EC128A0C-09BF-92A2-F51E-DA4E43364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54" y="249285"/>
            <a:ext cx="2990960" cy="2990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247775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2"/>
          <p:cNvSpPr txBox="1"/>
          <p:nvPr/>
        </p:nvSpPr>
        <p:spPr>
          <a:xfrm>
            <a:off x="571500" y="1409700"/>
            <a:ext cx="5286375" cy="3352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Jens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Neuse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(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WunderGraph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) ontmaskert dogma's: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De </a:t>
            </a:r>
            <a:r>
              <a:rPr lang="nl-NL" b="1" dirty="0" err="1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caching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-mythe: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GraphQL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is volwassen geworden. De bewering "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GraphQL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breekt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caching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" klopt niet meer.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Gelaagde aanpak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Caching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vereist een gecoördineerde stack (Client, CDN, Gateway en Applicatie-niveau).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 err="1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Abstraction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</a:t>
            </a:r>
            <a:r>
              <a:rPr lang="nl-NL" b="1" dirty="0" err="1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Layer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GraphQL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blinkt uit als één simplistische interface voor AI-modellen en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agents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, i.p.v. honderden REST-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endpoints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.</a:t>
            </a:r>
          </a:p>
        </p:txBody>
      </p:sp>
      <p:pic>
        <p:nvPicPr>
          <p:cNvPr id="198" name="Google Shape;198;p22"/>
          <p:cNvPicPr preferRelativeResize="0"/>
          <p:nvPr/>
        </p:nvPicPr>
        <p:blipFill>
          <a:blip r:embed="rId5">
            <a:alphaModFix/>
          </a:blip>
          <a:srcRect/>
          <a:stretch/>
        </p:blipFill>
        <p:spPr>
          <a:xfrm>
            <a:off x="6343650" y="1550370"/>
            <a:ext cx="5267325" cy="3014309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2"/>
          <p:cNvSpPr txBox="1"/>
          <p:nvPr/>
        </p:nvSpPr>
        <p:spPr>
          <a:xfrm>
            <a:off x="571500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GraphQL vs REST Mythes</a:t>
            </a:r>
            <a:endParaRPr/>
          </a:p>
        </p:txBody>
      </p:sp>
      <p:pic>
        <p:nvPicPr>
          <p:cNvPr id="2" name="Afbeelding 1" descr="File:GraphQL Logo.svg - Wikimedia Commons">
            <a:extLst>
              <a:ext uri="{FF2B5EF4-FFF2-40B4-BE49-F238E27FC236}">
                <a16:creationId xmlns:a16="http://schemas.microsoft.com/office/drawing/2014/main" id="{8507208A-D237-24CA-CE5A-0D76BE3598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3754" y="123127"/>
            <a:ext cx="896746" cy="89674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247775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4"/>
          <p:cNvSpPr txBox="1"/>
          <p:nvPr/>
        </p:nvSpPr>
        <p:spPr>
          <a:xfrm>
            <a:off x="571500" y="1409700"/>
            <a:ext cx="5286375" cy="3040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Annotaties sturen de router aan: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De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@mock 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annotatie: Backend-teams annoteren velden die nog niet zijn geïmplementeerd direct in het schema.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AI-gegenereerd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De router interpreteert de annotatie en genereert realistische, domein-specifieke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mockdata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Voorbeeld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`@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mock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(source: "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llm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" hint: "Amsterdam hotel")` levert direct betekenisvolle UI-vulling op.</a:t>
            </a:r>
          </a:p>
        </p:txBody>
      </p:sp>
      <p:pic>
        <p:nvPicPr>
          <p:cNvPr id="228" name="Google Shape;228;p24"/>
          <p:cNvPicPr preferRelativeResize="0"/>
          <p:nvPr/>
        </p:nvPicPr>
        <p:blipFill>
          <a:blip r:embed="rId5">
            <a:alphaModFix/>
          </a:blip>
          <a:srcRect/>
          <a:stretch/>
        </p:blipFill>
        <p:spPr>
          <a:xfrm>
            <a:off x="6445128" y="1257300"/>
            <a:ext cx="5064369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4"/>
          <p:cNvSpPr txBox="1"/>
          <p:nvPr/>
        </p:nvSpPr>
        <p:spPr>
          <a:xfrm>
            <a:off x="571500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Mocking </a:t>
            </a:r>
            <a:r>
              <a:rPr lang="en-US" sz="285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m.b.v</a:t>
            </a: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. AI</a:t>
            </a:r>
            <a:endParaRPr dirty="0"/>
          </a:p>
        </p:txBody>
      </p:sp>
      <p:pic>
        <p:nvPicPr>
          <p:cNvPr id="2" name="Afbeelding 1" descr="File:GraphQL Logo.svg - Wikimedia Commons">
            <a:extLst>
              <a:ext uri="{FF2B5EF4-FFF2-40B4-BE49-F238E27FC236}">
                <a16:creationId xmlns:a16="http://schemas.microsoft.com/office/drawing/2014/main" id="{D2CC9E06-50FD-0907-3960-E72908686C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3754" y="123127"/>
            <a:ext cx="896746" cy="8967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247775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3"/>
          <p:cNvSpPr txBox="1"/>
          <p:nvPr/>
        </p:nvSpPr>
        <p:spPr>
          <a:xfrm>
            <a:off x="571500" y="1409700"/>
            <a:ext cx="5286375" cy="403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NL" b="1" dirty="0">
                <a:solidFill>
                  <a:srgbClr val="DAFFDE"/>
                </a:solidFill>
              </a:rPr>
              <a:t>Een </a:t>
            </a:r>
            <a:r>
              <a:rPr lang="nl-NL" b="1" dirty="0" err="1">
                <a:solidFill>
                  <a:srgbClr val="DAFFDE"/>
                </a:solidFill>
              </a:rPr>
              <a:t>GraphQL</a:t>
            </a:r>
            <a:r>
              <a:rPr lang="nl-NL" b="1" dirty="0">
                <a:solidFill>
                  <a:srgbClr val="DAFFDE"/>
                </a:solidFill>
              </a:rPr>
              <a:t> schema is ideale context voor een LLM.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Geef een LLM een </a:t>
            </a:r>
            <a:r>
              <a:rPr lang="nl-NL" b="1" dirty="0" err="1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GraphQL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query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en het kan precies het soort informatie ophalen dat het nodig heeft.</a:t>
            </a:r>
          </a:p>
          <a:p>
            <a:pPr lvl="0">
              <a:lnSpc>
                <a:spcPct val="144941"/>
              </a:lnSpc>
            </a:pPr>
            <a:endParaRPr lang="nl-NL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Ontdekken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van informatie is veel gemakkelijker dan bij REST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API’s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‘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all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over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the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place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’</a:t>
            </a:r>
          </a:p>
          <a:p>
            <a:pPr lvl="0">
              <a:lnSpc>
                <a:spcPct val="144941"/>
              </a:lnSpc>
            </a:pPr>
            <a:endParaRPr lang="nl-NL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Reflectie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het schema </a:t>
            </a:r>
            <a:r>
              <a:rPr lang="nl-NL" b="1" i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zelf 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is ook zeer waardevolle informatie</a:t>
            </a:r>
          </a:p>
          <a:p>
            <a:pPr lvl="0">
              <a:lnSpc>
                <a:spcPct val="144941"/>
              </a:lnSpc>
            </a:pPr>
            <a:endParaRPr lang="nl-NL" b="1" i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Tekortkoming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delen van een schema zijn nog niet op te halen. Dit is lastig voor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LLM’s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omdat ze een beperkte geheugengrootte voor context bezitten.</a:t>
            </a:r>
            <a:endParaRPr lang="nl-NL" b="1" i="1" dirty="0">
              <a:solidFill>
                <a:srgbClr val="DAFFDE"/>
              </a:solidFill>
            </a:endParaRPr>
          </a:p>
        </p:txBody>
      </p:sp>
      <p:pic>
        <p:nvPicPr>
          <p:cNvPr id="213" name="Google Shape;213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257300"/>
            <a:ext cx="5267325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3"/>
          <p:cNvSpPr txBox="1"/>
          <p:nvPr/>
        </p:nvSpPr>
        <p:spPr>
          <a:xfrm>
            <a:off x="571500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GraphQL</a:t>
            </a: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285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285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AI</a:t>
            </a:r>
            <a:endParaRPr sz="2850" b="1" dirty="0">
              <a:solidFill>
                <a:srgbClr val="DEFF9A"/>
              </a:solidFill>
              <a:latin typeface="Urbanist"/>
              <a:ea typeface="Urbanist"/>
              <a:cs typeface="Urbanist"/>
            </a:endParaRPr>
          </a:p>
        </p:txBody>
      </p:sp>
      <p:pic>
        <p:nvPicPr>
          <p:cNvPr id="2" name="Afbeelding 1" descr="File:GraphQL Logo.svg - Wikimedia Commons">
            <a:extLst>
              <a:ext uri="{FF2B5EF4-FFF2-40B4-BE49-F238E27FC236}">
                <a16:creationId xmlns:a16="http://schemas.microsoft.com/office/drawing/2014/main" id="{1CD933CB-4329-A685-7346-216EF8A05F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23754" y="123127"/>
            <a:ext cx="896746" cy="8967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247775"/>
            <a:ext cx="5286375" cy="503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247775"/>
            <a:ext cx="5286375" cy="5038725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5"/>
          <p:cNvSpPr txBox="1"/>
          <p:nvPr/>
        </p:nvSpPr>
        <p:spPr>
          <a:xfrm>
            <a:off x="809625" y="1485900"/>
            <a:ext cx="5050631" cy="3626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1600" dirty="0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Alice Roquette (TomTom)</a:t>
            </a:r>
            <a:endParaRPr lang="en-US" sz="1600" dirty="0"/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Uitgebreide discussie en 1 op 1 gesprek over API-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governance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, gateways en complexe re-engineering binnen een platform-omgeving.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Platform engineering is de lijm tussen de technische architectuur en user experience.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Gameification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om dingen tastbaar te maken.</a:t>
            </a:r>
          </a:p>
          <a:p>
            <a:pPr lvl="0">
              <a:lnSpc>
                <a:spcPct val="144941"/>
              </a:lnSpc>
            </a:pPr>
            <a:endParaRPr lang="nl-NL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Er is een interessante middenweg tussen top-down en bottom-up mogelijk: een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regisserend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midden-team!</a:t>
            </a:r>
          </a:p>
        </p:txBody>
      </p:sp>
      <p:sp>
        <p:nvSpPr>
          <p:cNvPr id="249" name="Google Shape;249;p25"/>
          <p:cNvSpPr txBox="1"/>
          <p:nvPr/>
        </p:nvSpPr>
        <p:spPr>
          <a:xfrm>
            <a:off x="571500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‘Platform Engineering’ 2026</a:t>
            </a:r>
            <a:endParaRPr dirty="0"/>
          </a:p>
        </p:txBody>
      </p:sp>
      <p:sp>
        <p:nvSpPr>
          <p:cNvPr id="2" name="Google Shape;243;p25">
            <a:extLst>
              <a:ext uri="{FF2B5EF4-FFF2-40B4-BE49-F238E27FC236}">
                <a16:creationId xmlns:a16="http://schemas.microsoft.com/office/drawing/2014/main" id="{9441721B-8795-E451-A653-4F89428C2568}"/>
              </a:ext>
            </a:extLst>
          </p:cNvPr>
          <p:cNvSpPr txBox="1"/>
          <p:nvPr/>
        </p:nvSpPr>
        <p:spPr>
          <a:xfrm>
            <a:off x="6486525" y="1485900"/>
            <a:ext cx="5050631" cy="2377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1600" dirty="0">
                <a:solidFill>
                  <a:srgbClr val="DEFF9A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De DevOps AI Chatroom</a:t>
            </a:r>
            <a:endParaRPr lang="en-US" sz="1600" dirty="0"/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Een bijzonder initiatief van jonge engineers: een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discord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-chatroom waar teams samen AI-prompts sturen en de complete prompt-historie opslaan.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Waarom?? De herontdekking van specificatie en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requirements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? Maar dan zonder structuur… :-/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6"/>
          <p:cNvSpPr txBox="1"/>
          <p:nvPr/>
        </p:nvSpPr>
        <p:spPr>
          <a:xfrm>
            <a:off x="571500" y="1703413"/>
            <a:ext cx="4953000" cy="3665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Lukasz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Gornicki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(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AsyncAPI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Maintainer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):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De omhulling telt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Lukasz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benadrukte dat het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payload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-schema zelf secundair is; </a:t>
            </a:r>
            <a:r>
              <a:rPr lang="nl-NL" b="1" dirty="0" err="1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AsyncAPI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definieert de interactie en kanalen (Kafka, MQTT).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Consistentie voor Events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Brengt dezelfde structuur en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developer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experience naar event-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driven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systemen als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OpenAPI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deed voor REST.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 err="1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Tooling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Ecosysteem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Snelle groei in open-source code-generatoren en validatie-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pipelines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.</a:t>
            </a:r>
          </a:p>
        </p:txBody>
      </p:sp>
      <p:pic>
        <p:nvPicPr>
          <p:cNvPr id="263" name="Google Shape;263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1703413"/>
            <a:ext cx="6096000" cy="345117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35;p24">
            <a:extLst>
              <a:ext uri="{FF2B5EF4-FFF2-40B4-BE49-F238E27FC236}">
                <a16:creationId xmlns:a16="http://schemas.microsoft.com/office/drawing/2014/main" id="{DC2A9673-FFF5-F67D-807D-68093BC560BE}"/>
              </a:ext>
            </a:extLst>
          </p:cNvPr>
          <p:cNvSpPr txBox="1"/>
          <p:nvPr/>
        </p:nvSpPr>
        <p:spPr>
          <a:xfrm>
            <a:off x="571500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285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AsyncAPI</a:t>
            </a:r>
            <a:r>
              <a:rPr lang="en-US" sz="2850" b="1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Event-</a:t>
            </a:r>
            <a:r>
              <a:rPr lang="en-US" sz="2850" b="1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Sturing</a:t>
            </a:r>
            <a:endParaRPr lang="en-US" sz="3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247775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7"/>
          <p:cNvSpPr txBox="1"/>
          <p:nvPr/>
        </p:nvSpPr>
        <p:spPr>
          <a:xfrm>
            <a:off x="571500" y="1409700"/>
            <a:ext cx="5286375" cy="2130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Interactieve AI assistent voor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AsyncAPI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Laagdrempelig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Beantwoordt vragen over de specificatie, concepten en protocollen direct vanuit de officiële documentatie.</a:t>
            </a:r>
          </a:p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275" b="1" dirty="0">
              <a:solidFill>
                <a:srgbClr val="DAFFDE"/>
              </a:solidFill>
              <a:latin typeface="Urbanist" panose="020B0604020202020204" charset="0"/>
              <a:ea typeface="Urbanist" panose="020B0604020202020204" charset="0"/>
              <a:cs typeface="Urbanist" panose="020B0604020202020204" charset="0"/>
              <a:sym typeface="Urbanist"/>
            </a:endParaRPr>
          </a:p>
          <a:p>
            <a:pPr lvl="0">
              <a:lnSpc>
                <a:spcPct val="144941"/>
              </a:lnSpc>
            </a:pP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→ </a:t>
            </a:r>
            <a:r>
              <a:rPr lang="nl-NL" b="1" dirty="0">
                <a:solidFill>
                  <a:schemeClr val="bg1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Echte passie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: "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AsyncAPI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is built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by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people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with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passion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, </a:t>
            </a:r>
            <a:r>
              <a:rPr lang="nl-NL" b="1" dirty="0" err="1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not</a:t>
            </a:r>
            <a:r>
              <a:rPr lang="nl-NL" b="1" dirty="0">
                <a:solidFill>
                  <a:srgbClr val="DAFFDE"/>
                </a:solidFill>
                <a:latin typeface="Urbanist" panose="020B0604020202020204" charset="0"/>
                <a:ea typeface="Urbanist" panose="020B0604020202020204" charset="0"/>
                <a:cs typeface="Urbanist" panose="020B0604020202020204" charset="0"/>
              </a:rPr>
              <a:t> large corporate funding."</a:t>
            </a:r>
          </a:p>
        </p:txBody>
      </p:sp>
      <p:pic>
        <p:nvPicPr>
          <p:cNvPr id="271" name="Google Shape;271;p2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326964"/>
            <a:ext cx="5267325" cy="3461122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7"/>
          <p:cNvSpPr txBox="1"/>
          <p:nvPr/>
        </p:nvSpPr>
        <p:spPr>
          <a:xfrm>
            <a:off x="571500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Ask AsyncAPI AI Interface</a:t>
            </a:r>
            <a:endParaRPr/>
          </a:p>
        </p:txBody>
      </p:sp>
      <p:sp>
        <p:nvSpPr>
          <p:cNvPr id="2" name="Tekstballon: rechthoek met afgeronde hoeken 1">
            <a:extLst>
              <a:ext uri="{FF2B5EF4-FFF2-40B4-BE49-F238E27FC236}">
                <a16:creationId xmlns:a16="http://schemas.microsoft.com/office/drawing/2014/main" id="{19DE7F86-DE26-A491-D007-C5BF1404AE7A}"/>
              </a:ext>
            </a:extLst>
          </p:cNvPr>
          <p:cNvSpPr/>
          <p:nvPr/>
        </p:nvSpPr>
        <p:spPr>
          <a:xfrm>
            <a:off x="6245606" y="291679"/>
            <a:ext cx="3371469" cy="663794"/>
          </a:xfrm>
          <a:prstGeom prst="wedgeRoundRectCallout">
            <a:avLst>
              <a:gd name="adj1" fmla="val -24159"/>
              <a:gd name="adj2" fmla="val 92463"/>
              <a:gd name="adj3" fmla="val 16667"/>
            </a:avLst>
          </a:prstGeom>
          <a:solidFill>
            <a:srgbClr val="D0AFD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askasyncapi.brainfart.dev</a:t>
            </a:r>
            <a:endParaRPr lang="en-NL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8"/>
          <p:cNvSpPr txBox="1"/>
          <p:nvPr/>
        </p:nvSpPr>
        <p:spPr>
          <a:xfrm>
            <a:off x="1504950" y="2419647"/>
            <a:ext cx="9182100" cy="30700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40000"/>
              </a:lnSpc>
            </a:pPr>
            <a:r>
              <a:rPr lang="nl-NL" sz="2850" dirty="0">
                <a:solidFill>
                  <a:srgbClr val="DAFFDE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De menselijke maat is essentieel bij het gebruik van AI. Blijf zelf specificeren en ontwerpen. Bedenk zelf wat je wilt bouwen — anders wordt alles uiteindelijk een identieke gemeenplaats. Blijf nadenken: dat is wat wij mensen nog steeds als de beste kunnen.</a:t>
            </a:r>
            <a:endParaRPr lang="nl-NL" sz="3200" dirty="0"/>
          </a:p>
        </p:txBody>
      </p:sp>
      <p:sp>
        <p:nvSpPr>
          <p:cNvPr id="285" name="Google Shape;285;p28"/>
          <p:cNvSpPr txBox="1"/>
          <p:nvPr/>
        </p:nvSpPr>
        <p:spPr>
          <a:xfrm>
            <a:off x="1123950" y="5933396"/>
            <a:ext cx="99441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494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NL" b="1">
                <a:solidFill>
                  <a:srgbClr val="DAFFDE"/>
                </a:solidFill>
              </a:rPr>
              <a:t>— Paneldiscussie met Mark Boyd, Erik Wilde, Kristen Womack &amp; Alice Roquette</a:t>
            </a:r>
          </a:p>
        </p:txBody>
      </p:sp>
      <p:sp>
        <p:nvSpPr>
          <p:cNvPr id="286" name="Google Shape;286;p28"/>
          <p:cNvSpPr txBox="1"/>
          <p:nvPr/>
        </p:nvSpPr>
        <p:spPr>
          <a:xfrm>
            <a:off x="933450" y="2800647"/>
            <a:ext cx="3048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"</a:t>
            </a:r>
            <a:endParaRPr/>
          </a:p>
        </p:txBody>
      </p:sp>
      <p:sp>
        <p:nvSpPr>
          <p:cNvPr id="287" name="Google Shape;287;p28"/>
          <p:cNvSpPr txBox="1"/>
          <p:nvPr/>
        </p:nvSpPr>
        <p:spPr>
          <a:xfrm>
            <a:off x="10953750" y="5143207"/>
            <a:ext cx="3048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F5F5F5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"</a:t>
            </a:r>
            <a:endParaRPr/>
          </a:p>
        </p:txBody>
      </p:sp>
      <p:sp>
        <p:nvSpPr>
          <p:cNvPr id="288" name="Google Shape;288;p28"/>
          <p:cNvSpPr txBox="1"/>
          <p:nvPr/>
        </p:nvSpPr>
        <p:spPr>
          <a:xfrm>
            <a:off x="295275" y="571500"/>
            <a:ext cx="11601450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De </a:t>
            </a:r>
            <a:r>
              <a:rPr lang="en-US" sz="2850" b="1" i="0" u="none" strike="noStrike" cap="none" dirty="0" err="1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Toekomst</a:t>
            </a:r>
            <a:r>
              <a:rPr lang="en-US" sz="2850" b="1" i="0" u="none" strike="noStrike" cap="none" dirty="0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 van </a:t>
            </a:r>
            <a:r>
              <a:rPr lang="en-US" sz="2850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Software</a:t>
            </a:r>
            <a:endParaRPr sz="2850" b="1" dirty="0">
              <a:solidFill>
                <a:srgbClr val="DEFF9A"/>
              </a:solidFill>
              <a:latin typeface="Urbanist"/>
              <a:ea typeface="Urbanist"/>
              <a:cs typeface="Urbanis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F12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3" name="Google Shape;293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9"/>
          <p:cNvSpPr txBox="1"/>
          <p:nvPr/>
        </p:nvSpPr>
        <p:spPr>
          <a:xfrm>
            <a:off x="1095375" y="2463700"/>
            <a:ext cx="10001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Vragen</a:t>
            </a:r>
            <a:r>
              <a:rPr lang="en-US" sz="18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&amp; </a:t>
            </a:r>
            <a:r>
              <a:rPr lang="en-US" sz="1800" b="1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Discussie</a:t>
            </a:r>
            <a:endParaRPr dirty="0"/>
          </a:p>
        </p:txBody>
      </p:sp>
      <p:sp>
        <p:nvSpPr>
          <p:cNvPr id="295" name="Google Shape;295;p29"/>
          <p:cNvSpPr txBox="1"/>
          <p:nvPr/>
        </p:nvSpPr>
        <p:spPr>
          <a:xfrm>
            <a:off x="1333500" y="2930425"/>
            <a:ext cx="9525000" cy="80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Hoe </a:t>
            </a:r>
            <a:r>
              <a:rPr lang="en-US" sz="18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vertalen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we </a:t>
            </a:r>
            <a:r>
              <a:rPr lang="en-US" sz="18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deze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lessen over </a:t>
            </a:r>
            <a:r>
              <a:rPr lang="en-US" sz="18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menselijke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regie, AI-mocking </a:t>
            </a:r>
            <a:r>
              <a:rPr lang="en-US" sz="18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platform-governance </a:t>
            </a:r>
            <a:r>
              <a:rPr lang="en-US" sz="18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naar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8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onze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eigen </a:t>
            </a:r>
            <a:r>
              <a:rPr lang="en-US" sz="18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ontwerpen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8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en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8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visie</a:t>
            </a:r>
            <a:r>
              <a:rPr lang="en-US" sz="18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?</a:t>
            </a:r>
            <a:endParaRPr dirty="0"/>
          </a:p>
        </p:txBody>
      </p:sp>
      <p:sp>
        <p:nvSpPr>
          <p:cNvPr id="296" name="Google Shape;296;p29"/>
          <p:cNvSpPr txBox="1"/>
          <p:nvPr/>
        </p:nvSpPr>
        <p:spPr>
          <a:xfrm>
            <a:off x="1333500" y="3974306"/>
            <a:ext cx="9525000" cy="248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49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Dank voor jullie aandacht en bijdrage!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1069</Words>
  <Application>Microsoft Office PowerPoint</Application>
  <PresentationFormat>Breedbeeld</PresentationFormat>
  <Paragraphs>123</Paragraphs>
  <Slides>17</Slides>
  <Notes>17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7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17</vt:i4>
      </vt:variant>
    </vt:vector>
  </HeadingPairs>
  <TitlesOfParts>
    <vt:vector size="25" baseType="lpstr">
      <vt:lpstr>Urbanist</vt:lpstr>
      <vt:lpstr>Aptos</vt:lpstr>
      <vt:lpstr>Urbanist Medium</vt:lpstr>
      <vt:lpstr>Arial</vt:lpstr>
      <vt:lpstr>Courier New</vt:lpstr>
      <vt:lpstr>Calibri</vt:lpstr>
      <vt:lpstr>Urbanist SemiBold</vt:lpstr>
      <vt:lpstr>Office Theme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Mark Westbroek</cp:lastModifiedBy>
  <cp:revision>12</cp:revision>
  <dcterms:modified xsi:type="dcterms:W3CDTF">2026-06-15T22:49:40Z</dcterms:modified>
</cp:coreProperties>
</file>