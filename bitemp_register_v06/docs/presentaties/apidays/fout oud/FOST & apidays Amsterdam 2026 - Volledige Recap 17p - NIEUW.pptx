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Urbanist" panose="020B0604020202020204" charset="0"/>
      <p:regular r:id="rId20"/>
      <p:bold r:id="rId21"/>
      <p:italic r:id="rId22"/>
      <p:boldItalic r:id="rId23"/>
    </p:embeddedFont>
    <p:embeddedFont>
      <p:font typeface="Urbanist Medium" panose="020B0604020202020204" charset="0"/>
      <p:regular r:id="rId24"/>
      <p:bold r:id="rId25"/>
      <p:italic r:id="rId26"/>
      <p:boldItalic r:id="rId27"/>
    </p:embeddedFont>
    <p:embeddedFont>
      <p:font typeface="Urbanist SemiBold" panose="020B060402020202020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AFDA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Relationship Id="rId23" Type="http://schemas.openxmlformats.org/officeDocument/2006/relationships/font" Target="fonts/font4.fntdata"/><Relationship Id="rId24" Type="http://schemas.openxmlformats.org/officeDocument/2006/relationships/font" Target="fonts/font5.fntdata"/><Relationship Id="rId25" Type="http://schemas.openxmlformats.org/officeDocument/2006/relationships/font" Target="fonts/font6.fntdata"/><Relationship Id="rId26" Type="http://schemas.openxmlformats.org/officeDocument/2006/relationships/font" Target="fonts/font7.fntdata"/><Relationship Id="rId27" Type="http://schemas.openxmlformats.org/officeDocument/2006/relationships/font" Target="fonts/font8.fntdata"/><Relationship Id="rId28" Type="http://schemas.openxmlformats.org/officeDocument/2006/relationships/font" Target="fonts/font9.fntdata"/><Relationship Id="rId29" Type="http://schemas.openxmlformats.org/officeDocument/2006/relationships/font" Target="fonts/font10.fntdata"/><Relationship Id="rId30" Type="http://schemas.openxmlformats.org/officeDocument/2006/relationships/font" Target="fonts/font11.fntdata"/><Relationship Id="rId31" Type="http://schemas.openxmlformats.org/officeDocument/2006/relationships/font" Target="fonts/font12.fntdata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5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0383" y="2456110"/>
            <a:ext cx="9871233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FOST &amp; </a:t>
            </a:r>
            <a:r>
              <a:rPr lang="en-US" sz="480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apidays</a:t>
            </a:r>
            <a:r>
              <a:rPr lang="en-US" sz="480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4800" b="1" i="0" u="none" strike="noStrike" cap="none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395412" y="3269456"/>
            <a:ext cx="9401175" cy="331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Persoonlijke Terugblik, Workshops &amp; Core Takeaways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5412" y="3981896"/>
            <a:ext cx="9401175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9 - 10 juni 2026 • Amsterdam, Nederland</a:t>
            </a:r>
            <a:endParaRPr/>
          </a:p>
        </p:txBody>
      </p:sp>
      <p:pic>
        <p:nvPicPr>
          <p:cNvPr id="3" name="Afbeelding 2">
            <a:extLst>
              <a:ext uri="{FF2B5EF4-FFF2-40B4-BE49-F238E27FC236}">
                <a16:creationId xmlns:a16="http://schemas.microsoft.com/office/drawing/2014/main" id="{76167781-CBD4-A12F-78EA-7C72BA73E9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17" y="835286"/>
            <a:ext cx="2371429" cy="1038095"/>
          </a:xfrm>
          <a:prstGeom prst="rect">
            <a:avLst/>
          </a:prstGeom>
        </p:spPr>
      </p:pic>
      <p:sp>
        <p:nvSpPr>
          <p:cNvPr id="4" name="Tekstballon: rechthoek met afgeronde hoeken 3">
            <a:extLst>
              <a:ext uri="{FF2B5EF4-FFF2-40B4-BE49-F238E27FC236}">
                <a16:creationId xmlns:a16="http://schemas.microsoft.com/office/drawing/2014/main" id="{54B4BE11-0A9F-CF7A-DD90-A89C3C392282}"/>
              </a:ext>
            </a:extLst>
          </p:cNvPr>
          <p:cNvSpPr/>
          <p:nvPr/>
        </p:nvSpPr>
        <p:spPr>
          <a:xfrm>
            <a:off x="539496" y="3846389"/>
            <a:ext cx="2569464" cy="1038095"/>
          </a:xfrm>
          <a:prstGeom prst="wedgeRoundRectCallout">
            <a:avLst>
              <a:gd name="adj1" fmla="val 47789"/>
              <a:gd name="adj2" fmla="val -121821"/>
              <a:gd name="adj3" fmla="val 16667"/>
            </a:avLst>
          </a:prstGeom>
          <a:solidFill>
            <a:srgbClr val="DEFF9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NL" sz="2000" b="1" dirty="0">
                <a:solidFill>
                  <a:schemeClr val="tx1"/>
                </a:solidFill>
                <a:latin typeface="Aptos" panose="020B0004020202020204" pitchFamily="34" charset="0"/>
              </a:rPr>
              <a:t>Future Of Software Technologies </a:t>
            </a:r>
            <a:endParaRPr lang="en-NL" sz="20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9F5FD397-EF49-76E5-C6B0-447F80E847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788" y="641894"/>
            <a:ext cx="2715460" cy="1241743"/>
          </a:xfrm>
          <a:prstGeom prst="rect">
            <a:avLst/>
          </a:prstGeom>
        </p:spPr>
      </p:pic>
      <p:pic>
        <p:nvPicPr>
          <p:cNvPr id="8" name="Afbeelding 7" descr="What exactly is GraphQL? - everyday.codes">
            <a:extLst>
              <a:ext uri="{FF2B5EF4-FFF2-40B4-BE49-F238E27FC236}">
                <a16:creationId xmlns:a16="http://schemas.microsoft.com/office/drawing/2014/main" id="{AAF014E2-2E5E-E135-CEE4-7EF44EA03D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4090" y="588724"/>
            <a:ext cx="2831211" cy="14863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5471" y="3121372"/>
            <a:ext cx="846105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1: </a:t>
            </a:r>
            <a:r>
              <a:rPr lang="en-US" sz="420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Architectuur &amp; Governance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59547"/>
            <a:ext cx="7620000" cy="710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Van ad-hoc API-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ontwerp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naar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geintegreerde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API-platforms</a:t>
            </a:r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o.b.v.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nationale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wereldwijde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1650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standaarden</a:t>
            </a:r>
            <a:r>
              <a:rPr lang="en-US" sz="1650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93964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Europese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sz="2850" b="1" i="0" u="none" strike="noStrike" cap="none" dirty="0" err="1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Soevereiniteit</a:t>
            </a:r>
            <a:endParaRPr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589788" y="1832705"/>
            <a:ext cx="4953000" cy="34530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Jean-Baptiste Kempf (VLC):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Propriëtaire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kosten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Europa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spendeert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momenteel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miljarden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aan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Amerikaanse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licenties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closed-source software</a:t>
            </a:r>
          </a:p>
          <a:p>
            <a:pPr lvl="0">
              <a:lnSpc>
                <a:spcPct val="144941"/>
              </a:lnSpc>
            </a:pPr>
            <a:endParaRPr lang="en-US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Investering in Open Source: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Besteed dit budget direct aan open source om onszelf digitaal en strategisch te versterken.</a:t>
            </a:r>
            <a:endParaRPr lang="nl-NL" dirty="0"/>
          </a:p>
          <a:p>
            <a:pPr lvl="0">
              <a:lnSpc>
                <a:spcPct val="144941"/>
              </a:lnSpc>
            </a:pPr>
            <a:endParaRPr lang="en-GB" dirty="0"/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nl-NL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Geen afhankelijkheid: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structurele verschuiving elimineert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vendor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nl-NL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lock</a:t>
            </a:r>
            <a:r>
              <a:rPr lang="nl-NL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-ins en bouwt autonome, Europese capaciteit.</a:t>
            </a:r>
            <a:endParaRPr lang="nl-NL" dirty="0"/>
          </a:p>
        </p:txBody>
      </p:sp>
      <p:pic>
        <p:nvPicPr>
          <p:cNvPr id="109" name="Google Shape;109;p15"/>
          <p:cNvPicPr preferRelativeResize="0"/>
          <p:nvPr/>
        </p:nvPicPr>
        <p:blipFill>
          <a:blip r:embed="rId3">
            <a:alphaModFix/>
          </a:blip>
          <a:srcRect/>
          <a:stretch/>
        </p:blipFill>
        <p:spPr>
          <a:xfrm>
            <a:off x="5934075" y="935980"/>
            <a:ext cx="6096000" cy="4919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343650" y="1534939"/>
            <a:ext cx="5267325" cy="3045172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71500" y="1247775"/>
            <a:ext cx="5380862" cy="30793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4941"/>
              </a:lnSpc>
            </a:pPr>
            <a:r>
              <a:rPr lang="nl-NL" sz="1600" b="1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Gedragsverandering zonder weerstand (Kin Lane):</a:t>
            </a:r>
            <a:endParaRPr lang="nl-NL" sz="1600" dirty="0"/>
          </a:p>
          <a:p>
            <a:pPr lvl="0">
              <a:lnSpc>
                <a:spcPct val="144941"/>
              </a:lnSpc>
            </a:pPr>
            <a:endParaRPr lang="en-US" sz="1200" b="1" dirty="0">
              <a:solidFill>
                <a:srgbClr val="DEFF9A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Respecteer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1" i="0" u="none" strike="noStrike" cap="none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gewoontes</a:t>
            </a:r>
            <a:r>
              <a:rPr lang="en-US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Ontwikkelaars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veranderen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hun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workflow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niet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zomaar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Pas governance toe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waar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ze al </a:t>
            </a:r>
            <a:r>
              <a:rPr lang="en-US" b="0" i="0" u="none" strike="noStrike" cap="none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werken</a:t>
            </a:r>
            <a:r>
              <a:rPr lang="en-US" b="0" i="0" u="none" strike="noStrike" cap="none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</a:p>
          <a:p>
            <a:pPr lvl="0">
              <a:lnSpc>
                <a:spcPct val="144941"/>
              </a:lnSpc>
            </a:pPr>
            <a:endParaRPr lang="en-US" sz="1200" b="0" i="0" u="none" strike="noStrike" cap="none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Stap 1 - Discover: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 in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wat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daadwerkelijk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draait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 Bouw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index, model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en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actuele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landkaart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van je API’s</a:t>
            </a:r>
          </a:p>
          <a:p>
            <a:pPr lvl="0">
              <a:lnSpc>
                <a:spcPct val="144941"/>
              </a:lnSpc>
            </a:pPr>
            <a:endParaRPr lang="en-US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>
              <a:lnSpc>
                <a:spcPct val="144941"/>
              </a:lnSpc>
            </a:pPr>
            <a:r>
              <a:rPr lang="en-US" b="1" dirty="0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  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Nederlandse </a:t>
            </a:r>
            <a:r>
              <a:rPr lang="en-US" b="1" dirty="0" err="1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complimenten</a:t>
            </a:r>
            <a:r>
              <a:rPr lang="en-US" b="1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Kin (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voormalig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Obama-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adviseur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)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prees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Nederlandse API-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strategie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</a:t>
            </a:r>
            <a:r>
              <a:rPr lang="en-US" dirty="0" err="1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expliciet</a:t>
            </a:r>
            <a:r>
              <a:rPr lang="en-US" dirty="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!.</a:t>
            </a:r>
            <a:endParaRPr lang="en-US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Governance gaat over </a:t>
            </a:r>
            <a:r>
              <a:rPr lang="en-US" sz="2850" b="1" i="0" u="none" strike="noStrike" cap="non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Noodzaak voor een gateway/tussenlaag (KrakenD):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Ontkoppeling: Transformeer payloads, pas rate-limiting toe en valideer autorisatie direct in de gateway-laag.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KrakenD Open Source: Een krachtige engine om calls on-the-fly en direct in de gateway te manipuleren.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Multi-Backend Aggregation: Voeg meerdere losse endpoints samen tot één beheersbaar en consistent interface.</a:t>
            </a:r>
          </a:p>
        </p:txBody>
      </p:sp>
      <p:pic>
        <p:nvPicPr>
          <p:cNvPr id="132" name="Google Shape;132;p17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66221" y="1257300"/>
            <a:ext cx="5222182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Transformatielaag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Het Goede Initiatief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Dimitri van Hees (Geonovum) presenteerde een register om OpenAPI- en JSON-schema's centraal te ontsluiten voor de overheid.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Dit stimuleert hergebruik en standaardisatie van dataspecificaties over overheidsgrenzen heen.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Kritiek: De 'Grabbelton'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Het register mist op dit moment nog een goede visuele representatie. Het voelt nu als een grote vergaarbak zonder heldere context.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Een kans: Onze UML/objecttypen POC in React kan hier uitstekend bij helpen om semantisch begrip visueel te maken! Ik ga Dimitri benaderen.</a:t>
            </a:r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Het Nationaal 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Schema Register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9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API-Sturing in 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Italië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571500" y="2783681"/>
            <a:ext cx="4953000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Roberto Polli over de Italiaanse aanpak: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Federatieve uitdaging: Italië heeft te maken met 20 autonome regio's en meer dan 8000 gemeenten met elk eigen regels.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Sterk Mandaat: Sinds 2016 heeft het Digital Transformation Team de regie strak in handen genomen vanaf de premier.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REST-Transitie: Volledige overstap van SOAP naar open standaarden en internetprotocollen voor interoperabiliteit.</a:t>
            </a:r>
          </a:p>
        </p:txBody>
      </p:sp>
      <p:pic>
        <p:nvPicPr>
          <p:cNvPr id="167" name="Google Shape;167;p19"/>
          <p:cNvPicPr preferRelativeResize="0"/>
          <p:nvPr/>
        </p:nvPicPr>
        <p:blipFill>
          <a:blip r:embed="rId4">
            <a:alphaModFix/>
          </a:blip>
          <a:srcRect/>
          <a:stretch/>
        </p:blipFill>
        <p:spPr>
          <a:xfrm>
            <a:off x="6096000" y="1833562"/>
            <a:ext cx="6096000" cy="319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0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Strategische successen en platforms: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Nationale registers: Succesvolle integratie via de centrale API-catalogus (api.gov.it) en schema-register.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Mensen &amp; wetten: Je hebt niet altijd harde wetgeving nodig... tenzij het niet anders kan. Zorg voor juridische expertise in je team.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EIF Interoperabiliteit: Strikte naleving van de Europese interoperabiliteits-architectuur voorkomt technische omwegen.</a:t>
            </a:r>
          </a:p>
        </p:txBody>
      </p:sp>
      <p:pic>
        <p:nvPicPr>
          <p:cNvPr id="175" name="Google Shape;175;p20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668680"/>
            <a:ext cx="5267325" cy="277769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Lessen uit 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Italië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2505551" y="3121372"/>
            <a:ext cx="7180897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2: </a:t>
            </a:r>
            <a:r>
              <a:rPr lang="en-US" sz="420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GraphQL Ochtend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2286000" y="3759547"/>
            <a:ext cx="7620000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Mythes ontmaskerd, integratie met LLM's en AI-powered mock-omgevingen.</a:t>
            </a:r>
          </a:p>
        </p:txBody>
      </p:sp>
      <p:pic>
        <p:nvPicPr>
          <p:cNvPr id="2" name="Afbeelding 1" descr="File:GraphQL Logo.svg - Wikimedia Commons">
            <a:extLst>
              <a:ext uri="{FF2B5EF4-FFF2-40B4-BE49-F238E27FC236}">
                <a16:creationId xmlns:a16="http://schemas.microsoft.com/office/drawing/2014/main" id="{EC128A0C-09BF-92A2-F51E-DA4E43364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54" y="249285"/>
            <a:ext cx="2990960" cy="2990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2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Jens Neuse (WunderGraph) ontmaskert dogma's: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De caching-mythe: GraphQL is volwassen geworden. De bewering "GraphQL breekt caching" klopt niet meer.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Gelaagde aanpak: Caching vereist een gecoördineerde stack (Client, CDN, Gateway en Applicatie-niveau).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Abstraction Layer: GraphQL blinkt uit als één simplistische interface voor AI-modellen en agents, i.p.v. honderden REST-endpoints.</a:t>
            </a:r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343650" y="1550370"/>
            <a:ext cx="5267325" cy="301430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2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GraphQL vs REST 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Mythes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0D0F12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3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De transitie in moderne API Governance: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De chaos: Traditionele governance probeert complexe interacties tussen mensen / teams en API’s handmatig te reguleren.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De oplossing: Verschuif de focus naar het inrichten en beheren van platform-engines (de gateways).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Automatische controle: Regels centraal in de 'engine' afdwingen ontlast ontwikkelaars en behoudt grip.</a:t>
            </a:r>
          </a:p>
        </p:txBody>
      </p:sp>
      <p:pic>
        <p:nvPicPr>
          <p:cNvPr id="213" name="Google Shape;213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Mensen of 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Engines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beheren?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4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Annotaties sturen de router aan: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De @mock annotatie: Backend-teams annoteren velden die nog niet zijn geïmplementeerd direct in het schema.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AI-gegenereerd: De router interpreteert de annotatie en genereert realistische, domein-specifieke mockdata.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Voorbeeld: `@mock(source: "llm" hint: "Amsterdam hotel")` levert direct betekenisvolle UI-vulling op.</a:t>
            </a:r>
          </a:p>
        </p:txBody>
      </p:sp>
      <p:pic>
        <p:nvPicPr>
          <p:cNvPr id="228" name="Google Shape;228;p24"/>
          <p:cNvPicPr preferRelativeResize="0"/>
          <p:nvPr/>
        </p:nvPicPr>
        <p:blipFill>
          <a:blip r:embed="rId5">
            <a:alphaModFix/>
          </a:blip>
          <a:srcRect/>
          <a:stretch/>
        </p:blipFill>
        <p:spPr>
          <a:xfrm>
            <a:off x="6445128" y="1257300"/>
            <a:ext cx="5064369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4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Mocking </a:t>
            </a:r>
            <a:r>
              <a:rPr lang="en-US" sz="2850" b="1" i="0" u="none" strike="noStrike" cap="none" dirty="0" err="1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m.b.v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. </a:t>
            </a:r>
            <a:r>
              <a:rPr lang="en-US" sz="2850" b="1" i="0" u="none" strike="noStrike" cap="none" dirty="0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AI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Alice Roquette (TomTom)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Uitgebreide discussie over API-governance, gateways en complexe re-engineering binnen een platform-omgeving.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Platform engineering is de lijm tussen de technische architectuur en de uiteindelijke developer experience.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De DevOps AI Chatroom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Een bijzonder initiatief van jonge engineers: een discord-chatroom waar teams samen AI-prompts sturen en de complete prompt-historie opslaan.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Waarom: Dit herontdekt de "waarom" achter het ontwerp van systemen. De herontdekking van specs, maar dan organisch.</a:t>
            </a:r>
          </a:p>
        </p:txBody>
      </p:sp>
      <p:sp>
        <p:nvSpPr>
          <p:cNvPr id="249" name="Google Shape;249;p25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Platform Engineering 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6"/>
          <p:cNvSpPr txBox="1"/>
          <p:nvPr/>
        </p:nvSpPr>
        <p:spPr>
          <a:xfrm>
            <a:off x="571500" y="1710779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AsyncAPI 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Event-Sturing</a:t>
            </a:r>
            <a:endParaRPr/>
          </a:p>
        </p:txBody>
      </p:sp>
      <p:sp>
        <p:nvSpPr>
          <p:cNvPr id="256" name="Google Shape;256;p26"/>
          <p:cNvSpPr txBox="1"/>
          <p:nvPr/>
        </p:nvSpPr>
        <p:spPr>
          <a:xfrm>
            <a:off x="571500" y="2548979"/>
            <a:ext cx="4953000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Lukasz Gornicki (AsyncAPI Maintainer):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De Omhulling telt: Lukasz benadrukte dat het payload-schema zelf secundair is; AsyncAPI definieert de interactie en kanalen (Kafka, MQTT).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Consistentie voor Events: Brengt dezelfde structuur en developer experience naar event-driven systemen als OpenAPI deed voor REST.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Tooling Ecosysteem: Snelle groei in open-source code-generatoren en validatie-pipelines.</a:t>
            </a:r>
          </a:p>
        </p:txBody>
      </p:sp>
      <p:pic>
        <p:nvPicPr>
          <p:cNvPr id="263" name="Google Shape;26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1703413"/>
            <a:ext cx="6096000" cy="3451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7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Interactieve AI assistent voor AsyncAPI: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Laagdrempelig: Beantwoordt vragen over de specificatie, concepten en protocollen direct vanuit de officiële documentatie.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Echte passie: "AsyncAPI is built by people with passion, not large corporate funding."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Follow-up: Tevens kort met het GraphQL team gesproken en een vervolgafspraak ingepland om ervaringen uit te wisselen!</a:t>
            </a:r>
          </a:p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275" b="1" dirty="0">
              <a:solidFill>
                <a:srgbClr val="DAFFDE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lvl="0">
              <a:lnSpc>
                <a:spcPct val="144941"/>
              </a:lnSpc>
            </a:pPr>
            <a:r>
              <a:rPr lang="nl-NL" b="1">
                <a:solidFill>
                  <a:srgbClr val="DAFFDE"/>
                </a:solidFill>
              </a:rPr>
              <a:t>→ askasyncapi.brainfart.dev</a:t>
            </a:r>
          </a:p>
        </p:txBody>
      </p:sp>
      <p:pic>
        <p:nvPicPr>
          <p:cNvPr id="271" name="Google Shape;271;p2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3650" y="1326964"/>
            <a:ext cx="5267325" cy="346112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Ask AsyncAPI 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AI Interface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8"/>
          <p:cNvSpPr txBox="1"/>
          <p:nvPr/>
        </p:nvSpPr>
        <p:spPr>
          <a:xfrm>
            <a:off x="1504950" y="2419647"/>
            <a:ext cx="9182100" cy="2533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 menselijke maat is essentieel bij het gebruik van AI. Blijf zelf specificeren en ontwerpen. Bedenk zelf wat je wilt bouwen — anders wordt alles uiteindelijk een identieke gemeenplaats. Blijf nadenken: dat is wat wij mensen nog steeds als de beste kunnen.</a:t>
            </a:r>
            <a:endParaRPr/>
          </a:p>
        </p:txBody>
      </p:sp>
      <p:sp>
        <p:nvSpPr>
          <p:cNvPr id="285" name="Google Shape;285;p28"/>
          <p:cNvSpPr txBox="1"/>
          <p:nvPr/>
        </p:nvSpPr>
        <p:spPr>
          <a:xfrm>
            <a:off x="1123950" y="5933396"/>
            <a:ext cx="99441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nl-NL" b="1">
                <a:solidFill>
                  <a:srgbClr val="DAFFDE"/>
                </a:solidFill>
              </a:rPr>
              <a:t>— Paneldiscussie met Mark Boyd, Erik Wilde, Kristen Womack &amp; Alice Roquette</a:t>
            </a:r>
          </a:p>
        </p:txBody>
      </p:sp>
      <p:sp>
        <p:nvSpPr>
          <p:cNvPr id="286" name="Google Shape;286;p28"/>
          <p:cNvSpPr txBox="1"/>
          <p:nvPr/>
        </p:nvSpPr>
        <p:spPr>
          <a:xfrm>
            <a:off x="933450" y="280064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10953750" y="514320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0" i="0" u="none" strike="noStrike" cap="non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288" name="Google Shape;288;p28"/>
          <p:cNvSpPr txBox="1"/>
          <p:nvPr/>
        </p:nvSpPr>
        <p:spPr>
          <a:xfrm>
            <a:off x="295275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Toekomst van </a:t>
            </a:r>
            <a:r>
              <a:rPr lang="en-US" sz="2850" b="1" i="0" u="none" strike="noStrike" cap="non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Software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0F12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9"/>
          <p:cNvSpPr txBox="1"/>
          <p:nvPr/>
        </p:nvSpPr>
        <p:spPr>
          <a:xfrm>
            <a:off x="1095375" y="2463700"/>
            <a:ext cx="10001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Vragen &amp; </a:t>
            </a:r>
            <a:r>
              <a:rPr lang="en-US" sz="1800" b="1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Discussie</a:t>
            </a:r>
            <a:endParaRPr/>
          </a:p>
        </p:txBody>
      </p:sp>
      <p:sp>
        <p:nvSpPr>
          <p:cNvPr id="295" name="Google Shape;295;p29"/>
          <p:cNvSpPr txBox="1"/>
          <p:nvPr/>
        </p:nvSpPr>
        <p:spPr>
          <a:xfrm>
            <a:off x="1333500" y="2930425"/>
            <a:ext cx="9525000" cy="66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Hoe vertalen we deze lessen over menselijke regie, AI-mocking en platform-governance naar onze eigen visie?</a:t>
            </a:r>
            <a:endParaRPr/>
          </a:p>
        </p:txBody>
      </p:sp>
      <p:sp>
        <p:nvSpPr>
          <p:cNvPr id="296" name="Google Shape;296;p29"/>
          <p:cNvSpPr txBox="1"/>
          <p:nvPr/>
        </p:nvSpPr>
        <p:spPr>
          <a:xfrm>
            <a:off x="1333500" y="3974306"/>
            <a:ext cx="9525000" cy="2485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Dank voor jullie aandacht en bijdrage!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1009</Words>
  <Application>Microsoft Office PowerPoint</Application>
  <PresentationFormat>Breedbeeld</PresentationFormat>
  <Paragraphs>112</Paragraphs>
  <Slides>17</Slides>
  <Notes>17</Notes>
  <HiddenSlides>1</HiddenSlides>
  <MMClips>0</MMClips>
  <ScaleCrop>false</ScaleCrop>
  <HeadingPairs>
    <vt:vector size="6" baseType="variant">
      <vt:variant>
        <vt:lpstr>Gebruikte lettertypen</vt:lpstr>
      </vt:variant>
      <vt:variant>
        <vt:i4>7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17</vt:i4>
      </vt:variant>
    </vt:vector>
  </HeadingPairs>
  <TitlesOfParts>
    <vt:vector size="25" baseType="lpstr">
      <vt:lpstr>Urbanist</vt:lpstr>
      <vt:lpstr>Aptos</vt:lpstr>
      <vt:lpstr>Urbanist Medium</vt:lpstr>
      <vt:lpstr>Arial</vt:lpstr>
      <vt:lpstr>Courier New</vt:lpstr>
      <vt:lpstr>Calibri</vt:lpstr>
      <vt:lpstr>Urbanist SemiBold</vt:lpstr>
      <vt:lpstr>Office Theme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Mark Westbroek</cp:lastModifiedBy>
  <cp:revision>4</cp:revision>
  <dcterms:modified xsi:type="dcterms:W3CDTF">2026-06-15T21:22:25Z</dcterms:modified>
</cp:coreProperties>
</file>