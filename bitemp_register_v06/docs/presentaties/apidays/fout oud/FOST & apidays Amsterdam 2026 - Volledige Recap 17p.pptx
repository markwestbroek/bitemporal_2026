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6858000" cy="9144000"/>
  <p:embeddedFontLst>
    <p:embeddedFont>
      <p:font typeface="Urbanist SemiBold"/>
      <p:regular r:id="rId34"/>
      <p:bold r:id="rId35"/>
      <p:italic r:id="rId36"/>
      <p:boldItalic r:id="rId37"/>
    </p:embeddedFont>
    <p:embeddedFont>
      <p:font typeface="Urbanist Medium"/>
      <p:regular r:id="rId38"/>
      <p:bold r:id="rId39"/>
      <p:italic r:id="rId40"/>
      <p:boldItalic r:id="rId41"/>
    </p:embeddedFont>
    <p:embeddedFont>
      <p:font typeface="Urbanist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font" Target="fonts/UrbanistSemiBold-regular.fntdata"/><Relationship Id="rId35" Type="http://schemas.openxmlformats.org/officeDocument/2006/relationships/font" Target="fonts/UrbanistSemiBold-bold.fntdata"/><Relationship Id="rId36" Type="http://schemas.openxmlformats.org/officeDocument/2006/relationships/font" Target="fonts/UrbanistSemiBold-italic.fntdata"/><Relationship Id="rId37" Type="http://schemas.openxmlformats.org/officeDocument/2006/relationships/font" Target="fonts/UrbanistSemiBold-boldItalic.fntdata"/><Relationship Id="rId38" Type="http://schemas.openxmlformats.org/officeDocument/2006/relationships/font" Target="fonts/UrbanistMedium-regular.fntdata"/><Relationship Id="rId39" Type="http://schemas.openxmlformats.org/officeDocument/2006/relationships/font" Target="fonts/UrbanistMedium-bold.fntdata"/><Relationship Id="rId40" Type="http://schemas.openxmlformats.org/officeDocument/2006/relationships/font" Target="fonts/UrbanistMedium-italic.fntdata"/><Relationship Id="rId41" Type="http://schemas.openxmlformats.org/officeDocument/2006/relationships/font" Target="fonts/UrbanistMedium-boldItalic.fntdata"/><Relationship Id="rId42" Type="http://schemas.openxmlformats.org/officeDocument/2006/relationships/font" Target="fonts/Urbanist-regular.fntdata"/><Relationship Id="rId43" Type="http://schemas.openxmlformats.org/officeDocument/2006/relationships/font" Target="fonts/Urbanist-bold.fntdata"/><Relationship Id="rId44" Type="http://schemas.openxmlformats.org/officeDocument/2006/relationships/font" Target="fonts/Urbanist-italic.fntdata"/><Relationship Id="rId45" Type="http://schemas.openxmlformats.org/officeDocument/2006/relationships/font" Target="fonts/Urbanis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60383" y="2456110"/>
            <a:ext cx="9871233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FOST &amp; apidays </a:t>
            </a:r>
            <a:r>
              <a:rPr b="1" i="0" lang="en-US" sz="4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Amsterdam 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395412" y="3269456"/>
            <a:ext cx="9401175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Persoonlijke Terugblik, Workshops &amp; Core Takeaways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95412" y="3981896"/>
            <a:ext cx="9401175" cy="248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9 - 10 juni 2026 • Amsterdam, Nederland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79752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865471" y="3121372"/>
            <a:ext cx="846105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Dag 1: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Architectuur &amp; Governance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759547"/>
            <a:ext cx="7620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 verschuiving van handmatige API-controle naar geautomatiseerde platform-engines en nationale standaarden.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Europese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Soevereiniteit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2783681"/>
            <a:ext cx="4953000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Jean-Baptiste Kempf (VLC):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Propriëtaire kosten: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Europa spendeert momenteel miljarden aan Amerikaanse licenties en closed-source.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38200" y="3744962"/>
            <a:ext cx="4686300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Investering in Open Source: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Besteed dit budget direct aan open source om onszelf digitaal en strategisch te versterken.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38200" y="4328666"/>
            <a:ext cx="4686300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Geen afhankelijkheid: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Een structurele verschuiving elimineert vendor lock-ins en bouwt autonome, Europese capaciteit.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3161258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3744962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432866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Gedragsverandering zonder weerstand (Kin Lane):</a:t>
            </a:r>
            <a:endParaRPr/>
          </a:p>
        </p:txBody>
      </p:sp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Respecteer gewoontes: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Ontwikkelaars veranderen hun workflow niet zomaar. Pas governance toe waar ze al werken.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Stap 1 - Discover: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Breng in kaart wat daadwerkelijk draait. Bouw een index, model en actuele landkaart van je API's.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Nederlandse complimenten: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Kin (voormalig Obama-adviseur) prees de Nederlandse API-strategie expliciet!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Governance gaat over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Mensen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TextBox 132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De Transformatielaag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Noodzaak voor een gateway/tussenlaag (KrakenD):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Ontkoppeling: Transformeer payloads, pas rate-limiting toe en valideer autorisatie direct in de gateway-laag.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KrakenD Open Source: Een krachtige engine om calls on-the-fly en direct in de gateway te manipuleren.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Multi-Backend Aggregation: Voeg meerdere losse endpoints samen tot één beheersbaar en consistent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TextBox 147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Consumptielaag Schemas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Typed Schema op de Consumption Layer: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GraphQL alternatief: Gebruik type-definities direct aan de clientzijde voor voorspelbare data-uitwisseling.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Fijnmazige controle: Maak auditering en veld-niveau governance over specifieke datavelden direct mogelijk.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Zelf-beschrijvend: Introspectie maakt het voor client-applicaties eenvoudig om API-mogelijkheden te begrijpen.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TextBox 162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AI-Powered Testing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Postman workshop door Pooja Mistry: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Postman Agent Mode: Prototipeer en valideer live API-koppelingen vanuit natuurlijke taalbeschrijvingen.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Model Context Protocol (MCP): Genereer mock-omgevingen, scripts en API-tests zonder zelf code te schrijven.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AI-agent integratie: Inzicht in hoe LLM's en autonome agents gestructureerd met onze API's interacteren.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TextBox 177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Mensen of Engines beheren?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De transitie in moderne API Governance: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De chaos: Traditionele governance probeert complexe interacties tussen mensen en teams handmatig te reguleren.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De oplossing: Verschuif de focus naar het inrichten en beheren van platform-engines (de gateways).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Automatische controle: Regels centraal in de 'engine' afdwingen ontlast ontwikkelaars en behoudt grip.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TextBox 191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Het Goede Initiatief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Dimitri van Hees (Geonovum) presenteerde een register om OpenAPI- en JSON-schema's centraal te ontsluiten voor de overheid.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Dit stimuleert hergebruik en standaardisatie van dataspecificaties over overheidsgrenzen heen.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Het register mist op dit moment nog een goede visuele representatie. Het voelt nu als een grote vergaarbak zonder heldere context.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Onze kans: Onze UML/objecttypen POC in React kan hier uitstekend bij helpen om semantisch begrip visueel te maken! Ik ga Dimitri benaderen.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TextBox 212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API-Sturing in Italië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Roberto Polli over de Italiaanse aanpak: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Federatieve uitdaging: Italië heeft te maken met 20 autonome regio's en meer dan 8000 gemeenten met elk eigen regels.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Sterk Mandaat: Sinds 2016 heeft het Digital Transformation Team de regie strak in handen genomen vanaf de premier.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Resultaten: Harmonisatie via REST, open standaarden, een centraal API-catalogus (api.gov.it) en schema register.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TextBox 219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Specificatie als Grondwet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Specs vormen een uitstekende brug tussen functionele business eisen en de uiteindelijke code. Maar het is vaak niet visueel.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De kritische vraag: Waar zijn requirements en visueel modelleren gebleven in deze bulk aan platte schema's?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In dit nieuwe AI-tijdperk worden functionele specificaties plotseling in een heel nieuw licht herontdekt.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De reden: Autonomous AI-agents kunnen systemen alleen begrijpen als de API's exact en consistent beschreven zijn via sluitende specs.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TextBox 231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Dag 2: De GraphQL Ochtend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TextBox 242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GraphQL vs REST Mythes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Jens Neuse (WunderGraph) ontmaskert dogma's: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18 Claims getoetst: Slechts 3 van de 18 klassieke pushback-argumenten tegen GraphQL hielden stand.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De verlichting: GraphQL is volwassen geworden en is niet langer overhyped of verkeerd begrepen.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Abstraction Layer: GraphQL blinkt uit als één simplistische interface voor AI-modellen en agents, i.p.v. honderden losse REST-endpoints.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TextBox 257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De Toekomst van GraphQL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Martin Bonnin (Apollo) &amp; Pascal Senn (ChilliCream):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Solide basis: De GQL-specificatie vormt al 10 jaar een uiterst solide, stabiele basis.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Friction Points oplossen: Actieve discussies binnen de GraphQL Foundation om developer experience te optimaliseren.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Belangrijkste RFCs: Focus op nullability-behandeling, native observability en prestatieverbeteringen.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TextBox 272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Schema-Aware Embeddings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Thore Koritzius over fuzzy schema search en agents: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Algemene modellen falen: Standaard LLM-embeddings begrijpen GQL type-systemen en relaties niet goed.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Schema-Aware Pipelines: Speciale verwerking en chunking van GQL om embedding-modellen te trainen.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Voorkom hallucinaties: Directe mapping tussen natuurlijke taal en exacte, type-correcte GQL API-queries.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TextBox 287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GQL Mocking op Schaal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Christian Ernst (Booking.com) over ontkoppeling: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SDLC-brede Mocks: Gebruik mocks vanaf de ideatiefase tot aan de uiteindelijke productie.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Volledige ontkoppeling: Frontend- en backend-teams kunnen volledig onafhankelijk en in eigen tempo ontwikkelen.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Design Constraints: Gebouwd rond 5 principes: flexibiliteit, minimale backend-coördinatie, multi-platform, offline-support en productieveiligheid.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TextBox 302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Mocking in de SDLC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Hoe Mocking de ontwikkellifecycle versnelt: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Sprint Planning: Geen blockers meer; frontend start direct op dag één zodra het schema gepubliceerd is.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Ontwikkeling: Bouw direct tegen het contract van het GQL-schema, in plaats van te hopen dat code later matcht.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Integratie: Naadloze overgang van mock naar echte backend zonder verandering aan de frontend-zijde.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TextBox 317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Schema-Level Mocking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Annotaties sturen de router aan: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De @mock annotatie: Backend-teams annoteren velden die nog niet zijn geïmplementeerd direct in het schema.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AI-gegenereerd: De router interpreteert de annotatie en genereert realistische, domein-specifieke mockdata.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Voorbeeld: `@mock(source: "llm" hint: "Amsterdam hotel")` levert direct betekenisvolle UI-vulling op.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TextBox 332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Hybrid Mode: @respondWith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Mix live en gemockte data in één query: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Fijnmazige controle: Bepaal exact welke subvelden live van de server komen en welke nog gemockt worden.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Netwerk-reductie: De rest van de query raakt de live database zoals normaal.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Edge-cases testen: Gebruik `@respondWith(mock: "empty")` om lege staten of fouten direct in de UI te testen.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4" name="Google Shape;34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TextBox 347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De Self-Healing Flow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Geautomatiseerde herstel-pipeline bij mocking: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Validatie: Queries worden direct gecontroleerd en gevalideerd tegen de schema-grondwet.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Automatisch herstel: Als de gegenereerde data fouten bevat, splitst de pipeline de fragments op.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LLM Reconstructie: Een automatische LLM-retry repareert de output binnen seconden voor een valide respons.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9" name="Google Shape;35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TextBox 362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Router vs App Mocking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Wanneer gebruik je welke mocking-strategie?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Router Mocking: Ideaal als je direct iets nodig hebt, toegang hebt tot het netwerk en snel wilt prototyping tegen het schema.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App Mocking: De beste keuze voor stabiele, herhaalbare tests in CI-pipelines, demo-omgevingen en offline development.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Combinatie: Cross-subgraph entiteiten kunnen uitstekend op beide niveaus tegelijk worden gemockt.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4" name="Google Shape;37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TextBox 374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Dag 2: Platform, Events &amp; De Toekomst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2" name="Google Shape;38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TextBox 384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Q&amp;A met Alice Roquette (TomTom)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Uitgebreide sessie en 1-op-1 discussie over de realiteit van Platform Engineering, gateway-keuzes en complexe re-engineering.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Key takeaway: Platform engineering is de lijm tussen architectuur en developer experience.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Governance moet niet aanvoelen als een barrière, maar als een ingebouwde eigenschap van de developer portal en gateway-pipelines.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Onze discussie bevestigde dat we met een flexibele gateway-tussenlaag op het juiste spoor zitten.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6" name="Google Shape;39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TextBox 399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AsyncAPI Event Standaard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Lukasz Gornicki (AsyncAPI Maintainer):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De Omhulling telt: Lukasz benadrukte dat het payload-schema zelf secundair is; AsyncAPI definieert de interactie en kanalen (Kafka, MQTT, AMQP).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Consistentie voor Events: Brengt dezelfde structuur en developer experience naar event-driven systemen als OpenAPI deed voor REST.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Ecosysteem: Snelle groei in open-source tooling voor code-generatie en documentatie van asynchrone stromen.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1" name="Google Shape;41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TextBox 414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Ask AsyncAPI AI Interface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Interactieve AI assistent voor AsyncAPI: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Laagdrempelig: Beantwoordt vragen over de specificatie, concepten en protocollen direct vanuit de officiële documentatie.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Echte passie: "AsyncAPI is built by people with passion, not large corporate funding."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Follow-up: Tevens kort met het GraphQL team gesproken en een vervolgafspraak ingepland om ervaringen uit te wisselen!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6" name="Google Shape;42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TextBox 428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De AI Chatroom voor DevOps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Een inspirerend project van jonge devops-engineers: een gedeelde chatroom waar teams samen AI-prompts besturen en verfijnen.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838200" y="3722101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Het systeem bewaart de gehele historie en context van de gezamenlijke prompt-keuzes.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838200" y="4282944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Dankzij de bewaarde prompt-historie kan iedereen achteraf traceren *waarom* een systeem op een bepaalde manier is ontworpen.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838200" y="4843787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Dit is de herontdekking van specificatie en documentatie, maar dan organisch en ongestructureerd via AI-conversaties.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0" name="Google Shape;44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TextBox 440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De menselijke maat is essentieel bij het gebruik van AI. Blijf zelf specificeren en ontwerpen. Bedenk zelf wat je wilt bouwen — anders wordt alles uiteindelijk een identieke gemeenplaats. Blijf jezelf in je communicatie en laat je niet overnemen door een robot.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0" name="Google Shape;45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TextBox 450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Vragen &amp; Discussie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Dank voor jullie aandacht en bijdrage!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