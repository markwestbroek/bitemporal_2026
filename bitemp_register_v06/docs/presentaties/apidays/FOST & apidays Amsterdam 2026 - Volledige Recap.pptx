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</p:sldIdLst>
  <p:sldSz cy="6858000" cx="12192000"/>
  <p:notesSz cx="6858000" cy="9144000"/>
  <p:embeddedFontLst>
    <p:embeddedFont>
      <p:font typeface="Urbanist SemiBold"/>
      <p:regular r:id="rId34"/>
      <p:bold r:id="rId35"/>
      <p:italic r:id="rId36"/>
      <p:boldItalic r:id="rId37"/>
    </p:embeddedFont>
    <p:embeddedFont>
      <p:font typeface="Urbanist Medium"/>
      <p:regular r:id="rId38"/>
      <p:bold r:id="rId39"/>
      <p:italic r:id="rId40"/>
      <p:boldItalic r:id="rId41"/>
    </p:embeddedFont>
    <p:embeddedFont>
      <p:font typeface="Urbanist"/>
      <p:regular r:id="rId42"/>
      <p:bold r:id="rId43"/>
      <p:italic r:id="rId44"/>
      <p:boldItalic r:id="rId4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UrbanistMedium-italic.fntdata"/><Relationship Id="rId20" Type="http://schemas.openxmlformats.org/officeDocument/2006/relationships/slide" Target="slides/slide15.xml"/><Relationship Id="rId42" Type="http://schemas.openxmlformats.org/officeDocument/2006/relationships/font" Target="fonts/Urbanist-regular.fntdata"/><Relationship Id="rId41" Type="http://schemas.openxmlformats.org/officeDocument/2006/relationships/font" Target="fonts/UrbanistMedium-boldItalic.fntdata"/><Relationship Id="rId22" Type="http://schemas.openxmlformats.org/officeDocument/2006/relationships/slide" Target="slides/slide17.xml"/><Relationship Id="rId44" Type="http://schemas.openxmlformats.org/officeDocument/2006/relationships/font" Target="fonts/Urbanist-italic.fntdata"/><Relationship Id="rId21" Type="http://schemas.openxmlformats.org/officeDocument/2006/relationships/slide" Target="slides/slide16.xml"/><Relationship Id="rId43" Type="http://schemas.openxmlformats.org/officeDocument/2006/relationships/font" Target="fonts/Urbanist-bold.fntdata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45" Type="http://schemas.openxmlformats.org/officeDocument/2006/relationships/font" Target="fonts/Urbanist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font" Target="fonts/UrbanistSemiBold-bold.fntdata"/><Relationship Id="rId12" Type="http://schemas.openxmlformats.org/officeDocument/2006/relationships/slide" Target="slides/slide7.xml"/><Relationship Id="rId34" Type="http://schemas.openxmlformats.org/officeDocument/2006/relationships/font" Target="fonts/UrbanistSemiBold-regular.fntdata"/><Relationship Id="rId15" Type="http://schemas.openxmlformats.org/officeDocument/2006/relationships/slide" Target="slides/slide10.xml"/><Relationship Id="rId37" Type="http://schemas.openxmlformats.org/officeDocument/2006/relationships/font" Target="fonts/UrbanistSemiBold-boldItalic.fntdata"/><Relationship Id="rId14" Type="http://schemas.openxmlformats.org/officeDocument/2006/relationships/slide" Target="slides/slide9.xml"/><Relationship Id="rId36" Type="http://schemas.openxmlformats.org/officeDocument/2006/relationships/font" Target="fonts/UrbanistSemiBold-italic.fntdata"/><Relationship Id="rId17" Type="http://schemas.openxmlformats.org/officeDocument/2006/relationships/slide" Target="slides/slide12.xml"/><Relationship Id="rId39" Type="http://schemas.openxmlformats.org/officeDocument/2006/relationships/font" Target="fonts/UrbanistMedium-bold.fntdata"/><Relationship Id="rId16" Type="http://schemas.openxmlformats.org/officeDocument/2006/relationships/slide" Target="slides/slide11.xml"/><Relationship Id="rId38" Type="http://schemas.openxmlformats.org/officeDocument/2006/relationships/font" Target="fonts/UrbanistMedium-regular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0" name="Google Shape;380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4" name="Google Shape;424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8" name="Google Shape;438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8" name="Google Shape;448;p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6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7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6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6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7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F12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1160383" y="2456110"/>
            <a:ext cx="9871233" cy="6704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FOST &amp; apidays </a:t>
            </a:r>
            <a:r>
              <a:rPr b="1" i="0" lang="en-US" sz="48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Amsterdam 2026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1395412" y="3269456"/>
            <a:ext cx="9401175" cy="3314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Persoonlijke Terugblik, Workshops &amp; Core Takeaways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1395412" y="3981896"/>
            <a:ext cx="9401175" cy="2485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49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9 - 10 juni 2026 • Amsterdam, Nederland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F12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/>
          <p:nvPr/>
        </p:nvSpPr>
        <p:spPr>
          <a:xfrm>
            <a:off x="5524500" y="2797522"/>
            <a:ext cx="1143000" cy="3810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4"/>
          <p:cNvSpPr txBox="1"/>
          <p:nvPr/>
        </p:nvSpPr>
        <p:spPr>
          <a:xfrm>
            <a:off x="1865471" y="3121372"/>
            <a:ext cx="8461057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Dag 1: </a:t>
            </a:r>
            <a:r>
              <a:rPr b="1" i="0" lang="en-US" sz="42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Architectuur &amp; Governance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2286000" y="3759547"/>
            <a:ext cx="7620000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De verschuiving van handmatige API-controle naar geautomatiseerde platform-engines en nationale standaarden.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F12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0" name="Google Shape;10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5"/>
          <p:cNvSpPr txBox="1"/>
          <p:nvPr/>
        </p:nvSpPr>
        <p:spPr>
          <a:xfrm>
            <a:off x="571500" y="1945481"/>
            <a:ext cx="520065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Europese </a:t>
            </a:r>
            <a:r>
              <a:rPr b="1" i="0" lang="en-US" sz="285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Soevereiniteit</a:t>
            </a:r>
            <a:endParaRPr/>
          </a:p>
        </p:txBody>
      </p:sp>
      <p:sp>
        <p:nvSpPr>
          <p:cNvPr id="102" name="Google Shape;102;p15"/>
          <p:cNvSpPr txBox="1"/>
          <p:nvPr/>
        </p:nvSpPr>
        <p:spPr>
          <a:xfrm>
            <a:off x="571500" y="2783681"/>
            <a:ext cx="4953000" cy="2347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Jean-Baptiste Kempf (VLC):</a:t>
            </a:r>
            <a:endParaRPr/>
          </a:p>
        </p:txBody>
      </p:sp>
      <p:sp>
        <p:nvSpPr>
          <p:cNvPr id="103" name="Google Shape;103;p15"/>
          <p:cNvSpPr txBox="1"/>
          <p:nvPr/>
        </p:nvSpPr>
        <p:spPr>
          <a:xfrm>
            <a:off x="838200" y="3161258"/>
            <a:ext cx="4686300" cy="4694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Propriëtaire kosten:</a:t>
            </a:r>
            <a:r>
              <a:rPr b="0" i="0" lang="en-US" sz="1275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Europa spendeert momenteel miljarden aan Amerikaanse licenties en closed-source.</a:t>
            </a:r>
            <a:endParaRPr/>
          </a:p>
        </p:txBody>
      </p:sp>
      <p:sp>
        <p:nvSpPr>
          <p:cNvPr id="104" name="Google Shape;104;p15"/>
          <p:cNvSpPr txBox="1"/>
          <p:nvPr/>
        </p:nvSpPr>
        <p:spPr>
          <a:xfrm>
            <a:off x="838200" y="3744962"/>
            <a:ext cx="4686300" cy="4694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Investering in Open Source:</a:t>
            </a:r>
            <a:r>
              <a:rPr b="0" i="0" lang="en-US" sz="1275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Besteed dit budget direct aan open source om onszelf digitaal en strategisch te versterken.</a:t>
            </a:r>
            <a:endParaRPr/>
          </a:p>
        </p:txBody>
      </p:sp>
      <p:sp>
        <p:nvSpPr>
          <p:cNvPr id="105" name="Google Shape;105;p15"/>
          <p:cNvSpPr txBox="1"/>
          <p:nvPr/>
        </p:nvSpPr>
        <p:spPr>
          <a:xfrm>
            <a:off x="838200" y="4328666"/>
            <a:ext cx="4686300" cy="4694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Geen afhankelijkheid:</a:t>
            </a:r>
            <a:r>
              <a:rPr b="0" i="0" lang="en-US" sz="1275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Een structurele verschuiving elimineert vendor lock-ins en bouwt autonome, Europese capaciteit.</a:t>
            </a:r>
            <a:endParaRPr/>
          </a:p>
        </p:txBody>
      </p:sp>
      <p:sp>
        <p:nvSpPr>
          <p:cNvPr id="106" name="Google Shape;106;p15"/>
          <p:cNvSpPr txBox="1"/>
          <p:nvPr/>
        </p:nvSpPr>
        <p:spPr>
          <a:xfrm>
            <a:off x="571500" y="3161258"/>
            <a:ext cx="161925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107" name="Google Shape;107;p15"/>
          <p:cNvSpPr txBox="1"/>
          <p:nvPr/>
        </p:nvSpPr>
        <p:spPr>
          <a:xfrm>
            <a:off x="571500" y="3744962"/>
            <a:ext cx="161925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108" name="Google Shape;108;p15"/>
          <p:cNvSpPr txBox="1"/>
          <p:nvPr/>
        </p:nvSpPr>
        <p:spPr>
          <a:xfrm>
            <a:off x="571500" y="4328666"/>
            <a:ext cx="161925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pic>
        <p:nvPicPr>
          <p:cNvPr descr="image.png" id="109" name="Google Shape;109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F12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4" name="Google Shape;11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5" name="Google Shape;115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247775"/>
            <a:ext cx="5286375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6"/>
          <p:cNvSpPr txBox="1"/>
          <p:nvPr/>
        </p:nvSpPr>
        <p:spPr>
          <a:xfrm>
            <a:off x="571500" y="1409700"/>
            <a:ext cx="5286375" cy="2347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Gedragsverandering zonder weerstand (Kin Lane):</a:t>
            </a:r>
            <a:endParaRPr/>
          </a:p>
        </p:txBody>
      </p:sp>
      <p:pic>
        <p:nvPicPr>
          <p:cNvPr descr="image.png" id="117" name="Google Shape;117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1257300"/>
            <a:ext cx="5267325" cy="360045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6"/>
          <p:cNvSpPr txBox="1"/>
          <p:nvPr/>
        </p:nvSpPr>
        <p:spPr>
          <a:xfrm>
            <a:off x="838200" y="1787276"/>
            <a:ext cx="5019675" cy="4694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Respecteer gewoontes:</a:t>
            </a:r>
            <a:r>
              <a:rPr b="0" i="0" lang="en-US" sz="1275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Ontwikkelaars veranderen hun workflow niet zomaar. Pas governance toe waar ze al werken.</a:t>
            </a:r>
            <a:endParaRPr/>
          </a:p>
        </p:txBody>
      </p:sp>
      <p:sp>
        <p:nvSpPr>
          <p:cNvPr id="119" name="Google Shape;119;p16"/>
          <p:cNvSpPr txBox="1"/>
          <p:nvPr/>
        </p:nvSpPr>
        <p:spPr>
          <a:xfrm>
            <a:off x="838200" y="2370980"/>
            <a:ext cx="5019675" cy="4694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Stap 1 - Discover:</a:t>
            </a:r>
            <a:r>
              <a:rPr b="0" i="0" lang="en-US" sz="1275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Breng in kaart wat daadwerkelijk draait. Bouw een index, model en actuele landkaart van je API's.</a:t>
            </a:r>
            <a:endParaRPr/>
          </a:p>
        </p:txBody>
      </p:sp>
      <p:sp>
        <p:nvSpPr>
          <p:cNvPr id="120" name="Google Shape;120;p16"/>
          <p:cNvSpPr txBox="1"/>
          <p:nvPr/>
        </p:nvSpPr>
        <p:spPr>
          <a:xfrm>
            <a:off x="838200" y="2954684"/>
            <a:ext cx="5019675" cy="4694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Nederlandse complimenten:</a:t>
            </a:r>
            <a:r>
              <a:rPr b="0" i="0" lang="en-US" sz="1275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Kin (voormalig Obama-adviseur) prees de Nederlandse API-strategie expliciet!</a:t>
            </a:r>
            <a:endParaRPr/>
          </a:p>
        </p:txBody>
      </p:sp>
      <p:sp>
        <p:nvSpPr>
          <p:cNvPr id="121" name="Google Shape;121;p16"/>
          <p:cNvSpPr txBox="1"/>
          <p:nvPr/>
        </p:nvSpPr>
        <p:spPr>
          <a:xfrm>
            <a:off x="571500" y="1787276"/>
            <a:ext cx="161925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122" name="Google Shape;122;p16"/>
          <p:cNvSpPr txBox="1"/>
          <p:nvPr/>
        </p:nvSpPr>
        <p:spPr>
          <a:xfrm>
            <a:off x="571500" y="2370980"/>
            <a:ext cx="161925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123" name="Google Shape;123;p16"/>
          <p:cNvSpPr txBox="1"/>
          <p:nvPr/>
        </p:nvSpPr>
        <p:spPr>
          <a:xfrm>
            <a:off x="571500" y="2954684"/>
            <a:ext cx="161925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124" name="Google Shape;124;p16"/>
          <p:cNvSpPr txBox="1"/>
          <p:nvPr/>
        </p:nvSpPr>
        <p:spPr>
          <a:xfrm>
            <a:off x="571500" y="571500"/>
            <a:ext cx="1160145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Governance gaat over </a:t>
            </a:r>
            <a:r>
              <a:rPr b="1" i="0" lang="en-US" sz="285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Mensen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F12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9" name="Google Shape;12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0" name="Google Shape;130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247775"/>
            <a:ext cx="5286375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7"/>
          <p:cNvSpPr txBox="1"/>
          <p:nvPr/>
        </p:nvSpPr>
        <p:spPr>
          <a:xfrm>
            <a:off x="571500" y="1409700"/>
            <a:ext cx="5286375" cy="2347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Noodzaak voor een gateway/tussenlaag (KrakenD):</a:t>
            </a:r>
            <a:endParaRPr/>
          </a:p>
        </p:txBody>
      </p:sp>
      <p:pic>
        <p:nvPicPr>
          <p:cNvPr descr="image.png" id="132" name="Google Shape;132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1257300"/>
            <a:ext cx="5267325" cy="360045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7"/>
          <p:cNvSpPr txBox="1"/>
          <p:nvPr/>
        </p:nvSpPr>
        <p:spPr>
          <a:xfrm>
            <a:off x="838200" y="1787276"/>
            <a:ext cx="5019675" cy="4694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Ontkoppeling:</a:t>
            </a:r>
            <a:r>
              <a:rPr b="0" i="0" lang="en-US" sz="1275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Transformeer payloads, pas rate-limiting toe en valideer autorisatie direct in de gateway-laag.</a:t>
            </a:r>
            <a:endParaRPr/>
          </a:p>
        </p:txBody>
      </p:sp>
      <p:sp>
        <p:nvSpPr>
          <p:cNvPr id="134" name="Google Shape;134;p17"/>
          <p:cNvSpPr txBox="1"/>
          <p:nvPr/>
        </p:nvSpPr>
        <p:spPr>
          <a:xfrm>
            <a:off x="838200" y="2370980"/>
            <a:ext cx="5019675" cy="4694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KrakenD Open Source:</a:t>
            </a:r>
            <a:r>
              <a:rPr b="0" i="0" lang="en-US" sz="1275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Een krachtige engine om calls on-the-fly en direct in de gateway te manipuleren.</a:t>
            </a:r>
            <a:endParaRPr/>
          </a:p>
        </p:txBody>
      </p:sp>
      <p:sp>
        <p:nvSpPr>
          <p:cNvPr id="135" name="Google Shape;135;p17"/>
          <p:cNvSpPr txBox="1"/>
          <p:nvPr/>
        </p:nvSpPr>
        <p:spPr>
          <a:xfrm>
            <a:off x="838200" y="2954684"/>
            <a:ext cx="5019675" cy="4694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Multi-Backend Aggregation:</a:t>
            </a:r>
            <a:r>
              <a:rPr b="0" i="0" lang="en-US" sz="1275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Voeg meerdere losse endpoints samen tot één beheersbaar en consistent interface.</a:t>
            </a:r>
            <a:endParaRPr/>
          </a:p>
        </p:txBody>
      </p:sp>
      <p:sp>
        <p:nvSpPr>
          <p:cNvPr id="136" name="Google Shape;136;p17"/>
          <p:cNvSpPr txBox="1"/>
          <p:nvPr/>
        </p:nvSpPr>
        <p:spPr>
          <a:xfrm>
            <a:off x="571500" y="1787276"/>
            <a:ext cx="161925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137" name="Google Shape;137;p17"/>
          <p:cNvSpPr txBox="1"/>
          <p:nvPr/>
        </p:nvSpPr>
        <p:spPr>
          <a:xfrm>
            <a:off x="571500" y="2370980"/>
            <a:ext cx="161925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138" name="Google Shape;138;p17"/>
          <p:cNvSpPr txBox="1"/>
          <p:nvPr/>
        </p:nvSpPr>
        <p:spPr>
          <a:xfrm>
            <a:off x="571500" y="2954684"/>
            <a:ext cx="161925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139" name="Google Shape;139;p17"/>
          <p:cNvSpPr txBox="1"/>
          <p:nvPr/>
        </p:nvSpPr>
        <p:spPr>
          <a:xfrm>
            <a:off x="571500" y="571500"/>
            <a:ext cx="1160145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De </a:t>
            </a:r>
            <a:r>
              <a:rPr b="1" i="0" lang="en-US" sz="285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Transformatielaag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F12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4" name="Google Shape;14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5" name="Google Shape;145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247775"/>
            <a:ext cx="5286375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8"/>
          <p:cNvSpPr txBox="1"/>
          <p:nvPr/>
        </p:nvSpPr>
        <p:spPr>
          <a:xfrm>
            <a:off x="571500" y="1409700"/>
            <a:ext cx="5286375" cy="2347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Typed Schema op de Consumption Layer:</a:t>
            </a:r>
            <a:endParaRPr/>
          </a:p>
        </p:txBody>
      </p:sp>
      <p:pic>
        <p:nvPicPr>
          <p:cNvPr descr="image.png" id="147" name="Google Shape;147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1257300"/>
            <a:ext cx="5267325" cy="3600450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>
            <a:off x="838200" y="1787276"/>
            <a:ext cx="5019675" cy="4694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GraphQL alternatief:</a:t>
            </a:r>
            <a:r>
              <a:rPr b="0" i="0" lang="en-US" sz="1275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Gebruik type-definities direct aan de clientzijde voor voorspelbare data-uitwisseling.</a:t>
            </a:r>
            <a:endParaRPr/>
          </a:p>
        </p:txBody>
      </p:sp>
      <p:sp>
        <p:nvSpPr>
          <p:cNvPr id="149" name="Google Shape;149;p18"/>
          <p:cNvSpPr txBox="1"/>
          <p:nvPr/>
        </p:nvSpPr>
        <p:spPr>
          <a:xfrm>
            <a:off x="838200" y="2370980"/>
            <a:ext cx="5019675" cy="4694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Fijnmazige controle:</a:t>
            </a:r>
            <a:r>
              <a:rPr b="0" i="0" lang="en-US" sz="1275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Maak auditering en veld-niveau governance over specifieke datavelden direct mogelijk.</a:t>
            </a:r>
            <a:endParaRPr/>
          </a:p>
        </p:txBody>
      </p:sp>
      <p:sp>
        <p:nvSpPr>
          <p:cNvPr id="150" name="Google Shape;150;p18"/>
          <p:cNvSpPr txBox="1"/>
          <p:nvPr/>
        </p:nvSpPr>
        <p:spPr>
          <a:xfrm>
            <a:off x="838200" y="2954684"/>
            <a:ext cx="5019675" cy="4694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Zelf-beschrijvend:</a:t>
            </a:r>
            <a:r>
              <a:rPr b="0" i="0" lang="en-US" sz="1275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Introspectie maakt het voor client-applicaties eenvoudig om API-mogelijkheden te begrijpen.</a:t>
            </a:r>
            <a:endParaRPr/>
          </a:p>
        </p:txBody>
      </p:sp>
      <p:sp>
        <p:nvSpPr>
          <p:cNvPr id="151" name="Google Shape;151;p18"/>
          <p:cNvSpPr txBox="1"/>
          <p:nvPr/>
        </p:nvSpPr>
        <p:spPr>
          <a:xfrm>
            <a:off x="571500" y="1787276"/>
            <a:ext cx="161925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152" name="Google Shape;152;p18"/>
          <p:cNvSpPr txBox="1"/>
          <p:nvPr/>
        </p:nvSpPr>
        <p:spPr>
          <a:xfrm>
            <a:off x="571500" y="2370980"/>
            <a:ext cx="161925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153" name="Google Shape;153;p18"/>
          <p:cNvSpPr txBox="1"/>
          <p:nvPr/>
        </p:nvSpPr>
        <p:spPr>
          <a:xfrm>
            <a:off x="571500" y="2954684"/>
            <a:ext cx="161925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154" name="Google Shape;154;p18"/>
          <p:cNvSpPr txBox="1"/>
          <p:nvPr/>
        </p:nvSpPr>
        <p:spPr>
          <a:xfrm>
            <a:off x="571500" y="571500"/>
            <a:ext cx="1160145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Consumptielaag </a:t>
            </a:r>
            <a:r>
              <a:rPr b="1" i="0" lang="en-US" sz="285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Schemas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F12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9" name="Google Shape;159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0" name="Google Shape;160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247775"/>
            <a:ext cx="5286375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9"/>
          <p:cNvSpPr txBox="1"/>
          <p:nvPr/>
        </p:nvSpPr>
        <p:spPr>
          <a:xfrm>
            <a:off x="571500" y="1409700"/>
            <a:ext cx="5286375" cy="2347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Postman workshop door Pooja Mistry:</a:t>
            </a:r>
            <a:endParaRPr/>
          </a:p>
        </p:txBody>
      </p:sp>
      <p:pic>
        <p:nvPicPr>
          <p:cNvPr descr="image.png" id="162" name="Google Shape;162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1257300"/>
            <a:ext cx="5267325" cy="360045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9"/>
          <p:cNvSpPr txBox="1"/>
          <p:nvPr/>
        </p:nvSpPr>
        <p:spPr>
          <a:xfrm>
            <a:off x="838200" y="1787276"/>
            <a:ext cx="5019675" cy="4694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Postman Agent Mode:</a:t>
            </a:r>
            <a:r>
              <a:rPr b="0" i="0" lang="en-US" sz="1275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Prototipeer en valideer live API-koppelingen vanuit natuurlijke taalbeschrijvingen.</a:t>
            </a:r>
            <a:endParaRPr/>
          </a:p>
        </p:txBody>
      </p:sp>
      <p:sp>
        <p:nvSpPr>
          <p:cNvPr id="164" name="Google Shape;164;p19"/>
          <p:cNvSpPr txBox="1"/>
          <p:nvPr/>
        </p:nvSpPr>
        <p:spPr>
          <a:xfrm>
            <a:off x="838200" y="2370980"/>
            <a:ext cx="5019675" cy="4694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Model Context Protocol (MCP):</a:t>
            </a:r>
            <a:r>
              <a:rPr b="0" i="0" lang="en-US" sz="1275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Genereer mock-omgevingen, scripts en API-tests zonder zelf code te schrijven.</a:t>
            </a:r>
            <a:endParaRPr/>
          </a:p>
        </p:txBody>
      </p:sp>
      <p:sp>
        <p:nvSpPr>
          <p:cNvPr id="165" name="Google Shape;165;p19"/>
          <p:cNvSpPr txBox="1"/>
          <p:nvPr/>
        </p:nvSpPr>
        <p:spPr>
          <a:xfrm>
            <a:off x="838200" y="2954684"/>
            <a:ext cx="5019675" cy="4694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AI-agent integratie:</a:t>
            </a:r>
            <a:r>
              <a:rPr b="0" i="0" lang="en-US" sz="1275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Inzicht in hoe LLM's en autonome agents gestructureerd met onze API's interacteren.</a:t>
            </a:r>
            <a:endParaRPr/>
          </a:p>
        </p:txBody>
      </p:sp>
      <p:sp>
        <p:nvSpPr>
          <p:cNvPr id="166" name="Google Shape;166;p19"/>
          <p:cNvSpPr txBox="1"/>
          <p:nvPr/>
        </p:nvSpPr>
        <p:spPr>
          <a:xfrm>
            <a:off x="571500" y="1787276"/>
            <a:ext cx="161925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167" name="Google Shape;167;p19"/>
          <p:cNvSpPr txBox="1"/>
          <p:nvPr/>
        </p:nvSpPr>
        <p:spPr>
          <a:xfrm>
            <a:off x="571500" y="2370980"/>
            <a:ext cx="161925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168" name="Google Shape;168;p19"/>
          <p:cNvSpPr txBox="1"/>
          <p:nvPr/>
        </p:nvSpPr>
        <p:spPr>
          <a:xfrm>
            <a:off x="571500" y="2954684"/>
            <a:ext cx="161925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169" name="Google Shape;169;p19"/>
          <p:cNvSpPr txBox="1"/>
          <p:nvPr/>
        </p:nvSpPr>
        <p:spPr>
          <a:xfrm>
            <a:off x="571500" y="571500"/>
            <a:ext cx="1160145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AI-Powered </a:t>
            </a:r>
            <a:r>
              <a:rPr b="1" i="0" lang="en-US" sz="285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Testing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F12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4" name="Google Shape;174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5" name="Google Shape;175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247775"/>
            <a:ext cx="5286375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20"/>
          <p:cNvSpPr txBox="1"/>
          <p:nvPr/>
        </p:nvSpPr>
        <p:spPr>
          <a:xfrm>
            <a:off x="571500" y="1409700"/>
            <a:ext cx="5286375" cy="2347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De transitie in moderne API Governance:</a:t>
            </a:r>
            <a:endParaRPr/>
          </a:p>
        </p:txBody>
      </p:sp>
      <p:pic>
        <p:nvPicPr>
          <p:cNvPr descr="image.png" id="177" name="Google Shape;177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1257300"/>
            <a:ext cx="5267325" cy="360045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0"/>
          <p:cNvSpPr txBox="1"/>
          <p:nvPr/>
        </p:nvSpPr>
        <p:spPr>
          <a:xfrm>
            <a:off x="838200" y="1787276"/>
            <a:ext cx="5019675" cy="4694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De chaos:</a:t>
            </a:r>
            <a:r>
              <a:rPr b="0" i="0" lang="en-US" sz="1275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Traditionele governance probeert complexe interacties tussen mensen en teams handmatig te reguleren.</a:t>
            </a:r>
            <a:endParaRPr/>
          </a:p>
        </p:txBody>
      </p:sp>
      <p:sp>
        <p:nvSpPr>
          <p:cNvPr id="179" name="Google Shape;179;p20"/>
          <p:cNvSpPr txBox="1"/>
          <p:nvPr/>
        </p:nvSpPr>
        <p:spPr>
          <a:xfrm>
            <a:off x="838200" y="2370980"/>
            <a:ext cx="5019675" cy="4694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De oplossing:</a:t>
            </a:r>
            <a:r>
              <a:rPr b="0" i="0" lang="en-US" sz="1275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Verschuif de focus naar het inrichten en beheren van platform-engines (de gateways).</a:t>
            </a:r>
            <a:endParaRPr/>
          </a:p>
        </p:txBody>
      </p:sp>
      <p:sp>
        <p:nvSpPr>
          <p:cNvPr id="180" name="Google Shape;180;p20"/>
          <p:cNvSpPr txBox="1"/>
          <p:nvPr/>
        </p:nvSpPr>
        <p:spPr>
          <a:xfrm>
            <a:off x="838200" y="2954684"/>
            <a:ext cx="5019675" cy="4694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Automatische controle:</a:t>
            </a:r>
            <a:r>
              <a:rPr b="0" i="0" lang="en-US" sz="1275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Regels centraal in de 'engine' afdwingen ontlast ontwikkelaars en behoudt grip.</a:t>
            </a:r>
            <a:endParaRPr/>
          </a:p>
        </p:txBody>
      </p:sp>
      <p:sp>
        <p:nvSpPr>
          <p:cNvPr id="181" name="Google Shape;181;p20"/>
          <p:cNvSpPr txBox="1"/>
          <p:nvPr/>
        </p:nvSpPr>
        <p:spPr>
          <a:xfrm>
            <a:off x="571500" y="1787276"/>
            <a:ext cx="161925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182" name="Google Shape;182;p20"/>
          <p:cNvSpPr txBox="1"/>
          <p:nvPr/>
        </p:nvSpPr>
        <p:spPr>
          <a:xfrm>
            <a:off x="571500" y="2370980"/>
            <a:ext cx="161925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183" name="Google Shape;183;p20"/>
          <p:cNvSpPr txBox="1"/>
          <p:nvPr/>
        </p:nvSpPr>
        <p:spPr>
          <a:xfrm>
            <a:off x="571500" y="2954684"/>
            <a:ext cx="161925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184" name="Google Shape;184;p20"/>
          <p:cNvSpPr txBox="1"/>
          <p:nvPr/>
        </p:nvSpPr>
        <p:spPr>
          <a:xfrm>
            <a:off x="571500" y="571500"/>
            <a:ext cx="1160145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Mensen of </a:t>
            </a:r>
            <a:r>
              <a:rPr b="1" i="0" lang="en-US" sz="285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Engines</a:t>
            </a:r>
            <a:r>
              <a:rPr b="1" i="0" lang="en-US" sz="285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 beheren?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F12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9" name="Google Shape;18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0" name="Google Shape;190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247775"/>
            <a:ext cx="5286375" cy="50387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1" name="Google Shape;191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1247775"/>
            <a:ext cx="5286375" cy="5038725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21"/>
          <p:cNvSpPr txBox="1"/>
          <p:nvPr/>
        </p:nvSpPr>
        <p:spPr>
          <a:xfrm>
            <a:off x="809625" y="1485900"/>
            <a:ext cx="5050631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DEFF9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Het Goede Initiatief</a:t>
            </a:r>
            <a:endParaRPr/>
          </a:p>
        </p:txBody>
      </p:sp>
      <p:sp>
        <p:nvSpPr>
          <p:cNvPr id="193" name="Google Shape;193;p21"/>
          <p:cNvSpPr txBox="1"/>
          <p:nvPr/>
        </p:nvSpPr>
        <p:spPr>
          <a:xfrm>
            <a:off x="809625" y="1895475"/>
            <a:ext cx="4810125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Dimitri van Hees (Geonovum)</a:t>
            </a:r>
            <a:r>
              <a:rPr b="0" i="0" lang="en-US" sz="12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presenteerde een register om OpenAPI- en JSON-schema's centraal te ontsluiten voor de overheid.</a:t>
            </a:r>
            <a:endParaRPr/>
          </a:p>
        </p:txBody>
      </p:sp>
      <p:sp>
        <p:nvSpPr>
          <p:cNvPr id="194" name="Google Shape;194;p21"/>
          <p:cNvSpPr txBox="1"/>
          <p:nvPr/>
        </p:nvSpPr>
        <p:spPr>
          <a:xfrm>
            <a:off x="809625" y="2474416"/>
            <a:ext cx="4810125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Dit stimuleert hergebruik en standaardisatie van dataspecificaties over overheidsgrenzen heen.</a:t>
            </a:r>
            <a:endParaRPr/>
          </a:p>
        </p:txBody>
      </p:sp>
      <p:sp>
        <p:nvSpPr>
          <p:cNvPr id="195" name="Google Shape;195;p21"/>
          <p:cNvSpPr txBox="1"/>
          <p:nvPr/>
        </p:nvSpPr>
        <p:spPr>
          <a:xfrm>
            <a:off x="6572250" y="1485900"/>
            <a:ext cx="5050631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DEFF9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Kritiek: De 'Grabbelton'</a:t>
            </a:r>
            <a:endParaRPr/>
          </a:p>
        </p:txBody>
      </p:sp>
      <p:sp>
        <p:nvSpPr>
          <p:cNvPr id="196" name="Google Shape;196;p21"/>
          <p:cNvSpPr txBox="1"/>
          <p:nvPr/>
        </p:nvSpPr>
        <p:spPr>
          <a:xfrm>
            <a:off x="6572250" y="1895475"/>
            <a:ext cx="4810125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Het register mist op dit moment nog een goede visuele representatie. Het voelt nu als een grote vergaarbak zonder heldere context.</a:t>
            </a:r>
            <a:endParaRPr/>
          </a:p>
        </p:txBody>
      </p:sp>
      <p:sp>
        <p:nvSpPr>
          <p:cNvPr id="197" name="Google Shape;197;p21"/>
          <p:cNvSpPr txBox="1"/>
          <p:nvPr/>
        </p:nvSpPr>
        <p:spPr>
          <a:xfrm>
            <a:off x="6572250" y="2474416"/>
            <a:ext cx="4810125" cy="6398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Onze kans:</a:t>
            </a:r>
            <a:r>
              <a:rPr b="0" i="0" lang="en-US" sz="12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Onze UML/objecttypen POC in React kan hier uitstekend bij helpen om semantisch begrip visueel te maken! Ik ga Dimitri benaderen.</a:t>
            </a:r>
            <a:endParaRPr/>
          </a:p>
        </p:txBody>
      </p:sp>
      <p:sp>
        <p:nvSpPr>
          <p:cNvPr id="198" name="Google Shape;198;p21"/>
          <p:cNvSpPr txBox="1"/>
          <p:nvPr/>
        </p:nvSpPr>
        <p:spPr>
          <a:xfrm>
            <a:off x="571500" y="571500"/>
            <a:ext cx="1160145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Het Nationaal </a:t>
            </a:r>
            <a:r>
              <a:rPr b="1" i="0" lang="en-US" sz="285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Schema Register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F12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3" name="Google Shape;203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2"/>
          <p:cNvSpPr txBox="1"/>
          <p:nvPr/>
        </p:nvSpPr>
        <p:spPr>
          <a:xfrm>
            <a:off x="571500" y="1945481"/>
            <a:ext cx="520065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API-Sturing in </a:t>
            </a:r>
            <a:r>
              <a:rPr b="1" i="0" lang="en-US" sz="285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Italië</a:t>
            </a:r>
            <a:endParaRPr/>
          </a:p>
        </p:txBody>
      </p:sp>
      <p:sp>
        <p:nvSpPr>
          <p:cNvPr id="205" name="Google Shape;205;p22"/>
          <p:cNvSpPr txBox="1"/>
          <p:nvPr/>
        </p:nvSpPr>
        <p:spPr>
          <a:xfrm>
            <a:off x="571500" y="2783681"/>
            <a:ext cx="4953000" cy="2347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Roberto Polli over de Italiaanse aanpak:</a:t>
            </a:r>
            <a:endParaRPr/>
          </a:p>
        </p:txBody>
      </p:sp>
      <p:sp>
        <p:nvSpPr>
          <p:cNvPr id="206" name="Google Shape;206;p22"/>
          <p:cNvSpPr txBox="1"/>
          <p:nvPr/>
        </p:nvSpPr>
        <p:spPr>
          <a:xfrm>
            <a:off x="838200" y="3161258"/>
            <a:ext cx="4686300" cy="4694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Federatieve uitdaging:</a:t>
            </a:r>
            <a:r>
              <a:rPr b="0" i="0" lang="en-US" sz="1275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Italië heeft te maken met 20 autonome regio's en meer dan 8000 gemeenten met elk eigen regels.</a:t>
            </a:r>
            <a:endParaRPr/>
          </a:p>
        </p:txBody>
      </p:sp>
      <p:sp>
        <p:nvSpPr>
          <p:cNvPr id="207" name="Google Shape;207;p22"/>
          <p:cNvSpPr txBox="1"/>
          <p:nvPr/>
        </p:nvSpPr>
        <p:spPr>
          <a:xfrm>
            <a:off x="838200" y="3744962"/>
            <a:ext cx="4686300" cy="4694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Sterk Mandaat:</a:t>
            </a:r>
            <a:r>
              <a:rPr b="0" i="0" lang="en-US" sz="1275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Sinds 2016 heeft het Digital Transformation Team de regie strak in handen genomen vanaf de premier.</a:t>
            </a:r>
            <a:endParaRPr/>
          </a:p>
        </p:txBody>
      </p:sp>
      <p:sp>
        <p:nvSpPr>
          <p:cNvPr id="208" name="Google Shape;208;p22"/>
          <p:cNvSpPr txBox="1"/>
          <p:nvPr/>
        </p:nvSpPr>
        <p:spPr>
          <a:xfrm>
            <a:off x="838200" y="4328666"/>
            <a:ext cx="4686300" cy="4694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Resultaten:</a:t>
            </a:r>
            <a:r>
              <a:rPr b="0" i="0" lang="en-US" sz="1275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Harmonisatie via REST, open standaarden, een centraal API-catalogus (api.gov.it) en schema register.</a:t>
            </a:r>
            <a:endParaRPr/>
          </a:p>
        </p:txBody>
      </p:sp>
      <p:sp>
        <p:nvSpPr>
          <p:cNvPr id="209" name="Google Shape;209;p22"/>
          <p:cNvSpPr txBox="1"/>
          <p:nvPr/>
        </p:nvSpPr>
        <p:spPr>
          <a:xfrm>
            <a:off x="571500" y="3161258"/>
            <a:ext cx="161925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210" name="Google Shape;210;p22"/>
          <p:cNvSpPr txBox="1"/>
          <p:nvPr/>
        </p:nvSpPr>
        <p:spPr>
          <a:xfrm>
            <a:off x="571500" y="3744962"/>
            <a:ext cx="161925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211" name="Google Shape;211;p22"/>
          <p:cNvSpPr txBox="1"/>
          <p:nvPr/>
        </p:nvSpPr>
        <p:spPr>
          <a:xfrm>
            <a:off x="571500" y="4328666"/>
            <a:ext cx="161925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pic>
        <p:nvPicPr>
          <p:cNvPr descr="image.png" id="212" name="Google Shape;212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F12"/>
        </a:solidFill>
      </p:bgPr>
    </p:bg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7" name="Google Shape;217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8" name="Google Shape;218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247775"/>
            <a:ext cx="5286375" cy="50387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9" name="Google Shape;219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1247775"/>
            <a:ext cx="5286375" cy="5038725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3"/>
          <p:cNvSpPr txBox="1"/>
          <p:nvPr/>
        </p:nvSpPr>
        <p:spPr>
          <a:xfrm>
            <a:off x="809625" y="1485900"/>
            <a:ext cx="5050631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DEFF9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Specificatie als Grondwet</a:t>
            </a:r>
            <a:endParaRPr/>
          </a:p>
        </p:txBody>
      </p:sp>
      <p:sp>
        <p:nvSpPr>
          <p:cNvPr id="221" name="Google Shape;221;p23"/>
          <p:cNvSpPr txBox="1"/>
          <p:nvPr/>
        </p:nvSpPr>
        <p:spPr>
          <a:xfrm>
            <a:off x="809625" y="1895475"/>
            <a:ext cx="4810125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Specs vormen een uitstekende brug tussen functionele business eisen en de uiteindelijke code. Maar het is vaak niet visueel.</a:t>
            </a:r>
            <a:endParaRPr/>
          </a:p>
        </p:txBody>
      </p:sp>
      <p:sp>
        <p:nvSpPr>
          <p:cNvPr id="222" name="Google Shape;222;p23"/>
          <p:cNvSpPr txBox="1"/>
          <p:nvPr/>
        </p:nvSpPr>
        <p:spPr>
          <a:xfrm>
            <a:off x="809625" y="2474416"/>
            <a:ext cx="4810125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De kritische vraag:</a:t>
            </a:r>
            <a:r>
              <a:rPr b="0" i="0" lang="en-US" sz="12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Waar zijn requirements en visueel modelleren gebleven in deze bulk aan platte schema's?</a:t>
            </a:r>
            <a:endParaRPr/>
          </a:p>
        </p:txBody>
      </p:sp>
      <p:sp>
        <p:nvSpPr>
          <p:cNvPr id="223" name="Google Shape;223;p23"/>
          <p:cNvSpPr txBox="1"/>
          <p:nvPr/>
        </p:nvSpPr>
        <p:spPr>
          <a:xfrm>
            <a:off x="6572250" y="1485900"/>
            <a:ext cx="5050631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DEFF9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AI Herontdekking</a:t>
            </a:r>
            <a:endParaRPr/>
          </a:p>
        </p:txBody>
      </p:sp>
      <p:sp>
        <p:nvSpPr>
          <p:cNvPr id="224" name="Google Shape;224;p23"/>
          <p:cNvSpPr txBox="1"/>
          <p:nvPr/>
        </p:nvSpPr>
        <p:spPr>
          <a:xfrm>
            <a:off x="6572250" y="1895475"/>
            <a:ext cx="4810125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In dit nieuwe AI-tijdperk worden functionele specificaties plotseling in een heel nieuw licht herontdekt.</a:t>
            </a:r>
            <a:endParaRPr/>
          </a:p>
        </p:txBody>
      </p:sp>
      <p:sp>
        <p:nvSpPr>
          <p:cNvPr id="225" name="Google Shape;225;p23"/>
          <p:cNvSpPr txBox="1"/>
          <p:nvPr/>
        </p:nvSpPr>
        <p:spPr>
          <a:xfrm>
            <a:off x="6572250" y="2474416"/>
            <a:ext cx="4810125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De reden:</a:t>
            </a:r>
            <a:r>
              <a:rPr b="0" i="0" lang="en-US" sz="12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Autonomous AI-agents kunnen systemen alleen begrijpen als de API's exact en consistent beschreven zijn via sluitende specs.</a:t>
            </a:r>
            <a:endParaRPr/>
          </a:p>
        </p:txBody>
      </p:sp>
      <p:sp>
        <p:nvSpPr>
          <p:cNvPr id="226" name="Google Shape;226;p23"/>
          <p:cNvSpPr txBox="1"/>
          <p:nvPr/>
        </p:nvSpPr>
        <p:spPr>
          <a:xfrm>
            <a:off x="571500" y="571500"/>
            <a:ext cx="1160145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Spec-Driven API </a:t>
            </a:r>
            <a:r>
              <a:rPr b="1" i="0" lang="en-US" sz="285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Design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F12"/>
        </a:solid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1" name="Google Shape;231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24"/>
          <p:cNvSpPr/>
          <p:nvPr/>
        </p:nvSpPr>
        <p:spPr>
          <a:xfrm>
            <a:off x="5524500" y="2797522"/>
            <a:ext cx="1143000" cy="3810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4"/>
          <p:cNvSpPr txBox="1"/>
          <p:nvPr/>
        </p:nvSpPr>
        <p:spPr>
          <a:xfrm>
            <a:off x="2505551" y="3121372"/>
            <a:ext cx="7180897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Dag 2: </a:t>
            </a:r>
            <a:r>
              <a:rPr b="1" i="0" lang="en-US" sz="42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De GraphQL Ochtend</a:t>
            </a:r>
            <a:endParaRPr/>
          </a:p>
        </p:txBody>
      </p:sp>
      <p:sp>
        <p:nvSpPr>
          <p:cNvPr id="234" name="Google Shape;234;p24"/>
          <p:cNvSpPr txBox="1"/>
          <p:nvPr/>
        </p:nvSpPr>
        <p:spPr>
          <a:xfrm>
            <a:off x="2286000" y="3759547"/>
            <a:ext cx="7620000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Mythes ontmaskerd, integratie met LLM's en de revolutionaire opkomst van AI-powered mock-omgevingen.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F12"/>
        </a:solid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9" name="Google Shape;239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0" name="Google Shape;240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247775"/>
            <a:ext cx="5286375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25"/>
          <p:cNvSpPr txBox="1"/>
          <p:nvPr/>
        </p:nvSpPr>
        <p:spPr>
          <a:xfrm>
            <a:off x="571500" y="1409700"/>
            <a:ext cx="5286375" cy="2347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Jens Neuse (WunderGraph) ontmaskert dogma's:</a:t>
            </a:r>
            <a:endParaRPr/>
          </a:p>
        </p:txBody>
      </p:sp>
      <p:pic>
        <p:nvPicPr>
          <p:cNvPr descr="image.png" id="242" name="Google Shape;242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1257300"/>
            <a:ext cx="5267325" cy="3600450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25"/>
          <p:cNvSpPr txBox="1"/>
          <p:nvPr/>
        </p:nvSpPr>
        <p:spPr>
          <a:xfrm>
            <a:off x="838200" y="1787276"/>
            <a:ext cx="5019675" cy="4694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18 Claims getoetst:</a:t>
            </a:r>
            <a:r>
              <a:rPr b="0" i="0" lang="en-US" sz="1275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Slechts 3 van de 18 klassieke pushback-argumenten tegen GraphQL hielden stand.</a:t>
            </a:r>
            <a:endParaRPr/>
          </a:p>
        </p:txBody>
      </p:sp>
      <p:sp>
        <p:nvSpPr>
          <p:cNvPr id="244" name="Google Shape;244;p25"/>
          <p:cNvSpPr txBox="1"/>
          <p:nvPr/>
        </p:nvSpPr>
        <p:spPr>
          <a:xfrm>
            <a:off x="838200" y="2370980"/>
            <a:ext cx="5019675" cy="4694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De verlichting:</a:t>
            </a:r>
            <a:r>
              <a:rPr b="0" i="0" lang="en-US" sz="1275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GraphQL is volwassen geworden en is niet langer overhyped of verkeerd begrepen.</a:t>
            </a:r>
            <a:endParaRPr/>
          </a:p>
        </p:txBody>
      </p:sp>
      <p:sp>
        <p:nvSpPr>
          <p:cNvPr id="245" name="Google Shape;245;p25"/>
          <p:cNvSpPr txBox="1"/>
          <p:nvPr/>
        </p:nvSpPr>
        <p:spPr>
          <a:xfrm>
            <a:off x="838200" y="2954684"/>
            <a:ext cx="5019675" cy="4694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Abstraction Layer:</a:t>
            </a:r>
            <a:r>
              <a:rPr b="0" i="0" lang="en-US" sz="1275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GraphQL blinkt uit als één simplistische interface voor AI-modellen en agents, i.p.v. honderden losse REST-endpoints.</a:t>
            </a:r>
            <a:endParaRPr/>
          </a:p>
        </p:txBody>
      </p:sp>
      <p:sp>
        <p:nvSpPr>
          <p:cNvPr id="246" name="Google Shape;246;p25"/>
          <p:cNvSpPr txBox="1"/>
          <p:nvPr/>
        </p:nvSpPr>
        <p:spPr>
          <a:xfrm>
            <a:off x="571500" y="1787276"/>
            <a:ext cx="161925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247" name="Google Shape;247;p25"/>
          <p:cNvSpPr txBox="1"/>
          <p:nvPr/>
        </p:nvSpPr>
        <p:spPr>
          <a:xfrm>
            <a:off x="571500" y="2370980"/>
            <a:ext cx="161925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248" name="Google Shape;248;p25"/>
          <p:cNvSpPr txBox="1"/>
          <p:nvPr/>
        </p:nvSpPr>
        <p:spPr>
          <a:xfrm>
            <a:off x="571500" y="2954684"/>
            <a:ext cx="161925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249" name="Google Shape;249;p25"/>
          <p:cNvSpPr txBox="1"/>
          <p:nvPr/>
        </p:nvSpPr>
        <p:spPr>
          <a:xfrm>
            <a:off x="571500" y="571500"/>
            <a:ext cx="1160145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GraphQL vs REST </a:t>
            </a:r>
            <a:r>
              <a:rPr b="1" i="0" lang="en-US" sz="285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Mythes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F12"/>
        </a:solidFill>
      </p:bgPr>
    </p:bg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4" name="Google Shape;254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5" name="Google Shape;255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247775"/>
            <a:ext cx="5286375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26"/>
          <p:cNvSpPr txBox="1"/>
          <p:nvPr/>
        </p:nvSpPr>
        <p:spPr>
          <a:xfrm>
            <a:off x="571500" y="1409700"/>
            <a:ext cx="5286375" cy="2347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Martin Bonnin (Apollo) &amp; Pascal Senn (ChilliCream):</a:t>
            </a:r>
            <a:endParaRPr/>
          </a:p>
        </p:txBody>
      </p:sp>
      <p:pic>
        <p:nvPicPr>
          <p:cNvPr descr="image.png" id="257" name="Google Shape;257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1257300"/>
            <a:ext cx="5267325" cy="3600450"/>
          </a:xfrm>
          <a:prstGeom prst="rect">
            <a:avLst/>
          </a:prstGeom>
          <a:noFill/>
          <a:ln>
            <a:noFill/>
          </a:ln>
        </p:spPr>
      </p:pic>
      <p:sp>
        <p:nvSpPr>
          <p:cNvPr id="258" name="Google Shape;258;p26"/>
          <p:cNvSpPr txBox="1"/>
          <p:nvPr/>
        </p:nvSpPr>
        <p:spPr>
          <a:xfrm>
            <a:off x="838200" y="1787276"/>
            <a:ext cx="5019675" cy="4694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Solide basis:</a:t>
            </a:r>
            <a:r>
              <a:rPr b="0" i="0" lang="en-US" sz="1275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De GQL-specificatie vormt al 10 jaar een uiterst solide, stabiele basis.</a:t>
            </a:r>
            <a:endParaRPr/>
          </a:p>
        </p:txBody>
      </p:sp>
      <p:sp>
        <p:nvSpPr>
          <p:cNvPr id="259" name="Google Shape;259;p26"/>
          <p:cNvSpPr txBox="1"/>
          <p:nvPr/>
        </p:nvSpPr>
        <p:spPr>
          <a:xfrm>
            <a:off x="838200" y="2370980"/>
            <a:ext cx="5019675" cy="4694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Friction Points oplossen:</a:t>
            </a:r>
            <a:r>
              <a:rPr b="0" i="0" lang="en-US" sz="1275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Actieve discussies binnen de GraphQL Foundation om developer experience te optimaliseren.</a:t>
            </a:r>
            <a:endParaRPr/>
          </a:p>
        </p:txBody>
      </p:sp>
      <p:sp>
        <p:nvSpPr>
          <p:cNvPr id="260" name="Google Shape;260;p26"/>
          <p:cNvSpPr txBox="1"/>
          <p:nvPr/>
        </p:nvSpPr>
        <p:spPr>
          <a:xfrm>
            <a:off x="838200" y="2954684"/>
            <a:ext cx="5019675" cy="4694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Belangrijkste RFCs:</a:t>
            </a:r>
            <a:r>
              <a:rPr b="0" i="0" lang="en-US" sz="1275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Focus op nullability-behandeling, native observability en prestatieverbeteringen.</a:t>
            </a:r>
            <a:endParaRPr/>
          </a:p>
        </p:txBody>
      </p:sp>
      <p:sp>
        <p:nvSpPr>
          <p:cNvPr id="261" name="Google Shape;261;p26"/>
          <p:cNvSpPr txBox="1"/>
          <p:nvPr/>
        </p:nvSpPr>
        <p:spPr>
          <a:xfrm>
            <a:off x="571500" y="1787276"/>
            <a:ext cx="161925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262" name="Google Shape;262;p26"/>
          <p:cNvSpPr txBox="1"/>
          <p:nvPr/>
        </p:nvSpPr>
        <p:spPr>
          <a:xfrm>
            <a:off x="571500" y="2370980"/>
            <a:ext cx="161925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263" name="Google Shape;263;p26"/>
          <p:cNvSpPr txBox="1"/>
          <p:nvPr/>
        </p:nvSpPr>
        <p:spPr>
          <a:xfrm>
            <a:off x="571500" y="2954684"/>
            <a:ext cx="161925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264" name="Google Shape;264;p26"/>
          <p:cNvSpPr txBox="1"/>
          <p:nvPr/>
        </p:nvSpPr>
        <p:spPr>
          <a:xfrm>
            <a:off x="571500" y="571500"/>
            <a:ext cx="1160145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De Toekomst van </a:t>
            </a:r>
            <a:r>
              <a:rPr b="1" i="0" lang="en-US" sz="285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GraphQL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F12"/>
        </a:solidFill>
      </p:bgPr>
    </p:bg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9" name="Google Shape;269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0" name="Google Shape;270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247775"/>
            <a:ext cx="5286375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27"/>
          <p:cNvSpPr txBox="1"/>
          <p:nvPr/>
        </p:nvSpPr>
        <p:spPr>
          <a:xfrm>
            <a:off x="571500" y="1409700"/>
            <a:ext cx="5286375" cy="2347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Thore Koritzius over fuzzy schema search en agents:</a:t>
            </a:r>
            <a:endParaRPr/>
          </a:p>
        </p:txBody>
      </p:sp>
      <p:pic>
        <p:nvPicPr>
          <p:cNvPr descr="image.png" id="272" name="Google Shape;272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1257300"/>
            <a:ext cx="5267325" cy="3600450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27"/>
          <p:cNvSpPr txBox="1"/>
          <p:nvPr/>
        </p:nvSpPr>
        <p:spPr>
          <a:xfrm>
            <a:off x="838200" y="1787276"/>
            <a:ext cx="5019675" cy="4694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Algemene modellen falen:</a:t>
            </a:r>
            <a:r>
              <a:rPr b="0" i="0" lang="en-US" sz="1275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Standaard LLM-embeddings begrijpen GQL type-systemen en relaties niet goed.</a:t>
            </a:r>
            <a:endParaRPr/>
          </a:p>
        </p:txBody>
      </p:sp>
      <p:sp>
        <p:nvSpPr>
          <p:cNvPr id="274" name="Google Shape;274;p27"/>
          <p:cNvSpPr txBox="1"/>
          <p:nvPr/>
        </p:nvSpPr>
        <p:spPr>
          <a:xfrm>
            <a:off x="838200" y="2370980"/>
            <a:ext cx="5019675" cy="4694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Schema-Aware Pipelines:</a:t>
            </a:r>
            <a:r>
              <a:rPr b="0" i="0" lang="en-US" sz="1275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Speciale verwerking en chunking van GQL om embedding-modellen te trainen.</a:t>
            </a:r>
            <a:endParaRPr/>
          </a:p>
        </p:txBody>
      </p:sp>
      <p:sp>
        <p:nvSpPr>
          <p:cNvPr id="275" name="Google Shape;275;p27"/>
          <p:cNvSpPr txBox="1"/>
          <p:nvPr/>
        </p:nvSpPr>
        <p:spPr>
          <a:xfrm>
            <a:off x="838200" y="2954684"/>
            <a:ext cx="5019675" cy="4694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Voorkom hallucinaties:</a:t>
            </a:r>
            <a:r>
              <a:rPr b="0" i="0" lang="en-US" sz="1275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Directe mapping tussen natuurlijke taal en exacte, type-correcte GQL API-queries.</a:t>
            </a:r>
            <a:endParaRPr/>
          </a:p>
        </p:txBody>
      </p:sp>
      <p:sp>
        <p:nvSpPr>
          <p:cNvPr id="276" name="Google Shape;276;p27"/>
          <p:cNvSpPr txBox="1"/>
          <p:nvPr/>
        </p:nvSpPr>
        <p:spPr>
          <a:xfrm>
            <a:off x="571500" y="1787276"/>
            <a:ext cx="161925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277" name="Google Shape;277;p27"/>
          <p:cNvSpPr txBox="1"/>
          <p:nvPr/>
        </p:nvSpPr>
        <p:spPr>
          <a:xfrm>
            <a:off x="571500" y="2370980"/>
            <a:ext cx="161925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278" name="Google Shape;278;p27"/>
          <p:cNvSpPr txBox="1"/>
          <p:nvPr/>
        </p:nvSpPr>
        <p:spPr>
          <a:xfrm>
            <a:off x="571500" y="2954684"/>
            <a:ext cx="161925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279" name="Google Shape;279;p27"/>
          <p:cNvSpPr txBox="1"/>
          <p:nvPr/>
        </p:nvSpPr>
        <p:spPr>
          <a:xfrm>
            <a:off x="571500" y="571500"/>
            <a:ext cx="1160145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Schema-Aware </a:t>
            </a:r>
            <a:r>
              <a:rPr b="1" i="0" lang="en-US" sz="285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Embeddings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F12"/>
        </a:solidFill>
      </p:bgPr>
    </p:bg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4" name="Google Shape;284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5" name="Google Shape;285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247775"/>
            <a:ext cx="5286375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28"/>
          <p:cNvSpPr txBox="1"/>
          <p:nvPr/>
        </p:nvSpPr>
        <p:spPr>
          <a:xfrm>
            <a:off x="571500" y="1409700"/>
            <a:ext cx="5286375" cy="2347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Christian Ernst (Booking.com) over ontkoppeling:</a:t>
            </a:r>
            <a:endParaRPr/>
          </a:p>
        </p:txBody>
      </p:sp>
      <p:pic>
        <p:nvPicPr>
          <p:cNvPr descr="image.png" id="287" name="Google Shape;287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1257300"/>
            <a:ext cx="5267325" cy="3600450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28"/>
          <p:cNvSpPr txBox="1"/>
          <p:nvPr/>
        </p:nvSpPr>
        <p:spPr>
          <a:xfrm>
            <a:off x="838200" y="1787276"/>
            <a:ext cx="5019675" cy="4694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SDLC-brede Mocks:</a:t>
            </a:r>
            <a:r>
              <a:rPr b="0" i="0" lang="en-US" sz="1275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Gebruik mocks vanaf de ideatiefase tot aan de uiteindelijke productie.</a:t>
            </a:r>
            <a:endParaRPr/>
          </a:p>
        </p:txBody>
      </p:sp>
      <p:sp>
        <p:nvSpPr>
          <p:cNvPr id="289" name="Google Shape;289;p28"/>
          <p:cNvSpPr txBox="1"/>
          <p:nvPr/>
        </p:nvSpPr>
        <p:spPr>
          <a:xfrm>
            <a:off x="838200" y="2370980"/>
            <a:ext cx="5019675" cy="4694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Volledige ontkoppeling:</a:t>
            </a:r>
            <a:r>
              <a:rPr b="0" i="0" lang="en-US" sz="1275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Frontend- en backend-teams kunnen volledig onafhankelijk en in eigen tempo ontwikkelen.</a:t>
            </a:r>
            <a:endParaRPr/>
          </a:p>
        </p:txBody>
      </p:sp>
      <p:sp>
        <p:nvSpPr>
          <p:cNvPr id="290" name="Google Shape;290;p28"/>
          <p:cNvSpPr txBox="1"/>
          <p:nvPr/>
        </p:nvSpPr>
        <p:spPr>
          <a:xfrm>
            <a:off x="838200" y="2954684"/>
            <a:ext cx="5019675" cy="7041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Design Constraints:</a:t>
            </a:r>
            <a:r>
              <a:rPr b="0" i="0" lang="en-US" sz="1275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Gebouwd rond 5 principes: flexibiliteit, minimale backend-coördinatie, multi-platform, offline-support en productieveiligheid.</a:t>
            </a:r>
            <a:endParaRPr/>
          </a:p>
        </p:txBody>
      </p:sp>
      <p:sp>
        <p:nvSpPr>
          <p:cNvPr id="291" name="Google Shape;291;p28"/>
          <p:cNvSpPr txBox="1"/>
          <p:nvPr/>
        </p:nvSpPr>
        <p:spPr>
          <a:xfrm>
            <a:off x="571500" y="1787276"/>
            <a:ext cx="161925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292" name="Google Shape;292;p28"/>
          <p:cNvSpPr txBox="1"/>
          <p:nvPr/>
        </p:nvSpPr>
        <p:spPr>
          <a:xfrm>
            <a:off x="571500" y="2370980"/>
            <a:ext cx="161925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293" name="Google Shape;293;p28"/>
          <p:cNvSpPr txBox="1"/>
          <p:nvPr/>
        </p:nvSpPr>
        <p:spPr>
          <a:xfrm>
            <a:off x="571500" y="2954684"/>
            <a:ext cx="161925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294" name="Google Shape;294;p28"/>
          <p:cNvSpPr txBox="1"/>
          <p:nvPr/>
        </p:nvSpPr>
        <p:spPr>
          <a:xfrm>
            <a:off x="571500" y="571500"/>
            <a:ext cx="1160145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GQL Mocking op </a:t>
            </a:r>
            <a:r>
              <a:rPr b="1" i="0" lang="en-US" sz="285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Schaal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F12"/>
        </a:solidFill>
      </p:bgPr>
    </p:bg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99" name="Google Shape;299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00" name="Google Shape;300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247775"/>
            <a:ext cx="5286375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29"/>
          <p:cNvSpPr txBox="1"/>
          <p:nvPr/>
        </p:nvSpPr>
        <p:spPr>
          <a:xfrm>
            <a:off x="571500" y="1409700"/>
            <a:ext cx="5286375" cy="2347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Hoe Mocking de ontwikkellifecycle versnelt:</a:t>
            </a:r>
            <a:endParaRPr/>
          </a:p>
        </p:txBody>
      </p:sp>
      <p:pic>
        <p:nvPicPr>
          <p:cNvPr descr="image.png" id="302" name="Google Shape;302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1257300"/>
            <a:ext cx="5267325" cy="360045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29"/>
          <p:cNvSpPr txBox="1"/>
          <p:nvPr/>
        </p:nvSpPr>
        <p:spPr>
          <a:xfrm>
            <a:off x="838200" y="1787276"/>
            <a:ext cx="5019675" cy="4694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Sprint Planning:</a:t>
            </a:r>
            <a:r>
              <a:rPr b="0" i="0" lang="en-US" sz="1275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Geen blockers meer; frontend start direct op dag één zodra het schema gepubliceerd is.</a:t>
            </a:r>
            <a:endParaRPr/>
          </a:p>
        </p:txBody>
      </p:sp>
      <p:sp>
        <p:nvSpPr>
          <p:cNvPr id="304" name="Google Shape;304;p29"/>
          <p:cNvSpPr txBox="1"/>
          <p:nvPr/>
        </p:nvSpPr>
        <p:spPr>
          <a:xfrm>
            <a:off x="838200" y="2370980"/>
            <a:ext cx="5019675" cy="4694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Ontwikkeling:</a:t>
            </a:r>
            <a:r>
              <a:rPr b="0" i="0" lang="en-US" sz="1275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Bouw direct tegen het contract van het GQL-schema, in plaats van te hopen dat code later matcht.</a:t>
            </a:r>
            <a:endParaRPr/>
          </a:p>
        </p:txBody>
      </p:sp>
      <p:sp>
        <p:nvSpPr>
          <p:cNvPr id="305" name="Google Shape;305;p29"/>
          <p:cNvSpPr txBox="1"/>
          <p:nvPr/>
        </p:nvSpPr>
        <p:spPr>
          <a:xfrm>
            <a:off x="838200" y="2954684"/>
            <a:ext cx="5019675" cy="4694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Integratie:</a:t>
            </a:r>
            <a:r>
              <a:rPr b="0" i="0" lang="en-US" sz="1275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Naadloze overgang van mock naar echte backend zonder verandering aan de frontend-zijde.</a:t>
            </a:r>
            <a:endParaRPr/>
          </a:p>
        </p:txBody>
      </p:sp>
      <p:sp>
        <p:nvSpPr>
          <p:cNvPr id="306" name="Google Shape;306;p29"/>
          <p:cNvSpPr txBox="1"/>
          <p:nvPr/>
        </p:nvSpPr>
        <p:spPr>
          <a:xfrm>
            <a:off x="571500" y="1787276"/>
            <a:ext cx="161925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307" name="Google Shape;307;p29"/>
          <p:cNvSpPr txBox="1"/>
          <p:nvPr/>
        </p:nvSpPr>
        <p:spPr>
          <a:xfrm>
            <a:off x="571500" y="2370980"/>
            <a:ext cx="161925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308" name="Google Shape;308;p29"/>
          <p:cNvSpPr txBox="1"/>
          <p:nvPr/>
        </p:nvSpPr>
        <p:spPr>
          <a:xfrm>
            <a:off x="571500" y="2954684"/>
            <a:ext cx="161925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309" name="Google Shape;309;p29"/>
          <p:cNvSpPr txBox="1"/>
          <p:nvPr/>
        </p:nvSpPr>
        <p:spPr>
          <a:xfrm>
            <a:off x="571500" y="571500"/>
            <a:ext cx="1160145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Mocking in de </a:t>
            </a:r>
            <a:r>
              <a:rPr b="1" i="0" lang="en-US" sz="285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SDLC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F12"/>
        </a:solidFill>
      </p:bgPr>
    </p:bg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14" name="Google Shape;314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5" name="Google Shape;315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247775"/>
            <a:ext cx="5286375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30"/>
          <p:cNvSpPr txBox="1"/>
          <p:nvPr/>
        </p:nvSpPr>
        <p:spPr>
          <a:xfrm>
            <a:off x="571500" y="1409700"/>
            <a:ext cx="5286375" cy="2347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Annotaties sturen de router aan:</a:t>
            </a:r>
            <a:endParaRPr/>
          </a:p>
        </p:txBody>
      </p:sp>
      <p:pic>
        <p:nvPicPr>
          <p:cNvPr descr="image.png" id="317" name="Google Shape;317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1257300"/>
            <a:ext cx="5267325" cy="3600450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p30"/>
          <p:cNvSpPr txBox="1"/>
          <p:nvPr/>
        </p:nvSpPr>
        <p:spPr>
          <a:xfrm>
            <a:off x="838200" y="1787276"/>
            <a:ext cx="5019675" cy="4694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De @mock annotatie:</a:t>
            </a:r>
            <a:r>
              <a:rPr b="0" i="0" lang="en-US" sz="1275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Backend-teams annoteren velden die nog niet zijn geïmplementeerd direct in het schema.</a:t>
            </a:r>
            <a:endParaRPr/>
          </a:p>
        </p:txBody>
      </p:sp>
      <p:sp>
        <p:nvSpPr>
          <p:cNvPr id="319" name="Google Shape;319;p30"/>
          <p:cNvSpPr txBox="1"/>
          <p:nvPr/>
        </p:nvSpPr>
        <p:spPr>
          <a:xfrm>
            <a:off x="838200" y="2370980"/>
            <a:ext cx="5019675" cy="4694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AI-gegenereerd:</a:t>
            </a:r>
            <a:r>
              <a:rPr b="0" i="0" lang="en-US" sz="1275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De router interpreteert de annotatie en genereert realistische, domein-specifieke mockdata.</a:t>
            </a:r>
            <a:endParaRPr/>
          </a:p>
        </p:txBody>
      </p:sp>
      <p:sp>
        <p:nvSpPr>
          <p:cNvPr id="320" name="Google Shape;320;p30"/>
          <p:cNvSpPr txBox="1"/>
          <p:nvPr/>
        </p:nvSpPr>
        <p:spPr>
          <a:xfrm>
            <a:off x="838200" y="2954684"/>
            <a:ext cx="5019675" cy="4694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Voorbeeld:</a:t>
            </a:r>
            <a:r>
              <a:rPr b="0" i="0" lang="en-US" sz="1275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`@mock(source: "llm" hint: "Amsterdam hotel")` levert direct betekenisvolle UI-vulling op.</a:t>
            </a:r>
            <a:endParaRPr/>
          </a:p>
        </p:txBody>
      </p:sp>
      <p:sp>
        <p:nvSpPr>
          <p:cNvPr id="321" name="Google Shape;321;p30"/>
          <p:cNvSpPr txBox="1"/>
          <p:nvPr/>
        </p:nvSpPr>
        <p:spPr>
          <a:xfrm>
            <a:off x="571500" y="1787276"/>
            <a:ext cx="161925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322" name="Google Shape;322;p30"/>
          <p:cNvSpPr txBox="1"/>
          <p:nvPr/>
        </p:nvSpPr>
        <p:spPr>
          <a:xfrm>
            <a:off x="571500" y="2370980"/>
            <a:ext cx="161925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323" name="Google Shape;323;p30"/>
          <p:cNvSpPr txBox="1"/>
          <p:nvPr/>
        </p:nvSpPr>
        <p:spPr>
          <a:xfrm>
            <a:off x="571500" y="2954684"/>
            <a:ext cx="161925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324" name="Google Shape;324;p30"/>
          <p:cNvSpPr txBox="1"/>
          <p:nvPr/>
        </p:nvSpPr>
        <p:spPr>
          <a:xfrm>
            <a:off x="571500" y="571500"/>
            <a:ext cx="1160145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Schema-Level </a:t>
            </a:r>
            <a:r>
              <a:rPr b="1" i="0" lang="en-US" sz="285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Mocking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F12"/>
        </a:solidFill>
      </p:bgPr>
    </p:bg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29" name="Google Shape;329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0" name="Google Shape;330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247775"/>
            <a:ext cx="5286375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31"/>
          <p:cNvSpPr txBox="1"/>
          <p:nvPr/>
        </p:nvSpPr>
        <p:spPr>
          <a:xfrm>
            <a:off x="571500" y="1409700"/>
            <a:ext cx="5286375" cy="2347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Mix live en gemockte data in één query:</a:t>
            </a:r>
            <a:endParaRPr/>
          </a:p>
        </p:txBody>
      </p:sp>
      <p:pic>
        <p:nvPicPr>
          <p:cNvPr descr="image.png" id="332" name="Google Shape;332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1257300"/>
            <a:ext cx="5267325" cy="3600450"/>
          </a:xfrm>
          <a:prstGeom prst="rect">
            <a:avLst/>
          </a:prstGeom>
          <a:noFill/>
          <a:ln>
            <a:noFill/>
          </a:ln>
        </p:spPr>
      </p:pic>
      <p:sp>
        <p:nvSpPr>
          <p:cNvPr id="333" name="Google Shape;333;p31"/>
          <p:cNvSpPr txBox="1"/>
          <p:nvPr/>
        </p:nvSpPr>
        <p:spPr>
          <a:xfrm>
            <a:off x="838200" y="1787276"/>
            <a:ext cx="5019675" cy="4694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Fijnmazige controle:</a:t>
            </a:r>
            <a:r>
              <a:rPr b="0" i="0" lang="en-US" sz="1275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Bepaal exact welke subvelden live van de server komen en welke nog gemockt worden.</a:t>
            </a:r>
            <a:endParaRPr/>
          </a:p>
        </p:txBody>
      </p:sp>
      <p:sp>
        <p:nvSpPr>
          <p:cNvPr id="334" name="Google Shape;334;p31"/>
          <p:cNvSpPr txBox="1"/>
          <p:nvPr/>
        </p:nvSpPr>
        <p:spPr>
          <a:xfrm>
            <a:off x="838200" y="2370980"/>
            <a:ext cx="5019675" cy="4694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Netwerk-reductie:</a:t>
            </a:r>
            <a:r>
              <a:rPr b="0" i="0" lang="en-US" sz="1275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De rest van de query raakt de live database zoals normaal.</a:t>
            </a:r>
            <a:endParaRPr/>
          </a:p>
        </p:txBody>
      </p:sp>
      <p:sp>
        <p:nvSpPr>
          <p:cNvPr id="335" name="Google Shape;335;p31"/>
          <p:cNvSpPr txBox="1"/>
          <p:nvPr/>
        </p:nvSpPr>
        <p:spPr>
          <a:xfrm>
            <a:off x="838200" y="2954684"/>
            <a:ext cx="5019675" cy="4694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Edge-cases testen:</a:t>
            </a:r>
            <a:r>
              <a:rPr b="0" i="0" lang="en-US" sz="1275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Gebruik `@respondWith(mock: "empty")` om lege staten of fouten direct in de UI te testen.</a:t>
            </a:r>
            <a:endParaRPr/>
          </a:p>
        </p:txBody>
      </p:sp>
      <p:sp>
        <p:nvSpPr>
          <p:cNvPr id="336" name="Google Shape;336;p31"/>
          <p:cNvSpPr txBox="1"/>
          <p:nvPr/>
        </p:nvSpPr>
        <p:spPr>
          <a:xfrm>
            <a:off x="571500" y="1787276"/>
            <a:ext cx="161925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337" name="Google Shape;337;p31"/>
          <p:cNvSpPr txBox="1"/>
          <p:nvPr/>
        </p:nvSpPr>
        <p:spPr>
          <a:xfrm>
            <a:off x="571500" y="2370980"/>
            <a:ext cx="161925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338" name="Google Shape;338;p31"/>
          <p:cNvSpPr txBox="1"/>
          <p:nvPr/>
        </p:nvSpPr>
        <p:spPr>
          <a:xfrm>
            <a:off x="571500" y="2954684"/>
            <a:ext cx="161925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339" name="Google Shape;339;p31"/>
          <p:cNvSpPr txBox="1"/>
          <p:nvPr/>
        </p:nvSpPr>
        <p:spPr>
          <a:xfrm>
            <a:off x="571500" y="571500"/>
            <a:ext cx="1160145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Hybrid Mode: </a:t>
            </a:r>
            <a:r>
              <a:rPr b="1" i="0" lang="en-US" sz="285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@respondWith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F12"/>
        </a:solidFill>
      </p:bgPr>
    </p:bg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44" name="Google Shape;344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5" name="Google Shape;345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247775"/>
            <a:ext cx="5286375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346" name="Google Shape;346;p32"/>
          <p:cNvSpPr txBox="1"/>
          <p:nvPr/>
        </p:nvSpPr>
        <p:spPr>
          <a:xfrm>
            <a:off x="571500" y="1409700"/>
            <a:ext cx="5286375" cy="2347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Geautomatiseerde herstel-pipeline bij mocking:</a:t>
            </a:r>
            <a:endParaRPr/>
          </a:p>
        </p:txBody>
      </p:sp>
      <p:pic>
        <p:nvPicPr>
          <p:cNvPr descr="image.png" id="347" name="Google Shape;347;p3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1257300"/>
            <a:ext cx="5267325" cy="3600450"/>
          </a:xfrm>
          <a:prstGeom prst="rect">
            <a:avLst/>
          </a:prstGeom>
          <a:noFill/>
          <a:ln>
            <a:noFill/>
          </a:ln>
        </p:spPr>
      </p:pic>
      <p:sp>
        <p:nvSpPr>
          <p:cNvPr id="348" name="Google Shape;348;p32"/>
          <p:cNvSpPr txBox="1"/>
          <p:nvPr/>
        </p:nvSpPr>
        <p:spPr>
          <a:xfrm>
            <a:off x="838200" y="1787276"/>
            <a:ext cx="5019675" cy="4694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Validatie:</a:t>
            </a:r>
            <a:r>
              <a:rPr b="0" i="0" lang="en-US" sz="1275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Queries worden direct gecontroleerd en gevalideerd tegen de schema-grondwet.</a:t>
            </a:r>
            <a:endParaRPr/>
          </a:p>
        </p:txBody>
      </p:sp>
      <p:sp>
        <p:nvSpPr>
          <p:cNvPr id="349" name="Google Shape;349;p32"/>
          <p:cNvSpPr txBox="1"/>
          <p:nvPr/>
        </p:nvSpPr>
        <p:spPr>
          <a:xfrm>
            <a:off x="838200" y="2370980"/>
            <a:ext cx="5019675" cy="4694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Automatisch herstel:</a:t>
            </a:r>
            <a:r>
              <a:rPr b="0" i="0" lang="en-US" sz="1275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Als de gegenereerde data fouten bevat, splitst de pipeline de fragments op.</a:t>
            </a:r>
            <a:endParaRPr/>
          </a:p>
        </p:txBody>
      </p:sp>
      <p:sp>
        <p:nvSpPr>
          <p:cNvPr id="350" name="Google Shape;350;p32"/>
          <p:cNvSpPr txBox="1"/>
          <p:nvPr/>
        </p:nvSpPr>
        <p:spPr>
          <a:xfrm>
            <a:off x="838200" y="2954684"/>
            <a:ext cx="5019675" cy="4694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LLM Reconstructie:</a:t>
            </a:r>
            <a:r>
              <a:rPr b="0" i="0" lang="en-US" sz="1275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Een automatische LLM-retry repareert de output binnen seconden voor een valide respons.</a:t>
            </a:r>
            <a:endParaRPr/>
          </a:p>
        </p:txBody>
      </p:sp>
      <p:sp>
        <p:nvSpPr>
          <p:cNvPr id="351" name="Google Shape;351;p32"/>
          <p:cNvSpPr txBox="1"/>
          <p:nvPr/>
        </p:nvSpPr>
        <p:spPr>
          <a:xfrm>
            <a:off x="571500" y="1787276"/>
            <a:ext cx="161925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352" name="Google Shape;352;p32"/>
          <p:cNvSpPr txBox="1"/>
          <p:nvPr/>
        </p:nvSpPr>
        <p:spPr>
          <a:xfrm>
            <a:off x="571500" y="2370980"/>
            <a:ext cx="161925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353" name="Google Shape;353;p32"/>
          <p:cNvSpPr txBox="1"/>
          <p:nvPr/>
        </p:nvSpPr>
        <p:spPr>
          <a:xfrm>
            <a:off x="571500" y="2954684"/>
            <a:ext cx="161925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354" name="Google Shape;354;p32"/>
          <p:cNvSpPr txBox="1"/>
          <p:nvPr/>
        </p:nvSpPr>
        <p:spPr>
          <a:xfrm>
            <a:off x="571500" y="571500"/>
            <a:ext cx="1160145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De </a:t>
            </a:r>
            <a:r>
              <a:rPr b="1" i="0" lang="en-US" sz="285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Self-Healing</a:t>
            </a:r>
            <a:r>
              <a:rPr b="1" i="0" lang="en-US" sz="285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 Flow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F12"/>
        </a:solidFill>
      </p:bgPr>
    </p:bg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59" name="Google Shape;359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60" name="Google Shape;360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247775"/>
            <a:ext cx="5286375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361" name="Google Shape;361;p33"/>
          <p:cNvSpPr txBox="1"/>
          <p:nvPr/>
        </p:nvSpPr>
        <p:spPr>
          <a:xfrm>
            <a:off x="571500" y="1409700"/>
            <a:ext cx="5286375" cy="2347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Wanneer gebruik je welke mocking-strategie?</a:t>
            </a:r>
            <a:endParaRPr/>
          </a:p>
        </p:txBody>
      </p:sp>
      <p:pic>
        <p:nvPicPr>
          <p:cNvPr descr="image.png" id="362" name="Google Shape;362;p3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1257300"/>
            <a:ext cx="5267325" cy="3600450"/>
          </a:xfrm>
          <a:prstGeom prst="rect">
            <a:avLst/>
          </a:prstGeom>
          <a:noFill/>
          <a:ln>
            <a:noFill/>
          </a:ln>
        </p:spPr>
      </p:pic>
      <p:sp>
        <p:nvSpPr>
          <p:cNvPr id="363" name="Google Shape;363;p33"/>
          <p:cNvSpPr txBox="1"/>
          <p:nvPr/>
        </p:nvSpPr>
        <p:spPr>
          <a:xfrm>
            <a:off x="838200" y="1787276"/>
            <a:ext cx="5019675" cy="4694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Router Mocking:</a:t>
            </a:r>
            <a:r>
              <a:rPr b="0" i="0" lang="en-US" sz="1275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Ideaal als je direct iets nodig hebt, toegang hebt tot het netwerk en snel wilt prototyping tegen het schema.</a:t>
            </a:r>
            <a:endParaRPr/>
          </a:p>
        </p:txBody>
      </p:sp>
      <p:sp>
        <p:nvSpPr>
          <p:cNvPr id="364" name="Google Shape;364;p33"/>
          <p:cNvSpPr txBox="1"/>
          <p:nvPr/>
        </p:nvSpPr>
        <p:spPr>
          <a:xfrm>
            <a:off x="838200" y="2370980"/>
            <a:ext cx="5019675" cy="4694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App Mocking:</a:t>
            </a:r>
            <a:r>
              <a:rPr b="0" i="0" lang="en-US" sz="1275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De beste keuze voor stabiele, herhaalbare tests in CI-pipelines, demo-omgevingen en offline development.</a:t>
            </a:r>
            <a:endParaRPr/>
          </a:p>
        </p:txBody>
      </p:sp>
      <p:sp>
        <p:nvSpPr>
          <p:cNvPr id="365" name="Google Shape;365;p33"/>
          <p:cNvSpPr txBox="1"/>
          <p:nvPr/>
        </p:nvSpPr>
        <p:spPr>
          <a:xfrm>
            <a:off x="838200" y="2954684"/>
            <a:ext cx="5019675" cy="4694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Combinatie:</a:t>
            </a:r>
            <a:r>
              <a:rPr b="0" i="0" lang="en-US" sz="1275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Cross-subgraph entiteiten kunnen uitstekend op beide niveaus tegelijk worden gemockt.</a:t>
            </a:r>
            <a:endParaRPr/>
          </a:p>
        </p:txBody>
      </p:sp>
      <p:sp>
        <p:nvSpPr>
          <p:cNvPr id="366" name="Google Shape;366;p33"/>
          <p:cNvSpPr txBox="1"/>
          <p:nvPr/>
        </p:nvSpPr>
        <p:spPr>
          <a:xfrm>
            <a:off x="571500" y="1787276"/>
            <a:ext cx="161925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367" name="Google Shape;367;p33"/>
          <p:cNvSpPr txBox="1"/>
          <p:nvPr/>
        </p:nvSpPr>
        <p:spPr>
          <a:xfrm>
            <a:off x="571500" y="2370980"/>
            <a:ext cx="161925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368" name="Google Shape;368;p33"/>
          <p:cNvSpPr txBox="1"/>
          <p:nvPr/>
        </p:nvSpPr>
        <p:spPr>
          <a:xfrm>
            <a:off x="571500" y="2954684"/>
            <a:ext cx="161925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369" name="Google Shape;369;p33"/>
          <p:cNvSpPr txBox="1"/>
          <p:nvPr/>
        </p:nvSpPr>
        <p:spPr>
          <a:xfrm>
            <a:off x="571500" y="571500"/>
            <a:ext cx="1160145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Router vs App </a:t>
            </a:r>
            <a:r>
              <a:rPr b="1" i="0" lang="en-US" sz="285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Mocking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F12"/>
        </a:solidFill>
      </p:bgPr>
    </p:bg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74" name="Google Shape;374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75" name="Google Shape;375;p34"/>
          <p:cNvSpPr/>
          <p:nvPr/>
        </p:nvSpPr>
        <p:spPr>
          <a:xfrm>
            <a:off x="5524500" y="2797522"/>
            <a:ext cx="1143000" cy="3810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34"/>
          <p:cNvSpPr txBox="1"/>
          <p:nvPr/>
        </p:nvSpPr>
        <p:spPr>
          <a:xfrm>
            <a:off x="1215390" y="3121372"/>
            <a:ext cx="9761220" cy="638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2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Dag 2: </a:t>
            </a:r>
            <a:r>
              <a:rPr b="1" i="0" lang="en-US" sz="42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Platform, Events &amp; De Toekomst</a:t>
            </a:r>
            <a:endParaRPr/>
          </a:p>
        </p:txBody>
      </p:sp>
      <p:sp>
        <p:nvSpPr>
          <p:cNvPr id="377" name="Google Shape;377;p34"/>
          <p:cNvSpPr txBox="1"/>
          <p:nvPr/>
        </p:nvSpPr>
        <p:spPr>
          <a:xfrm>
            <a:off x="2286000" y="3759547"/>
            <a:ext cx="7620000" cy="586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Platform Engineering in de praktijk, event-driven API standaarden en de herontdekking van de menselijke maat.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F12"/>
        </a:solidFill>
      </p:bgPr>
    </p:bg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82" name="Google Shape;382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3" name="Google Shape;383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247775"/>
            <a:ext cx="5286375" cy="50387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84" name="Google Shape;384;p3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1247775"/>
            <a:ext cx="5286375" cy="5038725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35"/>
          <p:cNvSpPr txBox="1"/>
          <p:nvPr/>
        </p:nvSpPr>
        <p:spPr>
          <a:xfrm>
            <a:off x="809625" y="1485900"/>
            <a:ext cx="5050631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DEFF9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Q&amp;A met Alice Roquette (TomTom)</a:t>
            </a:r>
            <a:endParaRPr/>
          </a:p>
        </p:txBody>
      </p:sp>
      <p:sp>
        <p:nvSpPr>
          <p:cNvPr id="386" name="Google Shape;386;p35"/>
          <p:cNvSpPr txBox="1"/>
          <p:nvPr/>
        </p:nvSpPr>
        <p:spPr>
          <a:xfrm>
            <a:off x="809625" y="1895475"/>
            <a:ext cx="4810125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Uitgebreide sessie en 1-op-1 discussie over de realiteit van Platform Engineering, gateway-keuzes en complexe re-engineering.</a:t>
            </a:r>
            <a:endParaRPr/>
          </a:p>
        </p:txBody>
      </p:sp>
      <p:sp>
        <p:nvSpPr>
          <p:cNvPr id="387" name="Google Shape;387;p35"/>
          <p:cNvSpPr txBox="1"/>
          <p:nvPr/>
        </p:nvSpPr>
        <p:spPr>
          <a:xfrm>
            <a:off x="809625" y="2474416"/>
            <a:ext cx="4810125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Key takeaway:</a:t>
            </a:r>
            <a:r>
              <a:rPr b="0" i="0" lang="en-US" sz="12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Platform engineering is de lijm tussen architectuur en developer experience.</a:t>
            </a:r>
            <a:endParaRPr/>
          </a:p>
        </p:txBody>
      </p:sp>
      <p:sp>
        <p:nvSpPr>
          <p:cNvPr id="388" name="Google Shape;388;p35"/>
          <p:cNvSpPr txBox="1"/>
          <p:nvPr/>
        </p:nvSpPr>
        <p:spPr>
          <a:xfrm>
            <a:off x="6572250" y="1485900"/>
            <a:ext cx="5050631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DEFF9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API Governance in Platformen</a:t>
            </a:r>
            <a:endParaRPr/>
          </a:p>
        </p:txBody>
      </p:sp>
      <p:sp>
        <p:nvSpPr>
          <p:cNvPr id="389" name="Google Shape;389;p35"/>
          <p:cNvSpPr txBox="1"/>
          <p:nvPr/>
        </p:nvSpPr>
        <p:spPr>
          <a:xfrm>
            <a:off x="6572250" y="1895475"/>
            <a:ext cx="4810125" cy="6398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Governance moet niet aanvoelen als een barrière, maar als een ingebouwde eigenschap van de developer portal en gateway-pipelines.</a:t>
            </a:r>
            <a:endParaRPr/>
          </a:p>
        </p:txBody>
      </p:sp>
      <p:sp>
        <p:nvSpPr>
          <p:cNvPr id="390" name="Google Shape;390;p35"/>
          <p:cNvSpPr txBox="1"/>
          <p:nvPr/>
        </p:nvSpPr>
        <p:spPr>
          <a:xfrm>
            <a:off x="6572250" y="2687687"/>
            <a:ext cx="4810125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Onze discussie bevestigde dat we met een flexibele gateway-tussenlaag op het juiste spoor zitten.</a:t>
            </a:r>
            <a:endParaRPr/>
          </a:p>
        </p:txBody>
      </p:sp>
      <p:sp>
        <p:nvSpPr>
          <p:cNvPr id="391" name="Google Shape;391;p35"/>
          <p:cNvSpPr txBox="1"/>
          <p:nvPr/>
        </p:nvSpPr>
        <p:spPr>
          <a:xfrm>
            <a:off x="571500" y="571500"/>
            <a:ext cx="1160145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Platform Engineering </a:t>
            </a:r>
            <a:r>
              <a:rPr b="1" i="0" lang="en-US" sz="285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2026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F12"/>
        </a:solidFill>
      </p:bgPr>
    </p:bg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96" name="Google Shape;396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97" name="Google Shape;397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247775"/>
            <a:ext cx="5286375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398" name="Google Shape;398;p36"/>
          <p:cNvSpPr txBox="1"/>
          <p:nvPr/>
        </p:nvSpPr>
        <p:spPr>
          <a:xfrm>
            <a:off x="571500" y="1409700"/>
            <a:ext cx="5286375" cy="2347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Lukasz Gornicki (AsyncAPI Maintainer):</a:t>
            </a:r>
            <a:endParaRPr/>
          </a:p>
        </p:txBody>
      </p:sp>
      <p:pic>
        <p:nvPicPr>
          <p:cNvPr descr="image.png" id="399" name="Google Shape;399;p3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1257300"/>
            <a:ext cx="5267325" cy="3600450"/>
          </a:xfrm>
          <a:prstGeom prst="rect">
            <a:avLst/>
          </a:prstGeom>
          <a:noFill/>
          <a:ln>
            <a:noFill/>
          </a:ln>
        </p:spPr>
      </p:pic>
      <p:sp>
        <p:nvSpPr>
          <p:cNvPr id="400" name="Google Shape;400;p36"/>
          <p:cNvSpPr txBox="1"/>
          <p:nvPr/>
        </p:nvSpPr>
        <p:spPr>
          <a:xfrm>
            <a:off x="838200" y="1787276"/>
            <a:ext cx="5019675" cy="7041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De Omhulling telt:</a:t>
            </a:r>
            <a:r>
              <a:rPr b="0" i="0" lang="en-US" sz="1275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Lukasz benadrukte dat het payload-schema zelf secundair is; AsyncAPI definieert de interactie en kanalen (Kafka, MQTT, AMQP).</a:t>
            </a:r>
            <a:endParaRPr/>
          </a:p>
        </p:txBody>
      </p:sp>
      <p:sp>
        <p:nvSpPr>
          <p:cNvPr id="401" name="Google Shape;401;p36"/>
          <p:cNvSpPr txBox="1"/>
          <p:nvPr/>
        </p:nvSpPr>
        <p:spPr>
          <a:xfrm>
            <a:off x="838200" y="2605682"/>
            <a:ext cx="5019675" cy="4694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Consistentie voor Events:</a:t>
            </a:r>
            <a:r>
              <a:rPr b="0" i="0" lang="en-US" sz="1275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Brengt dezelfde structuur en developer experience naar event-driven systemen als OpenAPI deed voor REST.</a:t>
            </a:r>
            <a:endParaRPr/>
          </a:p>
        </p:txBody>
      </p:sp>
      <p:sp>
        <p:nvSpPr>
          <p:cNvPr id="402" name="Google Shape;402;p36"/>
          <p:cNvSpPr txBox="1"/>
          <p:nvPr/>
        </p:nvSpPr>
        <p:spPr>
          <a:xfrm>
            <a:off x="838200" y="3189386"/>
            <a:ext cx="5019675" cy="4694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Ecosysteem:</a:t>
            </a:r>
            <a:r>
              <a:rPr b="0" i="0" lang="en-US" sz="1275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Snelle groei in open-source tooling voor code-generatie en documentatie van asynchrone stromen.</a:t>
            </a:r>
            <a:endParaRPr/>
          </a:p>
        </p:txBody>
      </p:sp>
      <p:sp>
        <p:nvSpPr>
          <p:cNvPr id="403" name="Google Shape;403;p36"/>
          <p:cNvSpPr txBox="1"/>
          <p:nvPr/>
        </p:nvSpPr>
        <p:spPr>
          <a:xfrm>
            <a:off x="571500" y="1787276"/>
            <a:ext cx="161925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404" name="Google Shape;404;p36"/>
          <p:cNvSpPr txBox="1"/>
          <p:nvPr/>
        </p:nvSpPr>
        <p:spPr>
          <a:xfrm>
            <a:off x="571500" y="2605682"/>
            <a:ext cx="161925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405" name="Google Shape;405;p36"/>
          <p:cNvSpPr txBox="1"/>
          <p:nvPr/>
        </p:nvSpPr>
        <p:spPr>
          <a:xfrm>
            <a:off x="571500" y="3189386"/>
            <a:ext cx="161925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406" name="Google Shape;406;p36"/>
          <p:cNvSpPr txBox="1"/>
          <p:nvPr/>
        </p:nvSpPr>
        <p:spPr>
          <a:xfrm>
            <a:off x="571500" y="571500"/>
            <a:ext cx="1160145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AsyncAPI </a:t>
            </a:r>
            <a:r>
              <a:rPr b="1" i="0" lang="en-US" sz="285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Event Standaard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F12"/>
        </a:solidFill>
      </p:bgPr>
    </p:bg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11" name="Google Shape;411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12" name="Google Shape;412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1247775"/>
            <a:ext cx="5286375" cy="3619500"/>
          </a:xfrm>
          <a:prstGeom prst="rect">
            <a:avLst/>
          </a:prstGeom>
          <a:noFill/>
          <a:ln>
            <a:noFill/>
          </a:ln>
        </p:spPr>
      </p:pic>
      <p:sp>
        <p:nvSpPr>
          <p:cNvPr id="413" name="Google Shape;413;p37"/>
          <p:cNvSpPr txBox="1"/>
          <p:nvPr/>
        </p:nvSpPr>
        <p:spPr>
          <a:xfrm>
            <a:off x="571500" y="1409700"/>
            <a:ext cx="5286375" cy="2347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Interactieve AI assistent voor AsyncAPI:</a:t>
            </a:r>
            <a:endParaRPr/>
          </a:p>
        </p:txBody>
      </p:sp>
      <p:pic>
        <p:nvPicPr>
          <p:cNvPr descr="image.png" id="414" name="Google Shape;414;p3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1257300"/>
            <a:ext cx="5267325" cy="3600450"/>
          </a:xfrm>
          <a:prstGeom prst="rect">
            <a:avLst/>
          </a:prstGeom>
          <a:noFill/>
          <a:ln>
            <a:noFill/>
          </a:ln>
        </p:spPr>
      </p:pic>
      <p:sp>
        <p:nvSpPr>
          <p:cNvPr id="415" name="Google Shape;415;p37"/>
          <p:cNvSpPr txBox="1"/>
          <p:nvPr/>
        </p:nvSpPr>
        <p:spPr>
          <a:xfrm>
            <a:off x="838200" y="1787276"/>
            <a:ext cx="5019675" cy="4694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Laagdrempelig:</a:t>
            </a:r>
            <a:r>
              <a:rPr b="0" i="0" lang="en-US" sz="1275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Beantwoordt vragen over de specificatie, concepten en protocollen direct vanuit de officiële documentatie.</a:t>
            </a:r>
            <a:endParaRPr/>
          </a:p>
        </p:txBody>
      </p:sp>
      <p:sp>
        <p:nvSpPr>
          <p:cNvPr id="416" name="Google Shape;416;p37"/>
          <p:cNvSpPr txBox="1"/>
          <p:nvPr/>
        </p:nvSpPr>
        <p:spPr>
          <a:xfrm>
            <a:off x="838200" y="2370980"/>
            <a:ext cx="5019675" cy="4694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Echte passie:</a:t>
            </a:r>
            <a:r>
              <a:rPr b="0" i="0" lang="en-US" sz="1275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"AsyncAPI is built by people with passion, not large corporate funding."</a:t>
            </a:r>
            <a:endParaRPr/>
          </a:p>
        </p:txBody>
      </p:sp>
      <p:sp>
        <p:nvSpPr>
          <p:cNvPr id="417" name="Google Shape;417;p37"/>
          <p:cNvSpPr txBox="1"/>
          <p:nvPr/>
        </p:nvSpPr>
        <p:spPr>
          <a:xfrm>
            <a:off x="838200" y="2954684"/>
            <a:ext cx="5019675" cy="4694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Follow-up:</a:t>
            </a:r>
            <a:r>
              <a:rPr b="0" i="0" lang="en-US" sz="1275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Tevens kort met het GraphQL team gesproken en een vervolgafspraak ingepland om ervaringen uit te wisselen!</a:t>
            </a:r>
            <a:endParaRPr/>
          </a:p>
        </p:txBody>
      </p:sp>
      <p:sp>
        <p:nvSpPr>
          <p:cNvPr id="418" name="Google Shape;418;p37"/>
          <p:cNvSpPr txBox="1"/>
          <p:nvPr/>
        </p:nvSpPr>
        <p:spPr>
          <a:xfrm>
            <a:off x="571500" y="1787276"/>
            <a:ext cx="161925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419" name="Google Shape;419;p37"/>
          <p:cNvSpPr txBox="1"/>
          <p:nvPr/>
        </p:nvSpPr>
        <p:spPr>
          <a:xfrm>
            <a:off x="571500" y="2370980"/>
            <a:ext cx="161925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420" name="Google Shape;420;p37"/>
          <p:cNvSpPr txBox="1"/>
          <p:nvPr/>
        </p:nvSpPr>
        <p:spPr>
          <a:xfrm>
            <a:off x="571500" y="2954684"/>
            <a:ext cx="161925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→</a:t>
            </a:r>
            <a:endParaRPr/>
          </a:p>
        </p:txBody>
      </p:sp>
      <p:sp>
        <p:nvSpPr>
          <p:cNvPr id="421" name="Google Shape;421;p37"/>
          <p:cNvSpPr txBox="1"/>
          <p:nvPr/>
        </p:nvSpPr>
        <p:spPr>
          <a:xfrm>
            <a:off x="571500" y="571500"/>
            <a:ext cx="1160145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Ask AsyncAPI </a:t>
            </a:r>
            <a:r>
              <a:rPr b="1" i="0" lang="en-US" sz="285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AI Interface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F12"/>
        </a:solidFill>
      </p:bgPr>
    </p:bg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26" name="Google Shape;426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27" name="Google Shape;427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247775"/>
            <a:ext cx="5286375" cy="50387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28" name="Google Shape;428;p3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1247775"/>
            <a:ext cx="5286375" cy="5038725"/>
          </a:xfrm>
          <a:prstGeom prst="rect">
            <a:avLst/>
          </a:prstGeom>
          <a:noFill/>
          <a:ln>
            <a:noFill/>
          </a:ln>
        </p:spPr>
      </p:pic>
      <p:sp>
        <p:nvSpPr>
          <p:cNvPr id="429" name="Google Shape;429;p38"/>
          <p:cNvSpPr txBox="1"/>
          <p:nvPr/>
        </p:nvSpPr>
        <p:spPr>
          <a:xfrm>
            <a:off x="809625" y="1485900"/>
            <a:ext cx="5050631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DEFF9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De AI Chatroom voor DevOps</a:t>
            </a:r>
            <a:endParaRPr/>
          </a:p>
        </p:txBody>
      </p:sp>
      <p:sp>
        <p:nvSpPr>
          <p:cNvPr id="430" name="Google Shape;430;p38"/>
          <p:cNvSpPr txBox="1"/>
          <p:nvPr/>
        </p:nvSpPr>
        <p:spPr>
          <a:xfrm>
            <a:off x="809625" y="1895475"/>
            <a:ext cx="4810125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Een inspirerend project van jonge devops-engineers: een gedeelde chatroom waar teams samen AI-prompts besturen en verfijnen.</a:t>
            </a:r>
            <a:endParaRPr/>
          </a:p>
        </p:txBody>
      </p:sp>
      <p:sp>
        <p:nvSpPr>
          <p:cNvPr id="431" name="Google Shape;431;p38"/>
          <p:cNvSpPr txBox="1"/>
          <p:nvPr/>
        </p:nvSpPr>
        <p:spPr>
          <a:xfrm>
            <a:off x="809625" y="2474416"/>
            <a:ext cx="4810125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Het systeem bewaart de gehele historie en context van de gezamenlijke prompt-keuzes.</a:t>
            </a:r>
            <a:endParaRPr/>
          </a:p>
        </p:txBody>
      </p:sp>
      <p:sp>
        <p:nvSpPr>
          <p:cNvPr id="432" name="Google Shape;432;p38"/>
          <p:cNvSpPr txBox="1"/>
          <p:nvPr/>
        </p:nvSpPr>
        <p:spPr>
          <a:xfrm>
            <a:off x="6572250" y="1485900"/>
            <a:ext cx="5050631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DEFF9A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Waarom is dit gebouwd?</a:t>
            </a:r>
            <a:endParaRPr/>
          </a:p>
        </p:txBody>
      </p:sp>
      <p:sp>
        <p:nvSpPr>
          <p:cNvPr id="433" name="Google Shape;433;p38"/>
          <p:cNvSpPr txBox="1"/>
          <p:nvPr/>
        </p:nvSpPr>
        <p:spPr>
          <a:xfrm>
            <a:off x="6572250" y="1895475"/>
            <a:ext cx="4810125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Dankzij de bewaarde prompt-historie kan iedereen achteraf traceren *waarom* een systeem op een bepaalde manier is ontworpen.</a:t>
            </a:r>
            <a:endParaRPr/>
          </a:p>
        </p:txBody>
      </p:sp>
      <p:sp>
        <p:nvSpPr>
          <p:cNvPr id="434" name="Google Shape;434;p38"/>
          <p:cNvSpPr txBox="1"/>
          <p:nvPr/>
        </p:nvSpPr>
        <p:spPr>
          <a:xfrm>
            <a:off x="6572250" y="2474416"/>
            <a:ext cx="4810125" cy="4265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991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Dit is de herontdekking van specificatie en documentatie, maar dan organisch en ongestructureerd via AI-conversaties.</a:t>
            </a:r>
            <a:endParaRPr/>
          </a:p>
        </p:txBody>
      </p:sp>
      <p:sp>
        <p:nvSpPr>
          <p:cNvPr id="435" name="Google Shape;435;p38"/>
          <p:cNvSpPr txBox="1"/>
          <p:nvPr/>
        </p:nvSpPr>
        <p:spPr>
          <a:xfrm>
            <a:off x="571500" y="571500"/>
            <a:ext cx="1160145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Herontdekking van </a:t>
            </a:r>
            <a:r>
              <a:rPr b="1" i="0" lang="en-US" sz="285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Specs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F12"/>
        </a:solidFill>
      </p:bgPr>
    </p:bg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40" name="Google Shape;440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41" name="Google Shape;441;p39"/>
          <p:cNvSpPr txBox="1"/>
          <p:nvPr/>
        </p:nvSpPr>
        <p:spPr>
          <a:xfrm>
            <a:off x="1504950" y="2419647"/>
            <a:ext cx="9182100" cy="25330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50" u="none" cap="none" strike="noStrike">
                <a:solidFill>
                  <a:srgbClr val="DAFFDE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De menselijke maat is essentieel bij het gebruik van AI. Blijf zelf specificeren en ontwerpen. Bedenk zelf wat je wilt bouwen — anders wordt alles uiteindelijk een identieke gemeenplaats. Blijf jezelf in je communicatie en laat je niet overnemen door een robot.</a:t>
            </a:r>
            <a:endParaRPr/>
          </a:p>
        </p:txBody>
      </p:sp>
      <p:sp>
        <p:nvSpPr>
          <p:cNvPr id="442" name="Google Shape;442;p39"/>
          <p:cNvSpPr txBox="1"/>
          <p:nvPr/>
        </p:nvSpPr>
        <p:spPr>
          <a:xfrm>
            <a:off x="1123950" y="5238452"/>
            <a:ext cx="99441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— Persoonlijke Reflectie (Paneldiscussie met o.a. Erik Wilde &amp; Alice Roquette)</a:t>
            </a:r>
            <a:endParaRPr/>
          </a:p>
        </p:txBody>
      </p:sp>
      <p:sp>
        <p:nvSpPr>
          <p:cNvPr id="443" name="Google Shape;443;p39"/>
          <p:cNvSpPr txBox="1"/>
          <p:nvPr/>
        </p:nvSpPr>
        <p:spPr>
          <a:xfrm>
            <a:off x="933450" y="2800647"/>
            <a:ext cx="3048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"</a:t>
            </a:r>
            <a:endParaRPr/>
          </a:p>
        </p:txBody>
      </p:sp>
      <p:sp>
        <p:nvSpPr>
          <p:cNvPr id="444" name="Google Shape;444;p39"/>
          <p:cNvSpPr txBox="1"/>
          <p:nvPr/>
        </p:nvSpPr>
        <p:spPr>
          <a:xfrm>
            <a:off x="10953750" y="5143207"/>
            <a:ext cx="3048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"</a:t>
            </a:r>
            <a:endParaRPr/>
          </a:p>
        </p:txBody>
      </p:sp>
      <p:sp>
        <p:nvSpPr>
          <p:cNvPr id="445" name="Google Shape;445;p39"/>
          <p:cNvSpPr txBox="1"/>
          <p:nvPr/>
        </p:nvSpPr>
        <p:spPr>
          <a:xfrm>
            <a:off x="295275" y="571500"/>
            <a:ext cx="11601450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De Toekomst van </a:t>
            </a:r>
            <a:r>
              <a:rPr b="1" i="0" lang="en-US" sz="285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Software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D0F12"/>
        </a:solidFill>
      </p:bgPr>
    </p:bg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50" name="Google Shape;450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51" name="Google Shape;451;p40"/>
          <p:cNvSpPr txBox="1"/>
          <p:nvPr/>
        </p:nvSpPr>
        <p:spPr>
          <a:xfrm>
            <a:off x="1095375" y="2463700"/>
            <a:ext cx="1000125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5F5F5"/>
                </a:solidFill>
                <a:latin typeface="Urbanist"/>
                <a:ea typeface="Urbanist"/>
                <a:cs typeface="Urbanist"/>
                <a:sym typeface="Urbanist"/>
              </a:rPr>
              <a:t>Vragen &amp; </a:t>
            </a:r>
            <a:r>
              <a:rPr b="1" i="0" lang="en-US" sz="18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Discussie</a:t>
            </a:r>
            <a:endParaRPr/>
          </a:p>
        </p:txBody>
      </p:sp>
      <p:sp>
        <p:nvSpPr>
          <p:cNvPr id="452" name="Google Shape;452;p40"/>
          <p:cNvSpPr txBox="1"/>
          <p:nvPr/>
        </p:nvSpPr>
        <p:spPr>
          <a:xfrm>
            <a:off x="1333500" y="2930425"/>
            <a:ext cx="9525000" cy="662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Hoe vertalen we deze lessen over menselijke regie, AI-mocking en platform-governance naar onze eigen visie?</a:t>
            </a:r>
            <a:endParaRPr/>
          </a:p>
        </p:txBody>
      </p:sp>
      <p:sp>
        <p:nvSpPr>
          <p:cNvPr id="453" name="Google Shape;453;p40"/>
          <p:cNvSpPr txBox="1"/>
          <p:nvPr/>
        </p:nvSpPr>
        <p:spPr>
          <a:xfrm>
            <a:off x="1333500" y="3974306"/>
            <a:ext cx="9525000" cy="2485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49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Dank voor jullie aandacht en bijdrage!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