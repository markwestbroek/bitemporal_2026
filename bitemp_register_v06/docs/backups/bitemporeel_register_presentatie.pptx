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 Light"/>
              </a:defRPr>
            </a:pPr>
            <a:r>
              <a:t>Het Bitemporele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FDBFE"/>
                </a:solidFill>
                <a:latin typeface="Calibri"/>
              </a:defRPr>
            </a:pPr>
            <a:r>
              <a:t>Principes, Metamodel &amp; Architectuur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Calibri"/>
              </a:defRPr>
            </a:pPr>
            <a:r>
              <a:t>Van concept naar implementatie in Go /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Waarom bitemporeel?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Het probleem dat we oplossen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Twee tijdsdimensies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Formele tijd &amp; materiële tijd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834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Registratie &amp; Wijzigingen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Hoe formele tijd wordt vastgelegd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204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UML Metamodel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566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Entiteit, Gegevenselement, Relatie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062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Hub + Data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Drielagen-architectuur voor correcties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92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Database-ontwerp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Tabellen, sleutels &amp; versioning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57784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3A5F"/>
                </a:solidFill>
                <a:latin typeface="Calibri"/>
              </a:defRPr>
            </a:pPr>
            <a:r>
              <a:t>Implementatie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MetaRegistry, Go, Schema-API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Waarom bitemporeel?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Het probleem dat we oplossen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Het probleem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Traditionele databases kennen geen tijdsbesef: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UPDATE overschrijft de vorige waarde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Geen audittrail: wat was de waarde gisteren?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Geen onderscheid: wanneer geregistreerd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   vs. wanneer geldig in werkelijkheid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Correcties vernietigen de oorspronkelijke data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Onmogelijk om historische beslissingen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   te reconstrueren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16A34A"/>
                </a:solidFill>
                <a:latin typeface="Calibri"/>
              </a:defRPr>
            </a:pPr>
            <a:r>
              <a:t>De oplossing: bitemporeel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Twee tijdsassen bewaren alles: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Niets wordt ooit overschreven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Volledige audittrail van elke wijziging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Tijdreizen naar elk moment in het verleden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Correcties behouden het oorspronkelijke pad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Juridisch verifieerbare registratie</a:t>
            </a:r>
          </a:p>
          <a:p>
            <a:pPr algn="l" lvl="1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Toekomstige geldigheid registreerbaar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Twee tijdsdimensies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Het fundament van bitemporele registratie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303520" cy="43891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600" b="1">
                <a:solidFill>
                  <a:srgbClr val="2C5F8A"/>
                </a:solidFill>
                <a:latin typeface="Calibri"/>
              </a:defRPr>
            </a:pPr>
            <a:r>
              <a:t>⏱  Formele tijd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(registratietijd)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02020"/>
                </a:solidFill>
                <a:latin typeface="Calibri"/>
              </a:defRPr>
            </a:pPr>
            <a:r>
              <a:t>Wanneer is iets geregistreerd?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Registratietijdstip (timestamp)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Opvoer = record komt op de formele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Afvoer = record gaat van de formele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Alleen tijdreizen naar het verleden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2C5F8A"/>
                </a:solidFill>
                <a:latin typeface="Calibri"/>
              </a:defRPr>
            </a:pPr>
            <a:r>
              <a:t>Vastgelegd via: registratie → wijzigingen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3891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600" b="1">
                <a:solidFill>
                  <a:srgbClr val="EA580C"/>
                </a:solidFill>
                <a:latin typeface="Calibri"/>
              </a:defRPr>
            </a:pPr>
            <a:r>
              <a:t>📅  Materiële tijd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(geldigheidstijd)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02020"/>
                </a:solidFill>
                <a:latin typeface="Calibri"/>
              </a:defRPr>
            </a:pPr>
            <a:r>
              <a:t>Wanneer geldt iets in de werkelijkheid?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Aanvangsdatum (date)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Einddatum (date)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Tijdreizen naar verleden én toekomst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Bijv. voorgenomen verhuizing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EA580C"/>
                </a:solidFill>
                <a:latin typeface="Calibri"/>
              </a:defRPr>
            </a:pPr>
            <a:r>
              <a:t>Vastgelegd via: aanvang / einde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Formele tijd: registratie → 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de formele tijdlijn ontstaat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Calibri"/>
              </a:defRPr>
            </a:pPr>
            <a:r>
              <a:t>Kernprincipe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Opvoer en afvoer staan niet in de inhoudelijke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202020"/>
                </a:solidFill>
                <a:latin typeface="Calibri"/>
              </a:defRPr>
            </a:pPr>
            <a:r>
              <a:t>tabellen, maar in een aparte wijzigingen-tabel.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C5F8A"/>
                </a:solidFill>
                <a:latin typeface="Calibri"/>
              </a:defRPr>
            </a:pPr>
            <a:r>
              <a:t>Eén registratie = één formeel moment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Heeft een tijdstip (timestamp)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Bevat 1..n 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Elke wijziging = opvoer of afvoer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Wijst naar een specifiek record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2C5F8A"/>
                </a:solidFill>
                <a:latin typeface="Calibri"/>
              </a:defRPr>
            </a:pPr>
            <a:r>
              <a:t>Soorten registratie: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Registratie — gewone vastlegging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Correctie — corrigeert eerdere 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475569"/>
                </a:solidFill>
                <a:latin typeface="Calibri"/>
              </a:defRPr>
            </a:pPr>
            <a:r>
              <a:t>▸  Ongedaanmaking — maakt registratie ongeldig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0" y="1645920"/>
            <a:ext cx="2560320" cy="1280160"/>
          </a:xfrm>
          <a:prstGeom prst="round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Registratie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tijdstip: 2026-03-21 14:30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FDBFE"/>
                </a:solidFill>
                <a:latin typeface="Calibri"/>
              </a:defRPr>
            </a:pPr>
            <a:r>
              <a:t>type: Registratie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347472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C5F8A"/>
                </a:solidFill>
                <a:latin typeface="Calibri"/>
              </a:defRPr>
            </a:pPr>
            <a:r>
              <a:t>Wijziging 1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type: Opvoer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record: Persoon #5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3474720"/>
            <a:ext cx="2011680" cy="10058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C5F8A"/>
                </a:solidFill>
                <a:latin typeface="Calibri"/>
              </a:defRPr>
            </a:pPr>
            <a:r>
              <a:t>Wijziging 2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type: Opvoer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record: Naam #1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5029200"/>
            <a:ext cx="201168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Persoon #5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BSN: 123456782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5029200"/>
            <a:ext cx="2011680" cy="82296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500" b="1">
                <a:solidFill>
                  <a:srgbClr val="16A34A"/>
                </a:solidFill>
                <a:latin typeface="Calibri"/>
              </a:defRPr>
            </a:pPr>
            <a:r>
              <a:t>Naam v1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"De Vries"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040880" y="2926080"/>
            <a:ext cx="822960" cy="54864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63840" y="2926080"/>
            <a:ext cx="1554480" cy="54864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40880" y="448056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18320" y="448056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Opvoer &amp; afvoer: altijd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bron van waarheid is de wijzigingen-tabel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5568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900" b="1">
                <a:solidFill>
                  <a:srgbClr val="854D0E"/>
                </a:solidFill>
                <a:latin typeface="Calibri"/>
              </a:defRPr>
            </a:pPr>
            <a:r>
              <a:t>💡  Kernprincipe: opvoer en afvoer in records zijn afgeleide waarden — niet de bron van waarheid.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854D0E"/>
                </a:solidFill>
                <a:latin typeface="Calibri"/>
              </a:defRPr>
            </a:pPr>
            <a:r>
              <a:t>De werkelijke formele tijdlijn wordt bepaald door de registraties en hun wijzigingen.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Bron van waarheid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registratie.tijdstip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+ wijziging.type (opvoer/afvoer)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+ wijziging.representatie_id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Bij formeel tijdreizen (→ peiltijdstip tf):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Records zelf worden NIET gebruikt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Toestand wordt opnieuw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Alle wijzigingen t/m tf verwerken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475569"/>
                </a:solidFill>
                <a:latin typeface="Calibri"/>
              </a:defRPr>
            </a:pPr>
            <a:r>
              <a:t>Afgeleide velden in records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record.opvoer  = afgeleid (tf =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record.afvoer  = afgeleid (tf =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202020"/>
                </a:solidFill>
                <a:latin typeface="Calibri"/>
              </a:defRPr>
            </a:pPr>
            <a:r>
              <a:t>Geldt voor ALLE lagen: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Entiteit  (A, 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GE/REL hub  (A_U, Rel_A_B)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_Data  (A_U_Data)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_Aanvang / _Einde  (materieel)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kracht van bitemporele registratie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21945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2C5F8A"/>
                </a:solidFill>
                <a:latin typeface="Calibri"/>
              </a:defRPr>
            </a:pPr>
            <a:r>
              <a:t>⏪  Formeel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was bekend op tijdstip tf?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Alleen naar het verleden (tf ≤ nu)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API: ?t=2024-01-01T12:00:00Z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Verwerk alle wijzigingen t/m tf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219456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EA580C"/>
                </a:solidFill>
                <a:latin typeface="Calibri"/>
              </a:defRPr>
            </a:pPr>
            <a:r>
              <a:t>⏩  Materieel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gold op datum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Verleden én toekomst (tm is vrij)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Aanvang ≤ tm &lt; 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Bijv. toekomstige verhuizing al registreerbaar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023360"/>
            <a:ext cx="7680960" cy="237744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7C3AED"/>
                </a:solidFill>
                <a:latin typeface="Calibri"/>
              </a:defRPr>
            </a:pPr>
            <a:r>
              <a:t>🔀  Gecombineerd tijdreizen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1">
                <a:solidFill>
                  <a:srgbClr val="202020"/>
                </a:solidFill>
                <a:latin typeface="Calibri"/>
              </a:defRPr>
            </a:pPr>
            <a:r>
              <a:t>Wat was op registratietijdstip tf bekend over geldigheidsdatum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Eerst formeel: welke records waren bekend op tf?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Dan materieel: welke daarvan golden op tm?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Maakt volledige audit-trail mogelijk over twee dimensies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UML Metamodel: representatietypes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drie bouwstenen van het register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371600"/>
            <a:ext cx="4023360" cy="11887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《abstract》Representatie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opvoer : timestamp  |  afvoer : timestamp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naam, metatype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3200400" cy="22860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2C5F8A"/>
                </a:solidFill>
                <a:latin typeface="Calibri"/>
              </a:defRPr>
            </a:pPr>
            <a:r>
              <a:t>Entiteit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+ id : integer (PK)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Zelfstandig identificeerbaar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Heeft onderliggende GE's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Bijv. Persoon, Locatie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3200400"/>
            <a:ext cx="3200400" cy="22860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16A34A"/>
                </a:solidFill>
                <a:latin typeface="Calibri"/>
              </a:defRPr>
            </a:pPr>
            <a:r>
              <a:t>Gegevenselement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+ ent_id : FK  + rel_id : PFK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Compositie bij entiteit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Draagt inhoudsvelden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Bijv. Naam, Burgerschap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3200400"/>
            <a:ext cx="3200400" cy="228600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EA580C"/>
                </a:solidFill>
                <a:latin typeface="Calibri"/>
              </a:defRPr>
            </a:pPr>
            <a:r>
              <a:t>Relatie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+ ent_id : FK  + doel_id : FK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Koppeling twee entiteiten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Kan eigen inhoudsvelden dragen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Bijv. Bereikbaarheid (Pers↔Loc)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331720" y="2560320"/>
            <a:ext cx="288036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80760" y="2560320"/>
            <a:ext cx="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7040880" y="2560320"/>
            <a:ext cx="2788920" cy="6400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9184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Calibri"/>
              </a:defRPr>
            </a:pPr>
            <a:r>
              <a:t>Entiteit  ◆───────── 0..*  Gegevenselement          Relatie  erft van  Gegevenselement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UML: concreet voorbeeld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NatuurlijkPersoon en Locatie met hun gegevenselementen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743200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5F8A"/>
                </a:solidFill>
                <a:latin typeface="Calibri"/>
              </a:defRPr>
            </a:pPr>
            <a:r>
              <a:t>《entiteit, materieel》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2C5F8A"/>
                </a:solidFill>
                <a:latin typeface="Calibri"/>
              </a:defRPr>
            </a:pPr>
            <a:r>
              <a:t>NatuurlijkPersoon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3474720"/>
            <a:ext cx="22860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PersoonsIdentificatie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bsn, ingezetene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4572000"/>
            <a:ext cx="2286000" cy="10972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Naam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voorletters, roepnaam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tussenvoegsel, achternaam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474720"/>
            <a:ext cx="22860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🕐 Burgerschap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landcode, nationaliteit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828800"/>
            <a:ext cx="2926080" cy="109728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A580C"/>
                </a:solidFill>
                <a:latin typeface="Calibri"/>
              </a:defRPr>
            </a:pPr>
            <a:r>
              <a:t>《relatie, materieel》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EA580C"/>
                </a:solidFill>
                <a:latin typeface="Calibri"/>
              </a:defRPr>
            </a:pPr>
            <a:r>
              <a:t>Bereikbaarheid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828800"/>
            <a:ext cx="2743200" cy="109728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5F8A"/>
                </a:solidFill>
                <a:latin typeface="Calibri"/>
              </a:defRPr>
            </a:pPr>
            <a:r>
              <a:t>《entiteit, materieel》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2000" b="1">
                <a:solidFill>
                  <a:srgbClr val="2C5F8A"/>
                </a:solidFill>
                <a:latin typeface="Calibri"/>
              </a:defRPr>
            </a:pPr>
            <a:r>
              <a:t>Locatie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474720"/>
            <a:ext cx="2286000" cy="914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6A34A"/>
                </a:solidFill>
                <a:latin typeface="Calibri"/>
              </a:defRPr>
            </a:pPr>
            <a:r>
              <a:t>Adres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straat, huisnr, postcode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71600" y="292608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2926080"/>
            <a:ext cx="0" cy="164592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43200" y="2926080"/>
            <a:ext cx="128016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2377440"/>
            <a:ext cx="109728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2377440"/>
            <a:ext cx="914401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2926080"/>
            <a:ext cx="0" cy="54864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00400" y="5029200"/>
            <a:ext cx="54864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defRPr sz="1400" b="1">
                <a:solidFill>
                  <a:srgbClr val="475569"/>
                </a:solidFill>
                <a:latin typeface="Calibri"/>
              </a:defRPr>
            </a:pPr>
            <a:r>
              <a:t>Legenda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🟦  Entiteit (blauw)    🟩  Gegevenselement (groen)    🟧  Relatie (oranje)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🕐  = materieel (heeft aanvang/einde)    Pijl = compositie (onderdeel van)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Hub + Data Pattern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Waarom opsplitsing nodig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03520" cy="25603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Probleem (v05-aanpak)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GE-tabel bevat alles in één record: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structurele FK's + inhoud + opvoer/afvoer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Correctie van inhoud → heel record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 vervangen, rel_id gaat op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Geen stabiel ankerpunt voor materiële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   aanvang/einde op GE-niveau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000" b="1">
                <a:solidFill>
                  <a:srgbClr val="16A34A"/>
                </a:solidFill>
                <a:latin typeface="Calibri"/>
              </a:defRPr>
            </a:pPr>
            <a:r>
              <a:t>Oplossing (v06 Hub+Data)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Splits elk GE/REL-type in lagen: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Hub = stabiel identiteitsanker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_Data = geversioned inhoud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_Aanvang/_Einde = materiële tijdlijn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1">
                <a:solidFill>
                  <a:srgbClr val="16A34A"/>
                </a:solidFill>
                <a:latin typeface="Calibri"/>
              </a:defRPr>
            </a:pPr>
            <a:r>
              <a:t>Elke laag apart corrigeerbaar!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572000"/>
            <a:ext cx="2560320" cy="14630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2C5F8A"/>
                </a:solidFill>
                <a:latin typeface="Calibri"/>
              </a:defRPr>
            </a:pPr>
            <a:r>
              <a:t>Hub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Stabiel ankerpunt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572000"/>
            <a:ext cx="2560320" cy="146304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000" b="1">
                <a:solidFill>
                  <a:srgbClr val="16A34A"/>
                </a:solidFill>
                <a:latin typeface="Calibri"/>
              </a:defRPr>
            </a:pPr>
            <a:r>
              <a:t>_Data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rel_id, versie)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Geversioned inhoud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572000"/>
            <a:ext cx="2560320" cy="146304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800" b="1">
                <a:solidFill>
                  <a:srgbClr val="EA580C"/>
                </a:solidFill>
                <a:latin typeface="Calibri"/>
              </a:defRPr>
            </a:pPr>
            <a:r>
              <a:t>_Aanvang / _Einde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(ent_id, rel_id, versie)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Materiële tijdlijn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5303520"/>
            <a:ext cx="45720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5303520"/>
            <a:ext cx="347472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Hub + Data: hiërarchie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Entiteit → Hub → Data / Aanvang / Einde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10312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NatuurlijkPersoon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3716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PersoonsIdentificatie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25603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  <a:latin typeface="Calibri"/>
              </a:defRPr>
            </a:pPr>
            <a:r>
              <a:t>PersoonsIdent_Data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2860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Naam (hub)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5603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  <a:latin typeface="Calibri"/>
              </a:defRPr>
            </a:pPr>
            <a:r>
              <a:t>Naam_Data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2377440" cy="5486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C5F8A"/>
                </a:solidFill>
                <a:latin typeface="Calibri"/>
              </a:defRPr>
            </a:pPr>
            <a:r>
              <a:t>🕐 Burgerschap (hub)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017520"/>
            <a:ext cx="25603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  <a:latin typeface="Calibri"/>
              </a:defRPr>
            </a:pPr>
            <a:r>
              <a:t>Burgerschap_Data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3749039"/>
            <a:ext cx="256032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A580C"/>
                </a:solidFill>
                <a:latin typeface="Calibri"/>
              </a:defRPr>
            </a:pPr>
            <a:r>
              <a:t>Burgerschap_Aanvang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3749039"/>
            <a:ext cx="25603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Burgerschap_Einde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663440"/>
            <a:ext cx="237744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EA580C"/>
                </a:solidFill>
                <a:latin typeface="Calibri"/>
              </a:defRPr>
            </a:pPr>
            <a:r>
              <a:t>🕐 Bereikbaarheid (rel)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480560"/>
            <a:ext cx="2560320" cy="5486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A34A"/>
                </a:solidFill>
                <a:latin typeface="Calibri"/>
              </a:defRPr>
            </a:pPr>
            <a:r>
              <a:t>Bereikbaarheid_Data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212080"/>
            <a:ext cx="256032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  <a:latin typeface="Calibri"/>
              </a:defRPr>
            </a:pPr>
            <a:r>
              <a:t>Bereikbaarheid_Aanvang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5212080"/>
            <a:ext cx="256032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C2626"/>
                </a:solidFill>
                <a:latin typeface="Calibri"/>
              </a:defRPr>
            </a:pPr>
            <a:r>
              <a:t>Bereikbaarheid_Einde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663440"/>
            <a:ext cx="2377440" cy="548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A580C"/>
                </a:solidFill>
                <a:latin typeface="Calibri"/>
              </a:defRPr>
            </a:pPr>
            <a:r>
              <a:t>Pers_Aanvang (plumbing)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394960"/>
            <a:ext cx="2377440" cy="5486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DC2626"/>
                </a:solidFill>
                <a:latin typeface="Calibri"/>
              </a:defRPr>
            </a:pPr>
            <a:r>
              <a:t>Pers_Einde (plumbing)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651760" y="1645920"/>
            <a:ext cx="548640" cy="27432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651760" y="1920240"/>
            <a:ext cx="548640" cy="64008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1920240"/>
            <a:ext cx="548640" cy="1554480"/>
          </a:xfrm>
          <a:prstGeom prst="line">
            <a:avLst/>
          </a:prstGeom>
          <a:ln w="25400">
            <a:solidFill>
              <a:srgbClr val="2C5F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1920240"/>
            <a:ext cx="548640" cy="301752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77840" y="1645920"/>
            <a:ext cx="36576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77840" y="2560320"/>
            <a:ext cx="365760" cy="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77840" y="3291840"/>
            <a:ext cx="365760" cy="18288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3474720"/>
            <a:ext cx="365760" cy="54864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577840" y="4754880"/>
            <a:ext cx="365760" cy="18288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577840" y="4937760"/>
            <a:ext cx="365760" cy="54864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503920" y="4023360"/>
            <a:ext cx="365760" cy="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503920" y="5486400"/>
            <a:ext cx="365760" cy="0"/>
          </a:xfrm>
          <a:prstGeom prst="line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63040" y="2286000"/>
            <a:ext cx="0" cy="237744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0" y="137160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defRPr sz="1300" b="1">
                <a:solidFill>
                  <a:srgbClr val="475569"/>
                </a:solidFill>
                <a:latin typeface="Calibri"/>
              </a:defRPr>
            </a:pPr>
            <a:r>
              <a:t>Legenda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C5F8A"/>
                </a:solidFill>
                <a:latin typeface="Calibri"/>
              </a:defRPr>
            </a:pPr>
            <a:r>
              <a:t>🟦  Hub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alibri"/>
              </a:defRPr>
            </a:pPr>
            <a:r>
              <a:t>🟩  _Data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A580C"/>
                </a:solidFill>
                <a:latin typeface="Calibri"/>
              </a:defRPr>
            </a:pPr>
            <a:r>
              <a:t>🟧  _Aanvang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DC2626"/>
                </a:solidFill>
                <a:latin typeface="Calibri"/>
              </a:defRPr>
            </a:pPr>
            <a:r>
              <a:t>🟥  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475569"/>
                </a:solidFill>
                <a:latin typeface="Calibri"/>
              </a:defRPr>
            </a:pPr>
            <a:r>
              <a:t>🕐  Materieel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Voorbeeld: naamswijziging met correctie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hub + data + aanvang/einde samenwerken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56692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2C5F8A"/>
                </a:solidFill>
                <a:latin typeface="Calibri"/>
              </a:defRPr>
            </a:pPr>
            <a:r>
              <a:t>Stap 1 — Registratie (t_reg = 21/3/2026)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02020"/>
                </a:solidFill>
                <a:latin typeface="Calibri"/>
              </a:defRPr>
            </a:pPr>
            <a:r>
              <a:t>Hub 1: Naam rel_id=1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_Data v1: "Jansen"  |  Aanvang: geboortedatum  |  Einde: 20/3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02020"/>
                </a:solidFill>
                <a:latin typeface="Calibri"/>
              </a:defRPr>
            </a:pPr>
            <a:r>
              <a:t>Hub 2: Naam rel_id=2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  _Data v1: "De Vries"  |  Aanvang: 21/3/2026  |  Einde: —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DC2626"/>
                </a:solidFill>
                <a:latin typeface="Calibri"/>
              </a:defRPr>
            </a:pPr>
            <a:r>
              <a:t>⚠  Aanvangsdatum foutief: was 21/3, moet 1/1/2025 zijn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66928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700" b="1">
                <a:solidFill>
                  <a:srgbClr val="EA580C"/>
                </a:solidFill>
                <a:latin typeface="Calibri"/>
              </a:defRPr>
            </a:pPr>
            <a:r>
              <a:t>Stap 2 — Correctie (t_corr &gt; t_reg)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02020"/>
                </a:solidFill>
                <a:latin typeface="Calibri"/>
              </a:defRPr>
            </a:pPr>
            <a:r>
              <a:t>Rechtbank: naamswijziging per 1/1/2025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Hub 1: Einde v1 → afgevoerd, Einde v2 = 31/12/2024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Hub 2: Aanvang v1 → afgevoerd, Aanvang v2 = 1/1/2025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6A34A"/>
                </a:solidFill>
                <a:latin typeface="Calibri"/>
              </a:defRPr>
            </a:pPr>
            <a:r>
              <a:t>✓  Hub-records ongewijzigd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6A34A"/>
                </a:solidFill>
                <a:latin typeface="Calibri"/>
              </a:defRPr>
            </a:pPr>
            <a:r>
              <a:t>✓  _Data-records ongewijzigd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✓  Alleen _Aanvang/_Einde gecorrigeerd!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114800"/>
            <a:ext cx="11521440" cy="10972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800" b="1">
                <a:solidFill>
                  <a:srgbClr val="854D0E"/>
                </a:solidFill>
                <a:latin typeface="Calibri"/>
              </a:defRPr>
            </a:pPr>
            <a:r>
              <a:t>💡  Elke laag is apart corrigeerbaar — inhoud, identiteit en materiële tijdlijn beïnvloeden elkaar niet.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854D0E"/>
                </a:solidFill>
                <a:latin typeface="Calibri"/>
              </a:defRPr>
            </a:pPr>
            <a:r>
              <a:t>De drielaagse opsplitsing (Hub + _Data + _Aanvang/_Einde) is hiervoor essentieel.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94960"/>
            <a:ext cx="18288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Laag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394960"/>
            <a:ext cx="9144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rel_id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5394960"/>
            <a:ext cx="9144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versie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394960"/>
            <a:ext cx="18288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waarde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5394960"/>
            <a:ext cx="13716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opvoer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5394960"/>
            <a:ext cx="1371600" cy="320040"/>
          </a:xfrm>
          <a:prstGeom prst="rect">
            <a:avLst/>
          </a:prstGeom>
          <a:solidFill>
            <a:srgbClr val="2C5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lIns="4572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afvoer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71500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57150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571500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71500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571500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571500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98932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1 _data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598932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598932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598932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"Jansen"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98932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598932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626364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1 _einde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62636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626364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626364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20/3/2026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626364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626364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653796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1 _einde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653796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653796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653796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31/12/2024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653796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653796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681228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2 _aanvang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68122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0" y="6812280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6812280"/>
            <a:ext cx="18288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21/3/2026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681228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t_reg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6812280"/>
            <a:ext cx="1371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708660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Hub 2 _aanvang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708660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0" y="7086600"/>
            <a:ext cx="9144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7086600"/>
            <a:ext cx="18288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1/1/2025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708660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DC2626"/>
                </a:solidFill>
                <a:latin typeface="Calibri"/>
              </a:defRPr>
            </a:pPr>
            <a:r>
              <a:t>t_corr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7086600"/>
            <a:ext cx="1371600" cy="274320"/>
          </a:xfrm>
          <a:prstGeom prst="rect">
            <a:avLst/>
          </a:prstGeom>
          <a:solidFill>
            <a:srgbClr val="F0F4F8"/>
          </a:solidFill>
          <a:ln w="635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" lIns="45720"/>
          <a:lstStyle/>
          <a:p>
            <a:pPr algn="ctr">
              <a:defRPr sz="1100" b="0">
                <a:solidFill>
                  <a:srgbClr val="20202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Database-ontwerp: entiteiten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De basis van het register in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0292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2C5F8A"/>
                </a:solidFill>
                <a:latin typeface="Calibri"/>
              </a:defRPr>
            </a:pPr>
            <a:r>
              <a:t>natuurlijk_persoon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onsolas"/>
              </a:defRPr>
            </a:pPr>
            <a:r>
              <a:t>id          INTEGER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64748B"/>
                </a:solidFill>
                <a:latin typeface="Consolas"/>
              </a:defRPr>
            </a:pPr>
            <a:r>
              <a:t>opvoer      TIMESTAMPTZ   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64748B"/>
                </a:solidFill>
                <a:latin typeface="Consolas"/>
              </a:defRPr>
            </a:pPr>
            <a:r>
              <a:t>afvoer      TIMESTAMPTZ   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Geen inhoudsvelden — die zitten in GE's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id                          SERIAL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tijdstip                    TIMESTAMPTZ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registratie_type           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corrigeert_registratie_id   INT FK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maakt_ongedaan_reg_id       INT FK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931920"/>
            <a:ext cx="53035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wijziging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id                  SERIAL  PK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registratie_id      INT  FK → registratie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wijziging_type      TEXT  (Opvoer/Afvoer)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representatienaam   TEXT  (tabelnaam)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representatie_id    TEXT  (samengesteld PK)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02920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Materiële plumbing: pers_aanvang / pers_einde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id       INT  FK → natuurlijk_persoon(id)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versie   SERIAL  (autoincrement per 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datum    DATE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opvoer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afvoer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A580C"/>
                </a:solidFill>
                <a:latin typeface="Calibri"/>
              </a:defRPr>
            </a:pPr>
            <a:r>
              <a:t>PK: (id, versie)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Database-ontwerp: Hub + Data tabellen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Hoe een gegevenselement eruitziet in PostgreSQL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naam  (hub)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persoon_id  INT  FK → persoon(id)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rel_id      INT  autoincrement/scope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opvoer   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afvoer   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2C5F8A"/>
                </a:solidFill>
                <a:latin typeface="Calibri"/>
              </a:defRPr>
            </a:pPr>
            <a:r>
              <a:t>PK: (persoon_id, rel_id)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DC2626"/>
                </a:solidFill>
                <a:latin typeface="Calibri"/>
              </a:defRPr>
            </a:pPr>
            <a:r>
              <a:t>Geen inhoudsvelden!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7160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naam_data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persoon_id  INT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rel_id      INT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versie      INT 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voorletters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achternaam  TEXT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opvoer/afvoer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6A34A"/>
                </a:solidFill>
                <a:latin typeface="Calibri"/>
              </a:defRPr>
            </a:pPr>
            <a:r>
              <a:t>PK: (persoon_id, rel_id, versie)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EA580C"/>
                </a:solidFill>
                <a:latin typeface="Calibri"/>
              </a:defRPr>
            </a:pPr>
            <a:r>
              <a:t>naam_aanvang / naam_einde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Alleen als IsMaterieel = true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persoon_id  INT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rel_id      INT  FK → 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versie      INT 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02020"/>
                </a:solidFill>
                <a:latin typeface="Consolas"/>
              </a:defRPr>
            </a:pPr>
            <a:r>
              <a:t>datum       DATE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onsolas"/>
              </a:defRPr>
            </a:pPr>
            <a:r>
              <a:t>opvoer/afvoer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EA580C"/>
                </a:solidFill>
                <a:latin typeface="Calibri"/>
              </a:defRPr>
            </a:pPr>
            <a:r>
              <a:t>PK: (persoon_id, rel_id, versie)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023360"/>
            <a:ext cx="11338560" cy="23774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2000" b="1">
                <a:solidFill>
                  <a:srgbClr val="854D0E"/>
                </a:solidFill>
                <a:latin typeface="Calibri"/>
              </a:defRPr>
            </a:pPr>
            <a:r>
              <a:t>Relatieve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202020"/>
                </a:solidFill>
                <a:latin typeface="Calibri"/>
              </a:defRPr>
            </a:pPr>
            <a:r>
              <a:t>De rel_id en versie worden automatisch opgehoogd binnen de scope van de parent: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Hub rel_id:  binnen (persoon_id) en type → Persoon #1 heeft Naam rel_id=1, rel_id=2, 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_Data versie:  binnen (persoon_id, rel_id) → Naam 1 v1, v2, v3, ...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▸  _Aanvang versie:  idem, maar vorige versie wordt automatisch afgevoerd (enkelvoudig)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854D0E"/>
                </a:solidFill>
                <a:latin typeface="Calibri"/>
              </a:defRPr>
            </a:pPr>
            <a:r>
              <a:t>Dit maakt het mogelijk om volledige versiegeschiedenis bij te houden zonder globale sequences.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Database-ontwerp: relaties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Koppeling tussen entiteiten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0292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bereikbaarheid  (relatie-hub)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persoon_id  INT  FK → persoon(id)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rel_id      INT  autoincrement/scope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locatie_id  INT  FK → locatie(id)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opvoer   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afvoer      TIMESTAMPTZ 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EA580C"/>
                </a:solidFill>
                <a:latin typeface="Calibri"/>
              </a:defRPr>
            </a:pPr>
            <a:r>
              <a:t>PK: (persoon_id, rel_id)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bereikbaarheid_data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persoon_id  INT  FK → bereikbaarheid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rel_id      INT  FK → bereikbaarheid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versie      INT 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onsolas"/>
              </a:defRPr>
            </a:pPr>
            <a:r>
              <a:t>soort       TEXT  (enum: Woonadres|...)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4748B"/>
                </a:solidFill>
                <a:latin typeface="Consolas"/>
              </a:defRPr>
            </a:pPr>
            <a:r>
              <a:t>opvoer/afvoer —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PK: (persoon_id, rel_id, versie)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18288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Persoon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4572000"/>
            <a:ext cx="2286000" cy="7315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EA580C"/>
                </a:solidFill>
                <a:latin typeface="Calibri"/>
              </a:defRPr>
            </a:pPr>
            <a:r>
              <a:t>Bereikbaarheid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(hub)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572000"/>
            <a:ext cx="18288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600" b="1">
                <a:solidFill>
                  <a:srgbClr val="2C5F8A"/>
                </a:solidFill>
                <a:latin typeface="Calibri"/>
              </a:defRPr>
            </a:pPr>
            <a:r>
              <a:t>Locatie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5669280"/>
            <a:ext cx="2286000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200" b="1">
                <a:solidFill>
                  <a:srgbClr val="16A34A"/>
                </a:solidFill>
                <a:latin typeface="Calibri"/>
              </a:defRPr>
            </a:pPr>
            <a:r>
              <a:t>Bereikbaarh_Data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4937760"/>
            <a:ext cx="137160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4937760"/>
            <a:ext cx="1371600" cy="0"/>
          </a:xfrm>
          <a:prstGeom prst="line">
            <a:avLst/>
          </a:prstGeom>
          <a:ln w="25400">
            <a:solidFill>
              <a:srgbClr val="EA58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57800" y="5303520"/>
            <a:ext cx="0" cy="365760"/>
          </a:xfrm>
          <a:prstGeom prst="line">
            <a:avLst/>
          </a:prstGeom>
          <a:ln w="2540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3464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     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*    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MetaRegistry: single source of truth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Alle metadata op één plek — dynamisch gedreven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155680" cy="109728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De MetaRegistry is een Go map van TypeMeta entries — één per representatietype (struct).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Handlers, routes, schema-API en frontend lezen alles dynamisch uit de MetaRegistry.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83464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TypeMeta 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Typenaam, Description, Metatype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IsMaterieel, GESubtype (hub/data/aanvang/einde)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Padnaam (URL), Veldnaam (JSON)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Factory / SliceFactory (constructors)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Tabelnaam, IDKolom, EntiteitIDKolom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HeeftPFK, RelatieveAutoincrement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OnderliggendeGegevenselementen []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Momentvoorkomen (enkelvoudig/meervoudig)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BovenliggendTypenaam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02020"/>
                </a:solidFill>
                <a:latin typeface="Calibri"/>
              </a:defRPr>
            </a:pPr>
            <a:r>
              <a:t>▸ Kleur (visualisatie)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834640"/>
            <a:ext cx="530352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Wat de MetaRegistry aanstuurt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🔀  Routes — dynamisch geregistreerd via Padnaam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⚙️  Handlers — generiek: MakeGetEntityByMetaHandler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      (meta), MakeAddByMetaHandler(meta), etc.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📋  Schema-API — /api/viz/schema retourneert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      metadata + veldtypes + relaties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🖥️  Frontend — leest dynamisch het schema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16A34A"/>
                </a:solidFill>
                <a:latin typeface="Calibri"/>
              </a:defRPr>
            </a:pPr>
            <a:r>
              <a:t>      Geen hardcoded veldnamen!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📊  Visualisatie — kleuren, layout, oortjes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Schema-API &amp; dynamische 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Geen hardcoded structuren — alles uit de MetaRegistry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5F8A"/>
                </a:solidFill>
                <a:latin typeface="Calibri"/>
              </a:defRPr>
            </a:pPr>
            <a:r>
              <a:t>Flow:  MetaRegistry  →  Schema-API ( /api/viz/schema )  →  Frontend (React/Vite)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94560"/>
            <a:ext cx="56692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l">
              <a:defRPr sz="1600" b="1">
                <a:solidFill>
                  <a:srgbClr val="2C5F8A"/>
                </a:solidFill>
                <a:latin typeface="Calibri"/>
              </a:defRPr>
            </a:pPr>
            <a:r>
              <a:t>Schema-API response (voorbeeld)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{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"typenaam": "Naam",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"metatype": "gegevenselement",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1">
                <a:solidFill>
                  <a:srgbClr val="2C5F8A"/>
                </a:solidFill>
                <a:latin typeface="Consolas"/>
              </a:defRPr>
            </a:pPr>
            <a:r>
              <a:t>  "ge_subtype": "hub",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"is_materieel": false,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"padnaam": "naam",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"velden": [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onsolas"/>
              </a:defRPr>
            </a:pPr>
            <a:r>
              <a:t>    {"naam":"achternaam","type":"string"},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onsolas"/>
              </a:defRPr>
            </a:pPr>
            <a:r>
              <a:t>    {"naam":"naamgebruik","type":"string",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6A34A"/>
                </a:solidFill>
                <a:latin typeface="Consolas"/>
              </a:defRPr>
            </a:pPr>
            <a:r>
              <a:t>     "enum":["EigenNaam","PartnerNaam",...]}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],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"onderliggende": [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EA580C"/>
                </a:solidFill>
                <a:latin typeface="Consolas"/>
              </a:defRPr>
            </a:pPr>
            <a:r>
              <a:t>    {"rolnaam":"data","doeltype":"Naam_Data"}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  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0202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94560"/>
            <a:ext cx="566928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/>
          <a:lstStyle/>
          <a:p>
            <a:pPr algn="l">
              <a:defRPr sz="1600" b="1">
                <a:solidFill>
                  <a:srgbClr val="16A34A"/>
                </a:solidFill>
                <a:latin typeface="Calibri"/>
              </a:defRPr>
            </a:pPr>
            <a:r>
              <a:t>Frontend: dynamisch gegenereerd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02020"/>
                </a:solidFill>
                <a:latin typeface="Calibri"/>
              </a:defRPr>
            </a:pPr>
            <a:r>
              <a:t>De frontend leest het schema en genereert: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Formulieren — veldtype bepaalt inputcomponent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string → tekstveld, date → datepicker,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enum → dropdown, bool → checkbox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Overzichten — kolommen uit schema-velden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Visualisatie (SVG) — entiteitskaarten,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   GE-boxes, relatielijnen, aanvang/einde-oortjes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Registratiepagina — inzien van audit-trail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6A34A"/>
                </a:solidFill>
                <a:latin typeface="Calibri"/>
              </a:defRPr>
            </a:pPr>
            <a:r>
              <a:t>Nieuw type toevoegen = alleen MetaRegistry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1">
                <a:solidFill>
                  <a:srgbClr val="16A34A"/>
                </a:solidFill>
                <a:latin typeface="Calibri"/>
              </a:defRPr>
            </a:pPr>
            <a:r>
              <a:t>aanpassen — frontend past zich automatisch 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Tech stack &amp; architectuur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Van MetaRegistry tot browser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601200" cy="73152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16A34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417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React + Vite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417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Dynamische UI, SVG-visualisatie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601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Schema-API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/api/viz/schema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317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Metadata + veldtypes als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00400"/>
            <a:ext cx="9601200" cy="7315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Handlers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246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Generieke Go handlers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2461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MakeGet…ByMetaHandler(meta)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9601200" cy="7315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CA8A04"/>
                </a:solidFill>
                <a:latin typeface="Calibri"/>
              </a:defRPr>
            </a:pPr>
            <a:r>
              <a:t>MetaRegistry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Go map[string]TypeMeta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1605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Single source of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029200"/>
            <a:ext cx="9601200" cy="731520"/>
          </a:xfrm>
          <a:prstGeom prst="roundRect">
            <a:avLst/>
          </a:prstGeom>
          <a:solidFill>
            <a:srgbClr val="FFEDD5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EA580C"/>
                </a:solidFill>
                <a:latin typeface="Calibri"/>
              </a:defRPr>
            </a:pPr>
            <a:r>
              <a:t>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074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Bun (Go)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0749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DB-mapping via struct 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943600"/>
            <a:ext cx="9601200" cy="731520"/>
          </a:xfrm>
          <a:prstGeom prst="roundRect">
            <a:avLst/>
          </a:prstGeom>
          <a:solidFill>
            <a:srgbClr val="E0E7FF"/>
          </a:solidFill>
          <a:ln w="25400">
            <a:solidFill>
              <a:srgbClr val="2C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defRPr sz="1800" b="1">
                <a:solidFill>
                  <a:srgbClr val="2C5F8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989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02020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989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Tabellen, FK's, relatieve autoincrement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72200" y="2103120"/>
            <a:ext cx="0" cy="182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72200" y="3017520"/>
            <a:ext cx="0" cy="182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3931920"/>
            <a:ext cx="0" cy="182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72200" y="4846320"/>
            <a:ext cx="0" cy="182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72200" y="5760720"/>
            <a:ext cx="0" cy="18288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2880" y="27432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4748B"/>
                </a:solidFill>
                <a:latin typeface="Calibri"/>
              </a:defRPr>
            </a:pPr>
            <a:r>
              <a:t>Gin HTTP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Werkwijze bij modelwijzigingen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BFDBFE"/>
                </a:solidFill>
                <a:latin typeface="Calibri"/>
              </a:defRPr>
            </a:pPr>
            <a:r>
              <a:t>Wat moet je aanpassen als het model verandert?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Struct definiëren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Go struct in modellen_entiteiten.go of modellen_ge_rel.go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met JSON-tags, Bun-tags en schema-tags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Interface-methoden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402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GetID(), Metatype(), ClearID(), Get/SetOpvoer(), Get/SetAfvoer()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implementeren op de struct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MetaRegistry-entry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TypeMeta entry toevoegen in metaregistry.go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met alle metadata (metatype, padnaam, factory, etc.)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Onderliggende GE's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776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Bij entiteiten: OnderliggendeGegevenselementen aanpassen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Rolnaam + JSONRolnaam matchen met struct-veld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DB-tabel aanmaken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8463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CREATE TABLE in dbsetup/createtables.go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met juiste PK, FK's en kolommen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760720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715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Calibri"/>
              </a:defRPr>
            </a:pPr>
            <a:r>
              <a:t>Klaar!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57150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Routes en handlers worden automatisch gegenereerd.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Frontend past zich aan via de schema-API.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Samenvatting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25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400" b="1">
                <a:solidFill>
                  <a:srgbClr val="BFDBFE"/>
                </a:solidFill>
                <a:latin typeface="Calibri"/>
              </a:defRPr>
            </a:pPr>
            <a:r>
              <a:t>Principes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Twee tijdsdimensies: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formeel (wanneer geregistreerd) +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materieel (wanneer geldig)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Opvoer/afvoer zijn altijd afgeleid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Bron van waarheid: registratie + wijzigingen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Drie metatypes: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Entiteit → Gegevenselement → Relatie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Hub + Data pattern: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Identiteit, inhoud en materialiteit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apart corrigeerbaar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254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400" b="1">
                <a:solidFill>
                  <a:srgbClr val="BFDBFE"/>
                </a:solidFill>
                <a:latin typeface="Calibri"/>
              </a:defRPr>
            </a:pPr>
            <a:r>
              <a:t>Implementatie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MetaRegistry als single source of truth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Handlers, routes, schema-API dynamisch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Schema-driven frontend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Geen hardcoded veldnamen of structuren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PostgreSQL met relatieve autoincrement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Samengestelde PK's per scope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600" b="0">
                <a:solidFill>
                  <a:srgbClr val="202020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✓  Tijdreizen over twee dimensies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600" b="0">
                <a:solidFill>
                  <a:srgbClr val="BFDBFE"/>
                </a:solidFill>
                <a:latin typeface="Calibri"/>
              </a:defRPr>
            </a:pPr>
            <a:r>
              <a:t>     Foutloze audit-trail, zelfs cross-register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>
                <a:solidFill>
                  <a:srgbClr val="202020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64748B"/>
                </a:solidFill>
                <a:latin typeface="Calibri"/>
              </a:defRPr>
            </a:pPr>
            <a:r>
              <a:t>Go  ·  Gin  ·  Bun  ·  PostgreSQL  ·  React/Vite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